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13"/>
  </p:notesMasterIdLst>
  <p:sldIdLst>
    <p:sldId id="257" r:id="rId2"/>
    <p:sldId id="425" r:id="rId3"/>
    <p:sldId id="272" r:id="rId4"/>
    <p:sldId id="280" r:id="rId5"/>
    <p:sldId id="258" r:id="rId6"/>
    <p:sldId id="419" r:id="rId7"/>
    <p:sldId id="420" r:id="rId8"/>
    <p:sldId id="421" r:id="rId9"/>
    <p:sldId id="422" r:id="rId10"/>
    <p:sldId id="423" r:id="rId11"/>
    <p:sldId id="42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532AF1-4615-4667-912A-829B12F8C4D2}" type="datetimeFigureOut">
              <a:rPr lang="en-IN" smtClean="0"/>
              <a:t>31-12-2025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38A8E6-D4B7-4286-B37C-5D755B8E2C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48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12/31/2025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523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12/31/2025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02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74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02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12/31/2025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55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12/31/2025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784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12/31/2025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6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523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30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035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99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12/31/2025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281849D-54CA-C13E-3D84-DB247AB9A268}"/>
              </a:ext>
            </a:extLst>
          </p:cNvPr>
          <p:cNvGrpSpPr/>
          <p:nvPr userDrawn="1"/>
        </p:nvGrpSpPr>
        <p:grpSpPr>
          <a:xfrm>
            <a:off x="130629" y="6291189"/>
            <a:ext cx="2743201" cy="495445"/>
            <a:chOff x="195943" y="6091967"/>
            <a:chExt cx="3506755" cy="629508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01CC4C-E0EC-38D2-F7AA-61FC22E4D90D}"/>
                </a:ext>
              </a:extLst>
            </p:cNvPr>
            <p:cNvSpPr/>
            <p:nvPr userDrawn="1"/>
          </p:nvSpPr>
          <p:spPr>
            <a:xfrm>
              <a:off x="195943" y="6091967"/>
              <a:ext cx="642257" cy="629508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75BEBF-DA68-8945-6205-DE7DE602B3BD}"/>
                </a:ext>
              </a:extLst>
            </p:cNvPr>
            <p:cNvSpPr txBox="1"/>
            <p:nvPr userDrawn="1"/>
          </p:nvSpPr>
          <p:spPr>
            <a:xfrm>
              <a:off x="838200" y="6163561"/>
              <a:ext cx="28644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PRAMOD NAIK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275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03" r:id="rId6"/>
    <p:sldLayoutId id="2147483699" r:id="rId7"/>
    <p:sldLayoutId id="2147483700" r:id="rId8"/>
    <p:sldLayoutId id="2147483701" r:id="rId9"/>
    <p:sldLayoutId id="2147483702" r:id="rId10"/>
    <p:sldLayoutId id="214748370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10" name="Rectangle 3209">
            <a:extLst>
              <a:ext uri="{FF2B5EF4-FFF2-40B4-BE49-F238E27FC236}">
                <a16:creationId xmlns:a16="http://schemas.microsoft.com/office/drawing/2014/main" id="{5B87A0C9-A217-4BF6-9142-AE0655711B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12" name="Rectangle 3211">
            <a:extLst>
              <a:ext uri="{FF2B5EF4-FFF2-40B4-BE49-F238E27FC236}">
                <a16:creationId xmlns:a16="http://schemas.microsoft.com/office/drawing/2014/main" id="{D0B4DB25-E5FF-4E57-AD7E-3445A20CF5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166" name="Title 1">
            <a:extLst>
              <a:ext uri="{FF2B5EF4-FFF2-40B4-BE49-F238E27FC236}">
                <a16:creationId xmlns:a16="http://schemas.microsoft.com/office/drawing/2014/main" id="{B37B7D3C-E578-6073-826E-7DB6C6D5D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764" y="1561052"/>
            <a:ext cx="5049402" cy="2493876"/>
          </a:xfrm>
        </p:spPr>
        <p:txBody>
          <a:bodyPr anchor="b">
            <a:normAutofit/>
          </a:bodyPr>
          <a:lstStyle/>
          <a:p>
            <a:r>
              <a:rPr lang="en-US" sz="4800"/>
              <a:t>Programming and Problem Solving in </a:t>
            </a:r>
            <a:r>
              <a:rPr lang="en-US" sz="4800" b="1"/>
              <a:t>C</a:t>
            </a:r>
            <a:endParaRPr lang="en-IN" sz="4800" b="1" dirty="0"/>
          </a:p>
        </p:txBody>
      </p:sp>
      <p:grpSp>
        <p:nvGrpSpPr>
          <p:cNvPr id="3214" name="decorative circles">
            <a:extLst>
              <a:ext uri="{FF2B5EF4-FFF2-40B4-BE49-F238E27FC236}">
                <a16:creationId xmlns:a16="http://schemas.microsoft.com/office/drawing/2014/main" id="{7C3A2A36-5A95-4B17-8AB2-F408D3FFCF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098662" y="310026"/>
            <a:ext cx="1902995" cy="6016634"/>
            <a:chOff x="7098662" y="310026"/>
            <a:chExt cx="1902995" cy="6016634"/>
          </a:xfrm>
        </p:grpSpPr>
        <p:sp>
          <p:nvSpPr>
            <p:cNvPr id="3215" name="Oval 3214">
              <a:extLst>
                <a:ext uri="{FF2B5EF4-FFF2-40B4-BE49-F238E27FC236}">
                  <a16:creationId xmlns:a16="http://schemas.microsoft.com/office/drawing/2014/main" id="{BD4EDADB-BF48-416B-BF28-54FDEC73C1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608370" y="6020880"/>
              <a:ext cx="305780" cy="30578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6" name="Oval 3215">
              <a:extLst>
                <a:ext uri="{FF2B5EF4-FFF2-40B4-BE49-F238E27FC236}">
                  <a16:creationId xmlns:a16="http://schemas.microsoft.com/office/drawing/2014/main" id="{859C43BB-22FD-443F-9005-D49E36E2DF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098662" y="5787004"/>
              <a:ext cx="113367" cy="11336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7" name="Oval 3216">
              <a:extLst>
                <a:ext uri="{FF2B5EF4-FFF2-40B4-BE49-F238E27FC236}">
                  <a16:creationId xmlns:a16="http://schemas.microsoft.com/office/drawing/2014/main" id="{106A992A-AE04-446D-A5C0-FBAC87842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308481" y="310026"/>
              <a:ext cx="226735" cy="226735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8" name="Oval 3217">
              <a:extLst>
                <a:ext uri="{FF2B5EF4-FFF2-40B4-BE49-F238E27FC236}">
                  <a16:creationId xmlns:a16="http://schemas.microsoft.com/office/drawing/2014/main" id="{61EC5C1C-D57A-4381-BC98-659491187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535216" y="735547"/>
              <a:ext cx="466441" cy="466441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220" name="Oval 3">
            <a:extLst>
              <a:ext uri="{FF2B5EF4-FFF2-40B4-BE49-F238E27FC236}">
                <a16:creationId xmlns:a16="http://schemas.microsoft.com/office/drawing/2014/main" id="{13EB5962-23A4-45D9-A60C-2871274E32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83310" y="284085"/>
            <a:ext cx="1571298" cy="15712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22" name="Graphic 3221">
            <a:extLst>
              <a:ext uri="{FF2B5EF4-FFF2-40B4-BE49-F238E27FC236}">
                <a16:creationId xmlns:a16="http://schemas.microsoft.com/office/drawing/2014/main" id="{CD8F8943-AC41-4DDB-89A9-D4C4D19AF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73925" y="286187"/>
            <a:ext cx="1571299" cy="1571299"/>
          </a:xfrm>
          <a:prstGeom prst="rect">
            <a:avLst/>
          </a:prstGeom>
        </p:spPr>
      </p:pic>
      <p:pic>
        <p:nvPicPr>
          <p:cNvPr id="4" name="Picture 2" descr="Is Programming &amp; Coding a High-Income Skill? (Explored)">
            <a:extLst>
              <a:ext uri="{FF2B5EF4-FFF2-40B4-BE49-F238E27FC236}">
                <a16:creationId xmlns:a16="http://schemas.microsoft.com/office/drawing/2014/main" id="{BDF2ECCC-7647-B60F-BAA6-40EFB604C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19" r="22430" b="-2"/>
          <a:stretch/>
        </p:blipFill>
        <p:spPr bwMode="auto">
          <a:xfrm>
            <a:off x="6600835" y="1889777"/>
            <a:ext cx="3643375" cy="3643375"/>
          </a:xfrm>
          <a:custGeom>
            <a:avLst/>
            <a:gdLst/>
            <a:ahLst/>
            <a:cxnLst/>
            <a:rect l="l" t="t" r="r" b="b"/>
            <a:pathLst>
              <a:path w="3111160" h="3111160">
                <a:moveTo>
                  <a:pt x="1555580" y="0"/>
                </a:moveTo>
                <a:cubicBezTo>
                  <a:pt x="2414703" y="0"/>
                  <a:pt x="3111160" y="696457"/>
                  <a:pt x="3111160" y="1555580"/>
                </a:cubicBezTo>
                <a:cubicBezTo>
                  <a:pt x="3111160" y="2414703"/>
                  <a:pt x="2414703" y="3111160"/>
                  <a:pt x="1555580" y="3111160"/>
                </a:cubicBezTo>
                <a:cubicBezTo>
                  <a:pt x="696457" y="3111160"/>
                  <a:pt x="0" y="2414703"/>
                  <a:pt x="0" y="1555580"/>
                </a:cubicBezTo>
                <a:cubicBezTo>
                  <a:pt x="0" y="696457"/>
                  <a:pt x="696457" y="0"/>
                  <a:pt x="1555580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blue square with a white background&#10;&#10;Description automatically generated">
            <a:extLst>
              <a:ext uri="{FF2B5EF4-FFF2-40B4-BE49-F238E27FC236}">
                <a16:creationId xmlns:a16="http://schemas.microsoft.com/office/drawing/2014/main" id="{1E1394E2-E731-44B3-F599-1E7AE35350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09" r="5841" b="1"/>
          <a:stretch/>
        </p:blipFill>
        <p:spPr>
          <a:xfrm>
            <a:off x="9676394" y="433214"/>
            <a:ext cx="2255677" cy="2255677"/>
          </a:xfrm>
          <a:custGeom>
            <a:avLst/>
            <a:gdLst/>
            <a:ahLst/>
            <a:cxnLst/>
            <a:rect l="l" t="t" r="r" b="b"/>
            <a:pathLst>
              <a:path w="3111160" h="3111160">
                <a:moveTo>
                  <a:pt x="1555580" y="0"/>
                </a:moveTo>
                <a:cubicBezTo>
                  <a:pt x="2414703" y="0"/>
                  <a:pt x="3111160" y="696457"/>
                  <a:pt x="3111160" y="1555580"/>
                </a:cubicBezTo>
                <a:cubicBezTo>
                  <a:pt x="3111160" y="2414703"/>
                  <a:pt x="2414703" y="3111160"/>
                  <a:pt x="1555580" y="3111160"/>
                </a:cubicBezTo>
                <a:cubicBezTo>
                  <a:pt x="696457" y="3111160"/>
                  <a:pt x="0" y="2414703"/>
                  <a:pt x="0" y="1555580"/>
                </a:cubicBezTo>
                <a:cubicBezTo>
                  <a:pt x="0" y="696457"/>
                  <a:pt x="696457" y="0"/>
                  <a:pt x="1555580" y="0"/>
                </a:cubicBezTo>
                <a:close/>
              </a:path>
            </a:pathLst>
          </a:custGeom>
        </p:spPr>
      </p:pic>
      <p:pic>
        <p:nvPicPr>
          <p:cNvPr id="3076" name="Picture 4" descr="Honoring the life of Dennis Ritchie, UNIX co-creator and father of C |  Digital News Asia">
            <a:extLst>
              <a:ext uri="{FF2B5EF4-FFF2-40B4-BE49-F238E27FC236}">
                <a16:creationId xmlns:a16="http://schemas.microsoft.com/office/drawing/2014/main" id="{1D371D33-37F6-10E1-09DF-0975D03A16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4" r="3" b="26040"/>
          <a:stretch/>
        </p:blipFill>
        <p:spPr bwMode="auto">
          <a:xfrm>
            <a:off x="9941494" y="4420665"/>
            <a:ext cx="1990577" cy="1990577"/>
          </a:xfrm>
          <a:custGeom>
            <a:avLst/>
            <a:gdLst/>
            <a:ahLst/>
            <a:cxnLst/>
            <a:rect l="l" t="t" r="r" b="b"/>
            <a:pathLst>
              <a:path w="3111160" h="3111160">
                <a:moveTo>
                  <a:pt x="1555580" y="0"/>
                </a:moveTo>
                <a:cubicBezTo>
                  <a:pt x="2414703" y="0"/>
                  <a:pt x="3111160" y="696457"/>
                  <a:pt x="3111160" y="1555580"/>
                </a:cubicBezTo>
                <a:cubicBezTo>
                  <a:pt x="3111160" y="2414703"/>
                  <a:pt x="2414703" y="3111160"/>
                  <a:pt x="1555580" y="3111160"/>
                </a:cubicBezTo>
                <a:cubicBezTo>
                  <a:pt x="696457" y="3111160"/>
                  <a:pt x="0" y="2414703"/>
                  <a:pt x="0" y="1555580"/>
                </a:cubicBezTo>
                <a:cubicBezTo>
                  <a:pt x="0" y="696457"/>
                  <a:pt x="696457" y="0"/>
                  <a:pt x="1555580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37445F-CBB1-E915-2A29-54AC525BBD2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321102"/>
            <a:ext cx="1892887" cy="500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6174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9A854-EDDF-1D72-2A23-29F0256D5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0734" y="1055915"/>
            <a:ext cx="9455331" cy="44740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3400" b="1" dirty="0">
                <a:solidFill>
                  <a:srgbClr val="C00000"/>
                </a:solidFill>
              </a:rPr>
              <a:t>Classroom Etiquette and Guidelines:</a:t>
            </a:r>
            <a:endParaRPr lang="en-US" sz="3400" b="1" dirty="0">
              <a:solidFill>
                <a:srgbClr val="C0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3200" dirty="0"/>
              <a:t>Let me know if the </a:t>
            </a:r>
            <a:r>
              <a:rPr lang="en-US" sz="3200" b="1" dirty="0"/>
              <a:t>pace of the class </a:t>
            </a:r>
            <a:r>
              <a:rPr lang="en-US" sz="3200" dirty="0"/>
              <a:t>is too fast.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3200" dirty="0"/>
              <a:t>Feel free to </a:t>
            </a:r>
            <a:r>
              <a:rPr lang="en-US" sz="3200" b="1" dirty="0"/>
              <a:t>ask questions </a:t>
            </a:r>
            <a:r>
              <a:rPr lang="en-US" sz="3200" dirty="0"/>
              <a:t>if you have any doubts.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3200" b="1" dirty="0"/>
              <a:t>Try to Answer </a:t>
            </a:r>
            <a:r>
              <a:rPr lang="en-US" sz="3200" dirty="0"/>
              <a:t>the Question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3200" dirty="0"/>
              <a:t>Always </a:t>
            </a:r>
            <a:r>
              <a:rPr lang="en-US" sz="3200" b="1" dirty="0"/>
              <a:t>arrive on time</a:t>
            </a:r>
            <a:r>
              <a:rPr lang="en-US" sz="32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3200" b="1" dirty="0"/>
              <a:t>Do not talk </a:t>
            </a:r>
            <a:r>
              <a:rPr lang="en-US" sz="3200" dirty="0"/>
              <a:t>while the class is in session.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3200" dirty="0"/>
              <a:t>Avoid </a:t>
            </a:r>
            <a:r>
              <a:rPr lang="en-US" sz="3200" b="1" dirty="0"/>
              <a:t>eating</a:t>
            </a:r>
            <a:r>
              <a:rPr lang="en-US" sz="3200" dirty="0"/>
              <a:t> during the class. </a:t>
            </a:r>
          </a:p>
          <a:p>
            <a:pPr marL="457200" indent="-457200">
              <a:buFont typeface="+mj-lt"/>
              <a:buAutoNum type="arabicPeriod"/>
            </a:pP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39202351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E8E85-8426-4AB7-AD5A-5C275C24F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381" y="2247900"/>
            <a:ext cx="10567219" cy="1181100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IN" sz="3600" b="1" dirty="0">
                <a:solidFill>
                  <a:schemeClr val="accent6">
                    <a:lumMod val="50000"/>
                  </a:schemeClr>
                </a:solidFill>
              </a:rPr>
              <a:t>What is Programming?</a:t>
            </a:r>
          </a:p>
          <a:p>
            <a:pPr marL="0" indent="0" algn="ctr">
              <a:buNone/>
            </a:pPr>
            <a:r>
              <a:rPr lang="en-IN" sz="3600" b="1" dirty="0">
                <a:solidFill>
                  <a:schemeClr val="accent2">
                    <a:lumMod val="50000"/>
                  </a:schemeClr>
                </a:solidFill>
              </a:rPr>
              <a:t>What is Programming Language?</a:t>
            </a:r>
          </a:p>
        </p:txBody>
      </p:sp>
    </p:spTree>
    <p:extLst>
      <p:ext uri="{BB962C8B-B14F-4D97-AF65-F5344CB8AC3E}">
        <p14:creationId xmlns:p14="http://schemas.microsoft.com/office/powerpoint/2010/main" val="2833866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E8E85-8426-4AB7-AD5A-5C275C24F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381" y="2247900"/>
            <a:ext cx="10567219" cy="1181100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IN" sz="3200" b="1" dirty="0">
                <a:solidFill>
                  <a:schemeClr val="accent6">
                    <a:lumMod val="50000"/>
                  </a:schemeClr>
                </a:solidFill>
              </a:rPr>
              <a:t>What is Programming? : </a:t>
            </a:r>
            <a:r>
              <a:rPr lang="en-IN" sz="3200" dirty="0"/>
              <a:t>Writing a Program</a:t>
            </a:r>
            <a:endParaRPr lang="en-IN" sz="3200" b="1" dirty="0">
              <a:solidFill>
                <a:schemeClr val="accent6">
                  <a:lumMod val="50000"/>
                </a:schemeClr>
              </a:solidFill>
            </a:endParaRPr>
          </a:p>
          <a:p>
            <a:pPr marL="0" indent="0" algn="ctr">
              <a:buNone/>
            </a:pPr>
            <a:r>
              <a:rPr lang="en-IN" sz="3200" b="1" dirty="0">
                <a:solidFill>
                  <a:schemeClr val="accent2">
                    <a:lumMod val="50000"/>
                  </a:schemeClr>
                </a:solidFill>
              </a:rPr>
              <a:t>What is Programming Language? : </a:t>
            </a:r>
            <a:r>
              <a:rPr lang="en-IN" sz="3200" dirty="0"/>
              <a:t>Is a Collection of </a:t>
            </a:r>
            <a:r>
              <a:rPr lang="en-IN" sz="3200" b="1" dirty="0">
                <a:solidFill>
                  <a:srgbClr val="C00000"/>
                </a:solidFill>
              </a:rPr>
              <a:t>Tokens</a:t>
            </a:r>
            <a:r>
              <a:rPr lang="en-IN" sz="3200" dirty="0"/>
              <a:t>.</a:t>
            </a:r>
            <a:endParaRPr lang="en-IN" sz="32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9735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E8E85-8426-4AB7-AD5A-5C275C24F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2853" y="719137"/>
            <a:ext cx="10900568" cy="5313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C00000"/>
                </a:solidFill>
              </a:rPr>
              <a:t>Module-1: BASICS OF C PROGRAMMING </a:t>
            </a:r>
            <a:r>
              <a:rPr lang="en-IN" sz="3200" b="1" dirty="0">
                <a:solidFill>
                  <a:srgbClr val="C00000"/>
                </a:solidFill>
              </a:rPr>
              <a:t>:</a:t>
            </a:r>
          </a:p>
          <a:p>
            <a:pPr marL="0" indent="0">
              <a:buNone/>
            </a:pPr>
            <a:r>
              <a:rPr lang="en-US" sz="3200" b="1" dirty="0"/>
              <a:t>Introduction to programming paradigms:</a:t>
            </a:r>
            <a:r>
              <a:rPr lang="en-US" sz="3200" dirty="0"/>
              <a:t> Applications of C Language, Structure of C program</a:t>
            </a:r>
          </a:p>
          <a:p>
            <a:pPr marL="0" indent="0">
              <a:buNone/>
            </a:pPr>
            <a:r>
              <a:rPr lang="en-US" sz="3200" b="1" dirty="0"/>
              <a:t>C programming: </a:t>
            </a:r>
            <a:r>
              <a:rPr lang="en-US" sz="3200" dirty="0"/>
              <a:t>Data Types, Constants,  Enumeration Constants,  Keywords.</a:t>
            </a:r>
          </a:p>
          <a:p>
            <a:pPr marL="0" indent="0">
              <a:buNone/>
            </a:pPr>
            <a:r>
              <a:rPr lang="en-US" sz="3200" b="1" dirty="0"/>
              <a:t>Operators: </a:t>
            </a:r>
            <a:r>
              <a:rPr lang="en-US" sz="3200" dirty="0"/>
              <a:t>Precedence and Associativity, Expressions,  Input/Output statements, Assignment statements, Decision making statements, Switch statement, Looping statements Preprocessor directives, Compilation process.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707598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F4AB3-E7DC-A7CE-9D14-5BDEF3227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E5A9B-B287-0C94-62E0-A71FF1423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059" y="1602006"/>
            <a:ext cx="10732404" cy="34955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C00000"/>
                </a:solidFill>
              </a:rPr>
              <a:t>Module-2: ARRAYS AND STRINGS </a:t>
            </a:r>
            <a:r>
              <a:rPr lang="en-IN" sz="3600" b="1" dirty="0">
                <a:solidFill>
                  <a:srgbClr val="C00000"/>
                </a:solidFill>
              </a:rPr>
              <a:t>:</a:t>
            </a:r>
          </a:p>
          <a:p>
            <a:pPr marL="0" indent="0">
              <a:buNone/>
            </a:pPr>
            <a:r>
              <a:rPr lang="en-US" sz="3600" b="1" dirty="0"/>
              <a:t>Introduction to Arrays: </a:t>
            </a:r>
            <a:r>
              <a:rPr lang="en-US" sz="3600" dirty="0"/>
              <a:t>Declaration, Initialization One dimensional array Two dimensional arrays.</a:t>
            </a:r>
          </a:p>
          <a:p>
            <a:pPr marL="0" indent="0">
              <a:buNone/>
            </a:pPr>
            <a:r>
              <a:rPr lang="en-US" sz="3600" b="1" dirty="0"/>
              <a:t>String operations: </a:t>
            </a:r>
            <a:r>
              <a:rPr lang="en-US" sz="3600" dirty="0"/>
              <a:t>length, compare, concatenate, copy, Selection sort, linear and binary search.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3820529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7FD6E-412A-B2F1-6441-073824C05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C5E49-D2B4-9EE3-D747-3EF66628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058" y="1103586"/>
            <a:ext cx="10795465" cy="434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C00000"/>
                </a:solidFill>
              </a:rPr>
              <a:t>Module-3: FUNCTIONS AND POINTERS </a:t>
            </a:r>
            <a:r>
              <a:rPr lang="en-IN" sz="3600" b="1" dirty="0">
                <a:solidFill>
                  <a:srgbClr val="C00000"/>
                </a:solidFill>
              </a:rPr>
              <a:t>:</a:t>
            </a:r>
          </a:p>
          <a:p>
            <a:pPr marL="0" indent="0">
              <a:buNone/>
            </a:pPr>
            <a:r>
              <a:rPr lang="en-US" sz="3200" b="1" dirty="0"/>
              <a:t>Modular programming :</a:t>
            </a:r>
            <a:r>
              <a:rPr lang="en-US" sz="3200" dirty="0"/>
              <a:t> Function prototype, function definition, function call, Built-in functions (string functions, math functions) Recursion, Binary Search using recursive functions.</a:t>
            </a:r>
          </a:p>
          <a:p>
            <a:pPr marL="0" indent="0">
              <a:buNone/>
            </a:pPr>
            <a:r>
              <a:rPr lang="en-US" sz="3200" b="1" dirty="0"/>
              <a:t>Pointers:</a:t>
            </a:r>
            <a:r>
              <a:rPr lang="en-US" sz="3200" dirty="0"/>
              <a:t> Pointer operators, Pointer arithmetic, Arrays and pointers, Array of pointers.</a:t>
            </a:r>
          </a:p>
          <a:p>
            <a:pPr marL="0" indent="0">
              <a:buNone/>
            </a:pPr>
            <a:r>
              <a:rPr lang="en-US" sz="3200" b="1" dirty="0"/>
              <a:t>Parameter passing: </a:t>
            </a:r>
            <a:r>
              <a:rPr lang="en-US" sz="3200" dirty="0"/>
              <a:t>Pass by value, Pass by reference. 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1741904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86F5F-E3B6-C2E0-511F-712CC24C0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A8D5FB-2FB5-E6BC-C140-7910375D19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0506" y="746233"/>
            <a:ext cx="10795465" cy="54338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C00000"/>
                </a:solidFill>
              </a:rPr>
              <a:t>Module-4: STRUCTURES AND UNION </a:t>
            </a:r>
            <a:r>
              <a:rPr lang="en-IN" sz="3200" b="1" dirty="0">
                <a:solidFill>
                  <a:srgbClr val="C00000"/>
                </a:solidFill>
              </a:rPr>
              <a:t>:</a:t>
            </a:r>
          </a:p>
          <a:p>
            <a:pPr marL="0" indent="0">
              <a:buNone/>
            </a:pPr>
            <a:r>
              <a:rPr lang="en-US" sz="3200" b="1" dirty="0"/>
              <a:t>Structure: </a:t>
            </a:r>
            <a:r>
              <a:rPr lang="en-US" sz="3200" dirty="0"/>
              <a:t>Nested structures, Pointer and Structures, Array of structures, Self referential structures </a:t>
            </a:r>
          </a:p>
          <a:p>
            <a:pPr marL="0" indent="0">
              <a:buNone/>
            </a:pPr>
            <a:r>
              <a:rPr lang="en-US" sz="3200" b="1" dirty="0"/>
              <a:t>Dynamic memory allocation:</a:t>
            </a:r>
            <a:r>
              <a:rPr lang="en-US" sz="3200" dirty="0"/>
              <a:t> Singly linked list, typedef </a:t>
            </a:r>
          </a:p>
          <a:p>
            <a:pPr marL="0" indent="0">
              <a:buNone/>
            </a:pPr>
            <a:r>
              <a:rPr lang="en-US" sz="3200" b="1" dirty="0"/>
              <a:t>Union: </a:t>
            </a:r>
            <a:r>
              <a:rPr lang="en-US" sz="3200" dirty="0"/>
              <a:t>Storage classes and Visibility.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3200" b="1" dirty="0">
                <a:solidFill>
                  <a:srgbClr val="C00000"/>
                </a:solidFill>
              </a:rPr>
              <a:t>Module-5: FILE PROCESSING </a:t>
            </a:r>
            <a:r>
              <a:rPr lang="en-IN" sz="3200" b="1" dirty="0">
                <a:solidFill>
                  <a:srgbClr val="C00000"/>
                </a:solidFill>
              </a:rPr>
              <a:t>:</a:t>
            </a:r>
          </a:p>
          <a:p>
            <a:pPr marL="0" indent="0">
              <a:buNone/>
            </a:pPr>
            <a:r>
              <a:rPr lang="en-US" sz="3200" b="1" dirty="0"/>
              <a:t>Files Types of file processing: </a:t>
            </a:r>
            <a:r>
              <a:rPr lang="en-US" sz="3200" dirty="0"/>
              <a:t>Sequential access, Random access Sequential access file - Random access file - Command line arguments.</a:t>
            </a:r>
            <a:endParaRPr lang="en-IN" sz="3600" dirty="0"/>
          </a:p>
          <a:p>
            <a:pPr marL="0" indent="0">
              <a:buNone/>
            </a:pP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911344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DB707-FE8D-6C55-E955-6251D807F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09600"/>
            <a:ext cx="11057710" cy="575636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sz="2800" b="1" dirty="0">
                <a:solidFill>
                  <a:srgbClr val="C00000"/>
                </a:solidFill>
              </a:rPr>
              <a:t>Experiments or Lab Programs: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Simulation of a </a:t>
            </a:r>
            <a:r>
              <a:rPr lang="en-US" sz="2200" b="1" dirty="0"/>
              <a:t>Simple Calculator</a:t>
            </a:r>
            <a:r>
              <a:rPr lang="en-US" sz="2200" dirty="0"/>
              <a:t>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Implement </a:t>
            </a:r>
            <a:r>
              <a:rPr lang="en-US" sz="2200" b="1" dirty="0"/>
              <a:t>Binary Search </a:t>
            </a:r>
            <a:r>
              <a:rPr lang="en-US" sz="2200" dirty="0"/>
              <a:t>on Integers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Sort the given set of N numbers using </a:t>
            </a:r>
            <a:r>
              <a:rPr lang="en-US" sz="2200" b="1" dirty="0"/>
              <a:t>Bubble sort</a:t>
            </a:r>
            <a:r>
              <a:rPr lang="en-US" sz="22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Implement </a:t>
            </a:r>
            <a:r>
              <a:rPr lang="en-US" sz="2200" b="1" dirty="0"/>
              <a:t>Matrix multiplication </a:t>
            </a:r>
            <a:r>
              <a:rPr lang="en-US" sz="2200" dirty="0"/>
              <a:t>and validate the rules of multiplication.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An electricity board charges the following rates for the use of electricity: for the first 200 units 80 paise per unit: for the next 100 units 90 paise per unit: beyond 300 units Rs 1 per unit. All users are charged a minimum of Rs. 100 as meter charge. If the total amount is more than Rs 400, then an additional charge of 15% of total amount is charged. Write a program to read the name of the user, number of units consumed and print out the charges.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Write functions to implement </a:t>
            </a:r>
            <a:r>
              <a:rPr lang="en-US" sz="2200" b="1" dirty="0"/>
              <a:t>string operations </a:t>
            </a:r>
            <a:r>
              <a:rPr lang="en-US" sz="2200" dirty="0"/>
              <a:t>such as compare, concatenate, and find string length. Use the parameter passing techniques.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Implement </a:t>
            </a:r>
            <a:r>
              <a:rPr lang="en-US" sz="2200" b="1" dirty="0"/>
              <a:t>structures</a:t>
            </a:r>
            <a:r>
              <a:rPr lang="en-US" sz="2200" dirty="0"/>
              <a:t> to read, write and compute average- marks of the students, list the students scoring above and below the average marks for a class of N students.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Write a C program to copy a text </a:t>
            </a:r>
            <a:r>
              <a:rPr lang="en-US" sz="2200" b="1" dirty="0"/>
              <a:t>file</a:t>
            </a:r>
            <a:r>
              <a:rPr lang="en-US" sz="2200" dirty="0"/>
              <a:t> to another, read both the input file name and target file name. </a:t>
            </a:r>
            <a:endParaRPr lang="en-IN" sz="2200" dirty="0"/>
          </a:p>
        </p:txBody>
      </p:sp>
    </p:spTree>
    <p:extLst>
      <p:ext uri="{BB962C8B-B14F-4D97-AF65-F5344CB8AC3E}">
        <p14:creationId xmlns:p14="http://schemas.microsoft.com/office/powerpoint/2010/main" val="7694312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9AB4E5-FB4E-FC4C-EB67-4372B5E09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39" y="418011"/>
            <a:ext cx="10970623" cy="59305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C00000"/>
                </a:solidFill>
              </a:rPr>
              <a:t>Course Learning objectives: </a:t>
            </a:r>
          </a:p>
          <a:p>
            <a:pPr marL="0" indent="0">
              <a:buNone/>
            </a:pPr>
            <a:r>
              <a:rPr lang="en-US" sz="2400" b="1" dirty="0"/>
              <a:t>1. Implement the constructs of C Language:</a:t>
            </a:r>
          </a:p>
          <a:p>
            <a:pPr marL="0" indent="0">
              <a:buNone/>
            </a:pPr>
            <a:r>
              <a:rPr lang="en-US" sz="2400" dirty="0"/>
              <a:t>This objective focuses on understanding the basic syntax and constructs of C language such as variables, data types, operators, control statements (like if, else, for, while), and expressions.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2400" b="1" dirty="0"/>
              <a:t>2. Construct C Programs using basic programming constructs:</a:t>
            </a:r>
          </a:p>
          <a:p>
            <a:pPr marL="0" indent="0">
              <a:buNone/>
            </a:pPr>
            <a:r>
              <a:rPr lang="en-US" sz="2400" dirty="0"/>
              <a:t>This involves using loops, conditional statements, and basic input/output to solve problems.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2400" b="1" dirty="0"/>
              <a:t>3. Develop C programs using arrays and strings:</a:t>
            </a:r>
          </a:p>
          <a:p>
            <a:pPr marL="0" indent="0">
              <a:buNone/>
            </a:pPr>
            <a:r>
              <a:rPr lang="en-US" sz="2400" dirty="0"/>
              <a:t>Arrays and strings allow storing and manipulating collections of data.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2400" b="1" dirty="0"/>
              <a:t>4. Organize modular applications in C using functions: </a:t>
            </a:r>
          </a:p>
          <a:p>
            <a:pPr marL="0" indent="0">
              <a:buNone/>
            </a:pPr>
            <a:r>
              <a:rPr lang="en-US" sz="2400" dirty="0"/>
              <a:t>Functions improve modularity and code reusability.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2400" b="1" dirty="0"/>
              <a:t>5. Integrate pointers and structures in C applications and Execute input/output and file handling in C:</a:t>
            </a:r>
          </a:p>
          <a:p>
            <a:pPr marL="0" indent="0">
              <a:buNone/>
            </a:pPr>
            <a:r>
              <a:rPr lang="en-US" sz="2400" dirty="0"/>
              <a:t>Pointers allow direct memory access, while structures help group related data. File handling enables storing and retrieving data.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028213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31F6B-2D82-C33B-C288-064FC8CFC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186ABE-3C2B-D301-7CF5-E678BAF67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524" y="391885"/>
            <a:ext cx="10970623" cy="59305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C00000"/>
                </a:solidFill>
              </a:rPr>
              <a:t>Course outcome (Course Skill Set):</a:t>
            </a:r>
          </a:p>
          <a:p>
            <a:pPr marL="0" indent="0">
              <a:buNone/>
            </a:pPr>
            <a:r>
              <a:rPr lang="en-US" sz="2400" dirty="0"/>
              <a:t>At the end of the course the student should be able to :</a:t>
            </a:r>
          </a:p>
          <a:p>
            <a:pPr marL="0" indent="0">
              <a:buNone/>
            </a:pPr>
            <a:endParaRPr lang="en-US" sz="2400" b="1" dirty="0">
              <a:solidFill>
                <a:srgbClr val="C00000"/>
              </a:solidFill>
            </a:endParaRPr>
          </a:p>
          <a:p>
            <a:pPr marL="0" indent="0">
              <a:buNone/>
            </a:pPr>
            <a:endParaRPr lang="en-US" sz="2800" b="1" dirty="0">
              <a:solidFill>
                <a:srgbClr val="C00000"/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267AB8D-FB7A-2E4A-C527-29215C919D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972235"/>
              </p:ext>
            </p:extLst>
          </p:nvPr>
        </p:nvGraphicFramePr>
        <p:xfrm>
          <a:off x="1036319" y="1532709"/>
          <a:ext cx="9971317" cy="446932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92687">
                  <a:extLst>
                    <a:ext uri="{9D8B030D-6E8A-4147-A177-3AD203B41FA5}">
                      <a16:colId xmlns:a16="http://schemas.microsoft.com/office/drawing/2014/main" val="2855909682"/>
                    </a:ext>
                  </a:extLst>
                </a:gridCol>
                <a:gridCol w="7053799">
                  <a:extLst>
                    <a:ext uri="{9D8B030D-6E8A-4147-A177-3AD203B41FA5}">
                      <a16:colId xmlns:a16="http://schemas.microsoft.com/office/drawing/2014/main" val="3950942496"/>
                    </a:ext>
                  </a:extLst>
                </a:gridCol>
                <a:gridCol w="1824831">
                  <a:extLst>
                    <a:ext uri="{9D8B030D-6E8A-4147-A177-3AD203B41FA5}">
                      <a16:colId xmlns:a16="http://schemas.microsoft.com/office/drawing/2014/main" val="2153824267"/>
                    </a:ext>
                  </a:extLst>
                </a:gridCol>
              </a:tblGrid>
              <a:tr h="7213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IN" sz="2400" kern="100" dirty="0">
                          <a:effectLst/>
                        </a:rPr>
                        <a:t>Sl. No.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IN" sz="2400" kern="100" dirty="0">
                          <a:effectLst/>
                        </a:rPr>
                        <a:t>Description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IN" sz="2400" kern="100" dirty="0">
                          <a:effectLst/>
                        </a:rPr>
                        <a:t>Bloom's Level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79080932"/>
                  </a:ext>
                </a:extLst>
              </a:tr>
              <a:tr h="7213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IN" sz="2400" kern="100">
                          <a:effectLst/>
                        </a:rPr>
                        <a:t>CO1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IN" sz="2400" kern="100" dirty="0">
                          <a:effectLst/>
                        </a:rPr>
                        <a:t>Demonstrate knowledge on C Programming constructs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IN" sz="2400" kern="100">
                          <a:effectLst/>
                        </a:rPr>
                        <a:t>L5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36744861"/>
                  </a:ext>
                </a:extLst>
              </a:tr>
              <a:tr h="7213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IN" sz="2400" kern="100">
                          <a:effectLst/>
                        </a:rPr>
                        <a:t>CO2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IN" sz="2400" kern="100" dirty="0">
                          <a:effectLst/>
                        </a:rPr>
                        <a:t>Develop simple applications in C using basic constructs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IN" sz="2400" kern="100">
                          <a:effectLst/>
                        </a:rPr>
                        <a:t>L4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9719290"/>
                  </a:ext>
                </a:extLst>
              </a:tr>
              <a:tr h="7213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IN" sz="2400" kern="100">
                          <a:effectLst/>
                        </a:rPr>
                        <a:t>CO3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IN" sz="2400" kern="100" dirty="0">
                          <a:effectLst/>
                        </a:rPr>
                        <a:t>Design and implement applications using arrays and strings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IN" sz="2400" kern="100">
                          <a:effectLst/>
                        </a:rPr>
                        <a:t>L5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14541148"/>
                  </a:ext>
                </a:extLst>
              </a:tr>
              <a:tr h="7213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IN" sz="2400" kern="100">
                          <a:effectLst/>
                        </a:rPr>
                        <a:t>CO4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IN" sz="2400" kern="100" dirty="0">
                          <a:effectLst/>
                        </a:rPr>
                        <a:t>Develop and implement modular applications in C using functions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IN" sz="2400" kern="100">
                          <a:effectLst/>
                        </a:rPr>
                        <a:t>L4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67371139"/>
                  </a:ext>
                </a:extLst>
              </a:tr>
              <a:tr h="7213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IN" sz="2400" kern="100" dirty="0">
                          <a:effectLst/>
                        </a:rPr>
                        <a:t>CO5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IN" sz="2400" kern="100" dirty="0">
                          <a:effectLst/>
                        </a:rPr>
                        <a:t>Develop applications in C using structures and pointers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IN" sz="2400" kern="100" dirty="0">
                          <a:effectLst/>
                        </a:rPr>
                        <a:t>L4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76009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6679775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Custom 30">
      <a:dk1>
        <a:sysClr val="windowText" lastClr="000000"/>
      </a:dk1>
      <a:lt1>
        <a:sysClr val="window" lastClr="FFFFFF"/>
      </a:lt1>
      <a:dk2>
        <a:srgbClr val="420023"/>
      </a:dk2>
      <a:lt2>
        <a:srgbClr val="FDFBF9"/>
      </a:lt2>
      <a:accent1>
        <a:srgbClr val="97446E"/>
      </a:accent1>
      <a:accent2>
        <a:srgbClr val="A40056"/>
      </a:accent2>
      <a:accent3>
        <a:srgbClr val="24BEEE"/>
      </a:accent3>
      <a:accent4>
        <a:srgbClr val="91274F"/>
      </a:accent4>
      <a:accent5>
        <a:srgbClr val="F39E29"/>
      </a:accent5>
      <a:accent6>
        <a:srgbClr val="E87450"/>
      </a:accent6>
      <a:hlink>
        <a:srgbClr val="F55D5D"/>
      </a:hlink>
      <a:folHlink>
        <a:srgbClr val="EA3A60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767</Words>
  <Application>Microsoft Office PowerPoint</Application>
  <PresentationFormat>Widescreen</PresentationFormat>
  <Paragraphs>74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Gill Sans Nova</vt:lpstr>
      <vt:lpstr>ConfettiVTI</vt:lpstr>
      <vt:lpstr>Programming and Problem Solving in 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PRAMOD NAIK</dc:creator>
  <cp:lastModifiedBy>Pramod Naik</cp:lastModifiedBy>
  <cp:revision>24</cp:revision>
  <dcterms:created xsi:type="dcterms:W3CDTF">2024-11-25T17:19:06Z</dcterms:created>
  <dcterms:modified xsi:type="dcterms:W3CDTF">2025-12-31T14:32:09Z</dcterms:modified>
</cp:coreProperties>
</file>