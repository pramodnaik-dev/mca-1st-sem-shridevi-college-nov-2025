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49"/>
  </p:notesMasterIdLst>
  <p:sldIdLst>
    <p:sldId id="421" r:id="rId2"/>
    <p:sldId id="422" r:id="rId3"/>
    <p:sldId id="423" r:id="rId4"/>
    <p:sldId id="424" r:id="rId5"/>
    <p:sldId id="425" r:id="rId6"/>
    <p:sldId id="426" r:id="rId7"/>
    <p:sldId id="428" r:id="rId8"/>
    <p:sldId id="429" r:id="rId9"/>
    <p:sldId id="472" r:id="rId10"/>
    <p:sldId id="430" r:id="rId11"/>
    <p:sldId id="427" r:id="rId12"/>
    <p:sldId id="457" r:id="rId13"/>
    <p:sldId id="458" r:id="rId14"/>
    <p:sldId id="459" r:id="rId15"/>
    <p:sldId id="460" r:id="rId16"/>
    <p:sldId id="451" r:id="rId17"/>
    <p:sldId id="452" r:id="rId18"/>
    <p:sldId id="453" r:id="rId19"/>
    <p:sldId id="449" r:id="rId20"/>
    <p:sldId id="431" r:id="rId21"/>
    <p:sldId id="432" r:id="rId22"/>
    <p:sldId id="433" r:id="rId23"/>
    <p:sldId id="450" r:id="rId24"/>
    <p:sldId id="434" r:id="rId25"/>
    <p:sldId id="454" r:id="rId26"/>
    <p:sldId id="436" r:id="rId27"/>
    <p:sldId id="461" r:id="rId28"/>
    <p:sldId id="462" r:id="rId29"/>
    <p:sldId id="463" r:id="rId30"/>
    <p:sldId id="437" r:id="rId31"/>
    <p:sldId id="464" r:id="rId32"/>
    <p:sldId id="455" r:id="rId33"/>
    <p:sldId id="456" r:id="rId34"/>
    <p:sldId id="467" r:id="rId35"/>
    <p:sldId id="473" r:id="rId36"/>
    <p:sldId id="465" r:id="rId37"/>
    <p:sldId id="466" r:id="rId38"/>
    <p:sldId id="468" r:id="rId39"/>
    <p:sldId id="469" r:id="rId40"/>
    <p:sldId id="470" r:id="rId41"/>
    <p:sldId id="471" r:id="rId42"/>
    <p:sldId id="435" r:id="rId43"/>
    <p:sldId id="438" r:id="rId44"/>
    <p:sldId id="440" r:id="rId45"/>
    <p:sldId id="441" r:id="rId46"/>
    <p:sldId id="442" r:id="rId47"/>
    <p:sldId id="443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32AF1-4615-4667-912A-829B12F8C4D2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8A8E6-D4B7-4286-B37C-5D755B8E2C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8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38A8E6-D4B7-4286-B37C-5D755B8E2CF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317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38A8E6-D4B7-4286-B37C-5D755B8E2CFC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336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3/22/2025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2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0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3/22/2025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3/22/2025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8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3/22/2025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6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2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3/22/2025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3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3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3/22/2025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9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3/22/2025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81849D-54CA-C13E-3D84-DB247AB9A268}"/>
              </a:ext>
            </a:extLst>
          </p:cNvPr>
          <p:cNvGrpSpPr/>
          <p:nvPr userDrawn="1"/>
        </p:nvGrpSpPr>
        <p:grpSpPr>
          <a:xfrm>
            <a:off x="130629" y="6291189"/>
            <a:ext cx="2743201" cy="495445"/>
            <a:chOff x="195943" y="6091967"/>
            <a:chExt cx="3506755" cy="62950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01CC4C-E0EC-38D2-F7AA-61FC22E4D90D}"/>
                </a:ext>
              </a:extLst>
            </p:cNvPr>
            <p:cNvSpPr/>
            <p:nvPr userDrawn="1"/>
          </p:nvSpPr>
          <p:spPr>
            <a:xfrm>
              <a:off x="195943" y="6091967"/>
              <a:ext cx="642257" cy="629508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75BEBF-DA68-8945-6205-DE7DE602B3BD}"/>
                </a:ext>
              </a:extLst>
            </p:cNvPr>
            <p:cNvSpPr txBox="1"/>
            <p:nvPr userDrawn="1"/>
          </p:nvSpPr>
          <p:spPr>
            <a:xfrm>
              <a:off x="838200" y="6163561"/>
              <a:ext cx="2864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PRAMOD NAIK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75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86F5F-E3B6-C2E0-511F-712CC24C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8D5FB-2FB5-E6BC-C140-7910375D1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506" y="746233"/>
            <a:ext cx="10795465" cy="356451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4000" b="1" dirty="0">
                <a:solidFill>
                  <a:srgbClr val="C00000"/>
                </a:solidFill>
              </a:rPr>
              <a:t>Module-5: FILE PROCESSING </a:t>
            </a:r>
            <a:r>
              <a:rPr lang="en-IN" sz="4000" b="1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4000" b="1" dirty="0"/>
              <a:t>Files:</a:t>
            </a:r>
            <a:r>
              <a:rPr lang="en-US" sz="4000" dirty="0"/>
              <a:t> Types of file processing</a:t>
            </a:r>
            <a:r>
              <a:rPr lang="en-US" sz="4000" b="1" dirty="0"/>
              <a:t>: </a:t>
            </a:r>
            <a:r>
              <a:rPr lang="en-US" sz="4000" dirty="0"/>
              <a:t>Sequential access, Random access Sequential access file - Random access file - Command line arguments.</a:t>
            </a:r>
            <a:endParaRPr lang="en-IN" sz="4000" dirty="0"/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1134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C6088-B0D3-AE57-574C-E0B71BAA5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1023257"/>
            <a:ext cx="10659110" cy="4615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</a:rPr>
              <a:t>Files and File Processing in C</a:t>
            </a:r>
          </a:p>
          <a:p>
            <a:pPr marL="0" indent="0">
              <a:buNone/>
            </a:pPr>
            <a:r>
              <a:rPr lang="en-US" sz="2800" b="1" dirty="0"/>
              <a:t>What is a File?</a:t>
            </a:r>
          </a:p>
          <a:p>
            <a:pPr marL="0" indent="0">
              <a:buNone/>
            </a:pPr>
            <a:r>
              <a:rPr lang="en-US" sz="2800" dirty="0"/>
              <a:t>A file is a </a:t>
            </a:r>
            <a:r>
              <a:rPr lang="en-US" sz="2800" b="1" dirty="0">
                <a:solidFill>
                  <a:srgbClr val="C00000"/>
                </a:solidFill>
              </a:rPr>
              <a:t>collection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of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related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data</a:t>
            </a:r>
            <a:r>
              <a:rPr lang="en-US" sz="2800" dirty="0"/>
              <a:t> stored on a storage device (such as a </a:t>
            </a:r>
            <a:r>
              <a:rPr lang="en-US" sz="2800" b="1" dirty="0"/>
              <a:t>hard</a:t>
            </a:r>
            <a:r>
              <a:rPr lang="en-US" sz="2800" dirty="0"/>
              <a:t> </a:t>
            </a:r>
            <a:r>
              <a:rPr lang="en-US" sz="2800" b="1" dirty="0"/>
              <a:t>disk</a:t>
            </a:r>
            <a:r>
              <a:rPr lang="en-US" sz="2800" dirty="0"/>
              <a:t> or </a:t>
            </a:r>
            <a:r>
              <a:rPr lang="en-US" sz="2800" b="1" dirty="0"/>
              <a:t>SSD</a:t>
            </a:r>
            <a:r>
              <a:rPr lang="en-US" sz="2800" dirty="0"/>
              <a:t>). Instead of using </a:t>
            </a:r>
            <a:r>
              <a:rPr lang="en-US" sz="2800" b="1" dirty="0"/>
              <a:t>input</a:t>
            </a:r>
            <a:r>
              <a:rPr lang="en-US" sz="2800" dirty="0"/>
              <a:t>/</a:t>
            </a:r>
            <a:r>
              <a:rPr lang="en-US" sz="2800" b="1" dirty="0"/>
              <a:t>output</a:t>
            </a:r>
            <a:r>
              <a:rPr lang="en-US" sz="2800" dirty="0"/>
              <a:t> (I/O) operations </a:t>
            </a:r>
            <a:r>
              <a:rPr lang="en-US" sz="2800" b="1" dirty="0">
                <a:solidFill>
                  <a:srgbClr val="C00000"/>
                </a:solidFill>
              </a:rPr>
              <a:t>directly from memory</a:t>
            </a:r>
            <a:r>
              <a:rPr lang="en-US" sz="2800" dirty="0"/>
              <a:t>, files allow </a:t>
            </a:r>
            <a:r>
              <a:rPr lang="en-US" sz="2800" b="1" dirty="0">
                <a:solidFill>
                  <a:srgbClr val="C00000"/>
                </a:solidFill>
              </a:rPr>
              <a:t>persistent storage of data</a:t>
            </a:r>
            <a:r>
              <a:rPr lang="en-US" sz="2800" dirty="0"/>
              <a:t>, which can be </a:t>
            </a:r>
            <a:r>
              <a:rPr lang="en-US" sz="2800" b="1" dirty="0"/>
              <a:t>retrieved</a:t>
            </a:r>
            <a:r>
              <a:rPr lang="en-US" sz="2800" dirty="0"/>
              <a:t> and </a:t>
            </a:r>
            <a:r>
              <a:rPr lang="en-US" sz="2800" b="1" dirty="0"/>
              <a:t>modified</a:t>
            </a:r>
            <a:r>
              <a:rPr lang="en-US" sz="2800" dirty="0"/>
              <a:t> later.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800" dirty="0"/>
              <a:t>In C, file handling is performed using the standard C library </a:t>
            </a:r>
            <a:r>
              <a:rPr lang="en-US" sz="2800" b="1" dirty="0">
                <a:solidFill>
                  <a:srgbClr val="C00000"/>
                </a:solidFill>
              </a:rPr>
              <a:t>&lt;</a:t>
            </a:r>
            <a:r>
              <a:rPr lang="en-US" sz="2800" b="1" dirty="0" err="1">
                <a:solidFill>
                  <a:srgbClr val="C00000"/>
                </a:solidFill>
              </a:rPr>
              <a:t>stdio.h</a:t>
            </a:r>
            <a:r>
              <a:rPr lang="en-US" sz="2800" b="1" dirty="0">
                <a:solidFill>
                  <a:srgbClr val="C00000"/>
                </a:solidFill>
              </a:rPr>
              <a:t>&gt;, </a:t>
            </a:r>
            <a:r>
              <a:rPr lang="en-US" sz="2800" dirty="0"/>
              <a:t>which provides functions for </a:t>
            </a:r>
            <a:r>
              <a:rPr lang="en-US" sz="2800" b="1" dirty="0"/>
              <a:t>reading</a:t>
            </a:r>
            <a:r>
              <a:rPr lang="en-US" sz="2800" dirty="0"/>
              <a:t>, </a:t>
            </a:r>
            <a:r>
              <a:rPr lang="en-US" sz="2800" b="1" dirty="0"/>
              <a:t>writing</a:t>
            </a:r>
            <a:r>
              <a:rPr lang="en-US" sz="2800" dirty="0"/>
              <a:t>, and </a:t>
            </a:r>
            <a:r>
              <a:rPr lang="en-US" sz="2800" b="1" dirty="0"/>
              <a:t>manipulating</a:t>
            </a:r>
            <a:r>
              <a:rPr lang="en-US" sz="2800" dirty="0"/>
              <a:t> files.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1028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4AFCF-EFC1-5E25-CE45-8F828ABA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17FCB-419A-EB63-E842-18A709351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979714"/>
            <a:ext cx="10659110" cy="4985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Types of Files in C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b="1" dirty="0">
                <a:solidFill>
                  <a:srgbClr val="C00000"/>
                </a:solidFill>
              </a:rPr>
              <a:t>Text</a:t>
            </a:r>
            <a:r>
              <a:rPr lang="en-US" sz="3200" b="1" dirty="0"/>
              <a:t> Files</a:t>
            </a:r>
          </a:p>
          <a:p>
            <a:pPr lvl="1"/>
            <a:r>
              <a:rPr lang="en-US" sz="3200" dirty="0"/>
              <a:t>Stores data in </a:t>
            </a:r>
            <a:r>
              <a:rPr lang="en-US" sz="3200" b="1" dirty="0">
                <a:solidFill>
                  <a:srgbClr val="C00000"/>
                </a:solidFill>
              </a:rPr>
              <a:t>human-readable form </a:t>
            </a:r>
            <a:r>
              <a:rPr lang="en-US" sz="3200" dirty="0"/>
              <a:t>(</a:t>
            </a:r>
            <a:r>
              <a:rPr lang="en-US" sz="3200" b="1" dirty="0"/>
              <a:t>ASCII</a:t>
            </a:r>
            <a:r>
              <a:rPr lang="en-US" sz="3200" dirty="0"/>
              <a:t> characters).</a:t>
            </a:r>
          </a:p>
          <a:p>
            <a:pPr lvl="1"/>
            <a:r>
              <a:rPr lang="en-US" sz="3200" dirty="0"/>
              <a:t>Can be </a:t>
            </a:r>
            <a:r>
              <a:rPr lang="en-US" sz="3200" b="1" dirty="0"/>
              <a:t>opened</a:t>
            </a:r>
            <a:r>
              <a:rPr lang="en-US" sz="3200" dirty="0"/>
              <a:t> and </a:t>
            </a:r>
            <a:r>
              <a:rPr lang="en-US" sz="3200" b="1" dirty="0"/>
              <a:t>edited</a:t>
            </a:r>
            <a:r>
              <a:rPr lang="en-US" sz="3200" dirty="0"/>
              <a:t> with a text editor.</a:t>
            </a:r>
          </a:p>
          <a:p>
            <a:pPr lvl="1"/>
            <a:r>
              <a:rPr lang="en-US" sz="3200" b="1" dirty="0"/>
              <a:t>Example</a:t>
            </a:r>
            <a:r>
              <a:rPr lang="en-US" sz="3200" dirty="0"/>
              <a:t>: .txt, .csv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b="1" dirty="0">
                <a:solidFill>
                  <a:srgbClr val="C00000"/>
                </a:solidFill>
              </a:rPr>
              <a:t>Binary</a:t>
            </a:r>
            <a:r>
              <a:rPr lang="en-US" sz="3200" b="1" dirty="0"/>
              <a:t> Files</a:t>
            </a:r>
          </a:p>
          <a:p>
            <a:pPr lvl="1"/>
            <a:r>
              <a:rPr lang="en-US" sz="3200" dirty="0"/>
              <a:t>Stores data in </a:t>
            </a:r>
            <a:r>
              <a:rPr lang="en-US" sz="3200" b="1" dirty="0">
                <a:solidFill>
                  <a:srgbClr val="C00000"/>
                </a:solidFill>
              </a:rPr>
              <a:t>machine-readable form </a:t>
            </a:r>
            <a:r>
              <a:rPr lang="en-US" sz="3200" dirty="0"/>
              <a:t>(</a:t>
            </a:r>
            <a:r>
              <a:rPr lang="en-US" sz="3200" b="1" dirty="0"/>
              <a:t>binary</a:t>
            </a:r>
            <a:r>
              <a:rPr lang="en-US" sz="3200" dirty="0"/>
              <a:t> format).</a:t>
            </a:r>
          </a:p>
          <a:p>
            <a:pPr lvl="1"/>
            <a:r>
              <a:rPr lang="en-US" sz="3200" b="1" dirty="0"/>
              <a:t>More</a:t>
            </a:r>
            <a:r>
              <a:rPr lang="en-US" sz="3200" dirty="0"/>
              <a:t> </a:t>
            </a:r>
            <a:r>
              <a:rPr lang="en-US" sz="3200" b="1" dirty="0"/>
              <a:t>efficient</a:t>
            </a:r>
            <a:r>
              <a:rPr lang="en-US" sz="3200" dirty="0"/>
              <a:t> and faster than text files.</a:t>
            </a:r>
          </a:p>
          <a:p>
            <a:pPr lvl="1"/>
            <a:r>
              <a:rPr lang="en-US" sz="3200" b="1" dirty="0"/>
              <a:t>Example: </a:t>
            </a:r>
            <a:r>
              <a:rPr lang="en-US" sz="3200" dirty="0"/>
              <a:t>.bin, .</a:t>
            </a:r>
            <a:r>
              <a:rPr lang="en-US" sz="3200" dirty="0" err="1"/>
              <a:t>dat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10284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11E90-0DDC-DBE2-9114-9713D9D4A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F7F9C-F9B3-BDA6-AFCA-993F627FF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00743"/>
            <a:ext cx="10659110" cy="6030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</a:rPr>
              <a:t>File Operations:</a:t>
            </a:r>
            <a:r>
              <a:rPr lang="en-US" sz="2600" b="1" dirty="0">
                <a:solidFill>
                  <a:srgbClr val="002060"/>
                </a:solidFill>
              </a:rPr>
              <a:t> </a:t>
            </a:r>
            <a:r>
              <a:rPr lang="en-US" sz="2600" dirty="0"/>
              <a:t>C provides several operations to handle files: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/>
              <a:t>Opening a File (</a:t>
            </a:r>
            <a:r>
              <a:rPr lang="en-US" sz="2600" b="1" dirty="0" err="1">
                <a:solidFill>
                  <a:srgbClr val="C00000"/>
                </a:solidFill>
              </a:rPr>
              <a:t>fopen</a:t>
            </a:r>
            <a:r>
              <a:rPr lang="en-US" sz="2600" b="1" dirty="0"/>
              <a:t>())</a:t>
            </a:r>
          </a:p>
          <a:p>
            <a:pPr lvl="1"/>
            <a:r>
              <a:rPr lang="en-US" sz="2600" dirty="0"/>
              <a:t>A file </a:t>
            </a:r>
            <a:r>
              <a:rPr lang="en-US" sz="2600" b="1" dirty="0"/>
              <a:t>must be opened </a:t>
            </a:r>
            <a:r>
              <a:rPr lang="en-US" sz="2600" dirty="0"/>
              <a:t>before any operation (</a:t>
            </a:r>
            <a:r>
              <a:rPr lang="en-US" sz="2600" b="1" dirty="0"/>
              <a:t>read</a:t>
            </a:r>
            <a:r>
              <a:rPr lang="en-US" sz="2600" dirty="0"/>
              <a:t>/</a:t>
            </a:r>
            <a:r>
              <a:rPr lang="en-US" sz="2600" b="1" dirty="0"/>
              <a:t>write</a:t>
            </a:r>
            <a:r>
              <a:rPr lang="en-US" sz="2600" dirty="0"/>
              <a:t>) is performed.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/>
              <a:t>Closing a File (</a:t>
            </a:r>
            <a:r>
              <a:rPr lang="en-US" sz="2600" b="1" dirty="0" err="1">
                <a:solidFill>
                  <a:srgbClr val="C00000"/>
                </a:solidFill>
              </a:rPr>
              <a:t>fclose</a:t>
            </a:r>
            <a:r>
              <a:rPr lang="en-US" sz="2600" b="1" dirty="0"/>
              <a:t>())</a:t>
            </a:r>
          </a:p>
          <a:p>
            <a:pPr lvl="1"/>
            <a:r>
              <a:rPr lang="en-US" sz="2600" dirty="0"/>
              <a:t>A file </a:t>
            </a:r>
            <a:r>
              <a:rPr lang="en-US" sz="2600" b="1" dirty="0"/>
              <a:t>should be closed </a:t>
            </a:r>
            <a:r>
              <a:rPr lang="en-US" sz="2600" dirty="0"/>
              <a:t>after completing operations to free up system resources.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/>
              <a:t>Reading from a File (</a:t>
            </a:r>
            <a:r>
              <a:rPr lang="en-US" sz="2600" b="1" dirty="0" err="1">
                <a:solidFill>
                  <a:srgbClr val="C00000"/>
                </a:solidFill>
              </a:rPr>
              <a:t>fscanf</a:t>
            </a:r>
            <a:r>
              <a:rPr lang="en-US" sz="2600" b="1" dirty="0"/>
              <a:t>(), </a:t>
            </a:r>
            <a:r>
              <a:rPr lang="en-US" sz="2600" b="1" dirty="0" err="1">
                <a:solidFill>
                  <a:srgbClr val="C00000"/>
                </a:solidFill>
              </a:rPr>
              <a:t>fgets</a:t>
            </a:r>
            <a:r>
              <a:rPr lang="en-US" sz="2600" b="1" dirty="0"/>
              <a:t>(), </a:t>
            </a:r>
            <a:r>
              <a:rPr lang="en-US" sz="2600" b="1" dirty="0" err="1">
                <a:solidFill>
                  <a:srgbClr val="C00000"/>
                </a:solidFill>
              </a:rPr>
              <a:t>fread</a:t>
            </a:r>
            <a:r>
              <a:rPr lang="en-US" sz="2600" b="1" dirty="0"/>
              <a:t>())</a:t>
            </a:r>
          </a:p>
          <a:p>
            <a:pPr lvl="1"/>
            <a:r>
              <a:rPr lang="en-US" sz="2600" b="1" dirty="0"/>
              <a:t>Retrieves</a:t>
            </a:r>
            <a:r>
              <a:rPr lang="en-US" sz="2600" dirty="0"/>
              <a:t> data from a file.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/>
              <a:t>Writing to a File (</a:t>
            </a:r>
            <a:r>
              <a:rPr lang="en-US" sz="2600" b="1" dirty="0" err="1">
                <a:solidFill>
                  <a:srgbClr val="C00000"/>
                </a:solidFill>
              </a:rPr>
              <a:t>fprintf</a:t>
            </a:r>
            <a:r>
              <a:rPr lang="en-US" sz="2600" b="1" dirty="0"/>
              <a:t>(), </a:t>
            </a:r>
            <a:r>
              <a:rPr lang="en-US" sz="2600" b="1" dirty="0" err="1">
                <a:solidFill>
                  <a:srgbClr val="C00000"/>
                </a:solidFill>
              </a:rPr>
              <a:t>fputs</a:t>
            </a:r>
            <a:r>
              <a:rPr lang="en-US" sz="2600" b="1" dirty="0"/>
              <a:t>(), </a:t>
            </a:r>
            <a:r>
              <a:rPr lang="en-US" sz="2600" b="1" dirty="0" err="1">
                <a:solidFill>
                  <a:srgbClr val="C00000"/>
                </a:solidFill>
              </a:rPr>
              <a:t>fwrite</a:t>
            </a:r>
            <a:r>
              <a:rPr lang="en-US" sz="2600" b="1" dirty="0"/>
              <a:t>())</a:t>
            </a:r>
          </a:p>
          <a:p>
            <a:pPr lvl="1"/>
            <a:r>
              <a:rPr lang="en-US" sz="2600" b="1" dirty="0"/>
              <a:t>Stores</a:t>
            </a:r>
            <a:r>
              <a:rPr lang="en-US" sz="2600" dirty="0"/>
              <a:t> data in a file.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/>
              <a:t>Appending to a File (</a:t>
            </a:r>
            <a:r>
              <a:rPr lang="en-US" sz="2600" b="1" dirty="0">
                <a:solidFill>
                  <a:srgbClr val="C00000"/>
                </a:solidFill>
              </a:rPr>
              <a:t>a</a:t>
            </a:r>
            <a:r>
              <a:rPr lang="en-US" sz="2600" b="1" dirty="0"/>
              <a:t> mode in </a:t>
            </a:r>
            <a:r>
              <a:rPr lang="en-US" sz="2600" b="1" dirty="0" err="1">
                <a:solidFill>
                  <a:srgbClr val="C00000"/>
                </a:solidFill>
              </a:rPr>
              <a:t>fopen</a:t>
            </a:r>
            <a:r>
              <a:rPr lang="en-US" sz="2600" b="1" dirty="0"/>
              <a:t>())</a:t>
            </a:r>
          </a:p>
          <a:p>
            <a:pPr lvl="1"/>
            <a:r>
              <a:rPr lang="en-US" sz="2600" b="1" dirty="0"/>
              <a:t>Adds</a:t>
            </a:r>
            <a:r>
              <a:rPr lang="en-US" sz="2600" dirty="0"/>
              <a:t> data to the end of an existing file.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34070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378A1-BA14-69C1-D9C4-F8B698BDA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E005-2263-F46A-BD18-9E4216F3F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297" y="489864"/>
            <a:ext cx="10659110" cy="84907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>
                <a:solidFill>
                  <a:srgbClr val="002060"/>
                </a:solidFill>
              </a:rPr>
              <a:t>File Handling Functions in C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375275-E3C9-2FE4-DDCF-59E686BD4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700798"/>
              </p:ext>
            </p:extLst>
          </p:nvPr>
        </p:nvGraphicFramePr>
        <p:xfrm>
          <a:off x="2134189" y="1099457"/>
          <a:ext cx="8566468" cy="51282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16204">
                  <a:extLst>
                    <a:ext uri="{9D8B030D-6E8A-4147-A177-3AD203B41FA5}">
                      <a16:colId xmlns:a16="http://schemas.microsoft.com/office/drawing/2014/main" val="938662665"/>
                    </a:ext>
                  </a:extLst>
                </a:gridCol>
                <a:gridCol w="6250264">
                  <a:extLst>
                    <a:ext uri="{9D8B030D-6E8A-4147-A177-3AD203B41FA5}">
                      <a16:colId xmlns:a16="http://schemas.microsoft.com/office/drawing/2014/main" val="3175140739"/>
                    </a:ext>
                  </a:extLst>
                </a:gridCol>
              </a:tblGrid>
              <a:tr h="3202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Function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Description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0631981"/>
                  </a:ext>
                </a:extLst>
              </a:tr>
              <a:tr h="429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fopen()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Opens a file in a specified mode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4866163"/>
                  </a:ext>
                </a:extLst>
              </a:tr>
              <a:tr h="429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fclose()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 dirty="0">
                          <a:effectLst/>
                        </a:rPr>
                        <a:t>Closes an opened file</a:t>
                      </a:r>
                      <a:endParaRPr lang="en-IN" sz="2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6205883"/>
                  </a:ext>
                </a:extLst>
              </a:tr>
              <a:tr h="429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fprintf()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Writes formatted data to a file (text)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1968"/>
                  </a:ext>
                </a:extLst>
              </a:tr>
              <a:tr h="429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fscanf()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 dirty="0">
                          <a:effectLst/>
                        </a:rPr>
                        <a:t>Reads formatted data from a file (text)</a:t>
                      </a:r>
                      <a:endParaRPr lang="en-IN" sz="2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4018936"/>
                  </a:ext>
                </a:extLst>
              </a:tr>
              <a:tr h="429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fgets()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 dirty="0">
                          <a:effectLst/>
                        </a:rPr>
                        <a:t>Reads a string from a file</a:t>
                      </a:r>
                      <a:endParaRPr lang="en-IN" sz="2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541181"/>
                  </a:ext>
                </a:extLst>
              </a:tr>
              <a:tr h="429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fputs()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Writes a string to a file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5220177"/>
                  </a:ext>
                </a:extLst>
              </a:tr>
              <a:tr h="429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fwrite()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Writes binary data to a file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0026397"/>
                  </a:ext>
                </a:extLst>
              </a:tr>
              <a:tr h="429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fread()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Reads binary data from a file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8966482"/>
                  </a:ext>
                </a:extLst>
              </a:tr>
              <a:tr h="429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fseek()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Moves the file pointer to a specific location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5757704"/>
                  </a:ext>
                </a:extLst>
              </a:tr>
              <a:tr h="429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ftell()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>
                          <a:effectLst/>
                        </a:rPr>
                        <a:t>Returns the current file pointer position</a:t>
                      </a:r>
                      <a:endParaRPr lang="en-IN" sz="2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2594855"/>
                  </a:ext>
                </a:extLst>
              </a:tr>
              <a:tr h="429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 dirty="0">
                          <a:effectLst/>
                        </a:rPr>
                        <a:t>rewind()</a:t>
                      </a:r>
                      <a:endParaRPr lang="en-IN" sz="2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600" kern="100" dirty="0">
                          <a:effectLst/>
                        </a:rPr>
                        <a:t>Resets file pointer to the beginning</a:t>
                      </a:r>
                      <a:endParaRPr lang="en-IN" sz="2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245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409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94F0-80EA-682B-5704-BC9CB10DC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42584-15E3-9C21-66F1-9A527C562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File Opening Modes in C: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F65262-972A-181C-4181-A43046264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585161"/>
              </p:ext>
            </p:extLst>
          </p:nvPr>
        </p:nvGraphicFramePr>
        <p:xfrm>
          <a:off x="1100045" y="1271648"/>
          <a:ext cx="9916297" cy="46719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0241">
                  <a:extLst>
                    <a:ext uri="{9D8B030D-6E8A-4147-A177-3AD203B41FA5}">
                      <a16:colId xmlns:a16="http://schemas.microsoft.com/office/drawing/2014/main" val="2592740465"/>
                    </a:ext>
                  </a:extLst>
                </a:gridCol>
                <a:gridCol w="8186056">
                  <a:extLst>
                    <a:ext uri="{9D8B030D-6E8A-4147-A177-3AD203B41FA5}">
                      <a16:colId xmlns:a16="http://schemas.microsoft.com/office/drawing/2014/main" val="655319390"/>
                    </a:ext>
                  </a:extLst>
                </a:gridCol>
              </a:tblGrid>
              <a:tr h="4426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100">
                          <a:effectLst/>
                        </a:rPr>
                        <a:t>Mode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100">
                          <a:effectLst/>
                        </a:rPr>
                        <a:t>Description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93887"/>
                  </a:ext>
                </a:extLst>
              </a:tr>
              <a:tr h="4426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100">
                          <a:effectLst/>
                        </a:rPr>
                        <a:t>"r"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100">
                          <a:effectLst/>
                        </a:rPr>
                        <a:t>Open for reading (file must exist)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9205672"/>
                  </a:ext>
                </a:extLst>
              </a:tr>
              <a:tr h="9021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100">
                          <a:effectLst/>
                        </a:rPr>
                        <a:t>"w"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100">
                          <a:effectLst/>
                        </a:rPr>
                        <a:t>Open for writing (creates a new file or overwrites existing)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6951814"/>
                  </a:ext>
                </a:extLst>
              </a:tr>
              <a:tr h="9021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100">
                          <a:effectLst/>
                        </a:rPr>
                        <a:t>"a"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100" dirty="0">
                          <a:effectLst/>
                        </a:rPr>
                        <a:t>Open for appending (creates a new file if it does not exist)</a:t>
                      </a:r>
                      <a:endParaRPr lang="en-IN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2048680"/>
                  </a:ext>
                </a:extLst>
              </a:tr>
              <a:tr h="6373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100">
                          <a:effectLst/>
                        </a:rPr>
                        <a:t>"r+"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100">
                          <a:effectLst/>
                        </a:rPr>
                        <a:t>Open for both reading and writing (file must exist)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2420431"/>
                  </a:ext>
                </a:extLst>
              </a:tr>
              <a:tr h="9021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100">
                          <a:effectLst/>
                        </a:rPr>
                        <a:t>"w+"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100" dirty="0">
                          <a:effectLst/>
                        </a:rPr>
                        <a:t>Open for reading and writing (</a:t>
                      </a:r>
                      <a:r>
                        <a:rPr lang="en-IN" sz="2800" b="1" kern="100" dirty="0">
                          <a:solidFill>
                            <a:srgbClr val="C00000"/>
                          </a:solidFill>
                          <a:effectLst/>
                        </a:rPr>
                        <a:t>overwrites</a:t>
                      </a:r>
                      <a:r>
                        <a:rPr lang="en-IN" sz="2800" b="1" kern="100" dirty="0">
                          <a:effectLst/>
                        </a:rPr>
                        <a:t> existing file</a:t>
                      </a:r>
                      <a:r>
                        <a:rPr lang="en-IN" sz="2800" kern="100" dirty="0">
                          <a:effectLst/>
                        </a:rPr>
                        <a:t>)</a:t>
                      </a:r>
                      <a:endParaRPr lang="en-IN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821533"/>
                  </a:ext>
                </a:extLst>
              </a:tr>
              <a:tr h="4426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100">
                          <a:effectLst/>
                        </a:rPr>
                        <a:t>"a+"</a:t>
                      </a:r>
                      <a:endParaRPr lang="en-IN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100" dirty="0">
                          <a:effectLst/>
                        </a:rPr>
                        <a:t>Open for reading and appending</a:t>
                      </a:r>
                      <a:endParaRPr lang="en-IN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3352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48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C368C-4BC9-A8E0-662A-BE8BF75F4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E68EF-A43D-6F55-028B-AAC66E47A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FILE Data Type:</a:t>
            </a:r>
          </a:p>
          <a:p>
            <a:pPr marL="0" indent="0">
              <a:buNone/>
            </a:pPr>
            <a:r>
              <a:rPr lang="en-US" sz="2400" dirty="0"/>
              <a:t>FILE is a data type in C that is used to represent a </a:t>
            </a:r>
            <a:r>
              <a:rPr lang="en-US" sz="2400" b="1" dirty="0">
                <a:solidFill>
                  <a:srgbClr val="C00000"/>
                </a:solidFill>
              </a:rPr>
              <a:t>file stream</a:t>
            </a:r>
            <a:r>
              <a:rPr lang="en-US" sz="2400" dirty="0"/>
              <a:t>. It is defined in the </a:t>
            </a:r>
            <a:r>
              <a:rPr lang="en-US" sz="2400" b="1" dirty="0"/>
              <a:t>&lt;</a:t>
            </a:r>
            <a:r>
              <a:rPr lang="en-US" sz="2400" b="1" dirty="0" err="1"/>
              <a:t>stdio.h</a:t>
            </a:r>
            <a:r>
              <a:rPr lang="en-US" sz="2400" b="1" dirty="0"/>
              <a:t>&gt; </a:t>
            </a:r>
            <a:r>
              <a:rPr lang="en-US" sz="2400" dirty="0"/>
              <a:t>header file.</a:t>
            </a:r>
          </a:p>
          <a:p>
            <a:pPr marL="0" indent="0">
              <a:buNone/>
            </a:pPr>
            <a:r>
              <a:rPr lang="en-US" sz="2400" b="1" dirty="0"/>
              <a:t>Understanding FILE in C</a:t>
            </a:r>
          </a:p>
          <a:p>
            <a:r>
              <a:rPr lang="en-US" sz="2400" dirty="0"/>
              <a:t>FILE is a </a:t>
            </a:r>
            <a:r>
              <a:rPr lang="en-US" sz="2400" b="1" dirty="0">
                <a:solidFill>
                  <a:srgbClr val="C00000"/>
                </a:solidFill>
              </a:rPr>
              <a:t>structure</a:t>
            </a:r>
            <a:r>
              <a:rPr lang="en-US" sz="2400" dirty="0"/>
              <a:t> (</a:t>
            </a:r>
            <a:r>
              <a:rPr lang="en-US" sz="2400" b="1" dirty="0"/>
              <a:t>struct</a:t>
            </a:r>
            <a:r>
              <a:rPr lang="en-US" sz="2400" dirty="0"/>
              <a:t>) that </a:t>
            </a:r>
            <a:r>
              <a:rPr lang="en-US" sz="2400" b="1" dirty="0">
                <a:solidFill>
                  <a:srgbClr val="C00000"/>
                </a:solidFill>
              </a:rPr>
              <a:t>stores information </a:t>
            </a:r>
            <a:r>
              <a:rPr lang="en-US" sz="2400" dirty="0"/>
              <a:t>about an </a:t>
            </a:r>
            <a:r>
              <a:rPr lang="en-US" sz="2400" b="1" dirty="0"/>
              <a:t>opened</a:t>
            </a:r>
            <a:r>
              <a:rPr lang="en-US" sz="2400" dirty="0"/>
              <a:t> </a:t>
            </a:r>
            <a:r>
              <a:rPr lang="en-US" sz="2400" b="1" dirty="0"/>
              <a:t>file</a:t>
            </a:r>
            <a:r>
              <a:rPr lang="en-US" sz="2400" dirty="0"/>
              <a:t>, such as: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The </a:t>
            </a:r>
            <a:r>
              <a:rPr lang="en-US" sz="2400" b="1" dirty="0"/>
              <a:t>file name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The </a:t>
            </a:r>
            <a:r>
              <a:rPr lang="en-US" sz="2400" b="1" dirty="0"/>
              <a:t>current</a:t>
            </a:r>
            <a:r>
              <a:rPr lang="en-US" sz="2400" dirty="0"/>
              <a:t> </a:t>
            </a:r>
            <a:r>
              <a:rPr lang="en-US" sz="2400" b="1" dirty="0"/>
              <a:t>position</a:t>
            </a:r>
            <a:r>
              <a:rPr lang="en-US" sz="2400" dirty="0"/>
              <a:t> of the </a:t>
            </a:r>
            <a:r>
              <a:rPr lang="en-US" sz="2400" b="1" dirty="0">
                <a:solidFill>
                  <a:srgbClr val="C00000"/>
                </a:solidFill>
              </a:rPr>
              <a:t>file pointer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The </a:t>
            </a:r>
            <a:r>
              <a:rPr lang="en-US" sz="2400" b="1" dirty="0"/>
              <a:t>file</a:t>
            </a:r>
            <a:r>
              <a:rPr lang="en-US" sz="2400" dirty="0"/>
              <a:t> </a:t>
            </a:r>
            <a:r>
              <a:rPr lang="en-US" sz="2400" b="1" dirty="0"/>
              <a:t>mode</a:t>
            </a:r>
            <a:r>
              <a:rPr lang="en-US" sz="2400" dirty="0"/>
              <a:t> (read, write, append, etc.)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The </a:t>
            </a:r>
            <a:r>
              <a:rPr lang="en-US" sz="2400" b="1" dirty="0"/>
              <a:t>status</a:t>
            </a:r>
            <a:r>
              <a:rPr lang="en-US" sz="2400" dirty="0"/>
              <a:t> of the file (open/closed)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/>
              <a:t>Error</a:t>
            </a:r>
            <a:r>
              <a:rPr lang="en-US" sz="2400" dirty="0"/>
              <a:t> indicators</a:t>
            </a:r>
          </a:p>
          <a:p>
            <a:r>
              <a:rPr lang="en-US" sz="2400" dirty="0"/>
              <a:t>When you </a:t>
            </a:r>
            <a:r>
              <a:rPr lang="en-US" sz="2400" b="1" dirty="0"/>
              <a:t>declare a </a:t>
            </a:r>
            <a:r>
              <a:rPr lang="en-US" sz="2400" b="1" dirty="0">
                <a:solidFill>
                  <a:srgbClr val="C00000"/>
                </a:solidFill>
              </a:rPr>
              <a:t>pointer</a:t>
            </a:r>
            <a:r>
              <a:rPr lang="en-US" sz="2400" b="1" dirty="0"/>
              <a:t> to FILE</a:t>
            </a:r>
            <a:r>
              <a:rPr lang="en-US" sz="2400" dirty="0"/>
              <a:t>, such as:</a:t>
            </a:r>
          </a:p>
          <a:p>
            <a:r>
              <a:rPr lang="en-US" sz="2400" dirty="0"/>
              <a:t>It means file is a </a:t>
            </a:r>
            <a:r>
              <a:rPr lang="en-US" sz="2400" b="1" dirty="0">
                <a:solidFill>
                  <a:srgbClr val="C00000"/>
                </a:solidFill>
              </a:rPr>
              <a:t>pointer to a structure </a:t>
            </a:r>
            <a:r>
              <a:rPr lang="en-US" sz="2400" dirty="0"/>
              <a:t>that contains </a:t>
            </a:r>
            <a:r>
              <a:rPr lang="en-US" sz="2400" b="1" dirty="0"/>
              <a:t>file-related information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4590D9-719E-0A39-264F-2BEF1496FF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61" t="18045" r="5961" b="18045"/>
          <a:stretch/>
        </p:blipFill>
        <p:spPr>
          <a:xfrm>
            <a:off x="6934199" y="4637314"/>
            <a:ext cx="2852057" cy="56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96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65F93-8823-E2C6-12CF-51F19A64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05362-E113-3693-913F-B52B2BF44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How FILE Works: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r>
              <a:rPr lang="en-US" sz="2800" b="1" dirty="0" err="1"/>
              <a:t>fopen</a:t>
            </a:r>
            <a:r>
              <a:rPr lang="en-US" sz="2800" b="1" dirty="0"/>
              <a:t>("example.txt", "w") : </a:t>
            </a:r>
            <a:r>
              <a:rPr lang="en-US" sz="2800" dirty="0"/>
              <a:t>opens the file "example.txt" in </a:t>
            </a:r>
            <a:r>
              <a:rPr lang="en-US" sz="2800" b="1" dirty="0">
                <a:solidFill>
                  <a:srgbClr val="C00000"/>
                </a:solidFill>
              </a:rPr>
              <a:t>write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mode</a:t>
            </a:r>
            <a:r>
              <a:rPr lang="en-US" sz="2800" dirty="0"/>
              <a:t> (w).</a:t>
            </a:r>
          </a:p>
          <a:p>
            <a:r>
              <a:rPr lang="en-US" sz="2800" dirty="0"/>
              <a:t>It </a:t>
            </a:r>
            <a:r>
              <a:rPr lang="en-US" sz="2800" b="1" dirty="0"/>
              <a:t>returns</a:t>
            </a:r>
            <a:r>
              <a:rPr lang="en-US" sz="2800" dirty="0"/>
              <a:t> a </a:t>
            </a:r>
            <a:r>
              <a:rPr lang="en-US" sz="2800" b="1" dirty="0">
                <a:solidFill>
                  <a:srgbClr val="C00000"/>
                </a:solidFill>
              </a:rPr>
              <a:t>pointer to a FILE structure</a:t>
            </a:r>
            <a:r>
              <a:rPr lang="en-US" sz="2800" dirty="0"/>
              <a:t>, which is stored in </a:t>
            </a:r>
            <a:r>
              <a:rPr lang="en-US" sz="2800" b="1" dirty="0"/>
              <a:t>file</a:t>
            </a:r>
            <a:r>
              <a:rPr lang="en-US" sz="2800" dirty="0"/>
              <a:t>.</a:t>
            </a:r>
          </a:p>
          <a:p>
            <a:r>
              <a:rPr lang="en-US" sz="2800" dirty="0"/>
              <a:t>If the file </a:t>
            </a:r>
            <a:r>
              <a:rPr lang="en-US" sz="2800" b="1" dirty="0">
                <a:solidFill>
                  <a:srgbClr val="C00000"/>
                </a:solidFill>
              </a:rPr>
              <a:t>fails</a:t>
            </a:r>
            <a:r>
              <a:rPr lang="en-US" sz="2800" dirty="0"/>
              <a:t> to open (e.g., </a:t>
            </a:r>
            <a:r>
              <a:rPr lang="en-US" sz="2800" b="1" dirty="0"/>
              <a:t>due to permission issues</a:t>
            </a:r>
            <a:r>
              <a:rPr lang="en-US" sz="2800" dirty="0"/>
              <a:t>), </a:t>
            </a:r>
            <a:r>
              <a:rPr lang="en-US" sz="2800" dirty="0" err="1"/>
              <a:t>fopen</a:t>
            </a:r>
            <a:r>
              <a:rPr lang="en-US" sz="2800" dirty="0"/>
              <a:t>() </a:t>
            </a:r>
            <a:r>
              <a:rPr lang="en-US" sz="2800" b="1" dirty="0"/>
              <a:t>returns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NULL</a:t>
            </a:r>
            <a:r>
              <a:rPr lang="en-US" sz="2800" dirty="0"/>
              <a:t>.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D9151E-3609-E29B-0719-1313A263F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10" y="1830896"/>
            <a:ext cx="8321562" cy="79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625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75807-0377-02A1-CE6F-09610283E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34143"/>
            <a:ext cx="10659110" cy="5142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⚠️ Why You </a:t>
            </a:r>
            <a:r>
              <a:rPr lang="en-US" sz="2800" b="1" dirty="0">
                <a:solidFill>
                  <a:srgbClr val="FF0000"/>
                </a:solidFill>
              </a:rPr>
              <a:t>Can't </a:t>
            </a:r>
            <a:r>
              <a:rPr lang="en-US" sz="2800" b="1" dirty="0"/>
              <a:t>Print or Access FILE Structure Directly Using </a:t>
            </a:r>
            <a:r>
              <a:rPr lang="en-US" sz="2800" b="1" dirty="0" err="1"/>
              <a:t>printf</a:t>
            </a:r>
            <a:endParaRPr lang="en-US" sz="2800" b="1" dirty="0"/>
          </a:p>
          <a:p>
            <a:pPr marL="0" indent="0">
              <a:buNone/>
            </a:pPr>
            <a:r>
              <a:rPr lang="en-US" sz="2800" dirty="0"/>
              <a:t>The FILE structure in C is </a:t>
            </a:r>
            <a:r>
              <a:rPr lang="en-US" sz="2800" b="1" dirty="0">
                <a:solidFill>
                  <a:srgbClr val="C00000"/>
                </a:solidFill>
              </a:rPr>
              <a:t>opaque</a:t>
            </a:r>
            <a:r>
              <a:rPr lang="en-US" sz="2800" dirty="0"/>
              <a:t>, meaning its internal members are hidden from user programs. You cannot access or print its internal structure directly using </a:t>
            </a:r>
            <a:r>
              <a:rPr lang="en-US" sz="2800" dirty="0" err="1"/>
              <a:t>printf</a:t>
            </a:r>
            <a:r>
              <a:rPr lang="en-US" sz="2800" dirty="0"/>
              <a:t>, because:</a:t>
            </a:r>
          </a:p>
          <a:p>
            <a:r>
              <a:rPr lang="en-US" sz="2800" dirty="0"/>
              <a:t>The C standard does not define the internal layout.</a:t>
            </a:r>
          </a:p>
          <a:p>
            <a:r>
              <a:rPr lang="en-US" sz="2800" dirty="0"/>
              <a:t>It is implementation-specific (varies across compilers and platforms).</a:t>
            </a:r>
          </a:p>
          <a:p>
            <a:r>
              <a:rPr lang="en-US" sz="2800" dirty="0"/>
              <a:t>You are only supposed to manipulate FILE * via standard library functions (like </a:t>
            </a:r>
            <a:r>
              <a:rPr lang="en-US" sz="2800" dirty="0" err="1"/>
              <a:t>fopen</a:t>
            </a:r>
            <a:r>
              <a:rPr lang="en-US" sz="2800" dirty="0"/>
              <a:t>(), </a:t>
            </a:r>
            <a:r>
              <a:rPr lang="en-US" sz="2800" dirty="0" err="1"/>
              <a:t>fclose</a:t>
            </a:r>
            <a:r>
              <a:rPr lang="en-US" sz="2800" dirty="0"/>
              <a:t>(), </a:t>
            </a:r>
            <a:r>
              <a:rPr lang="en-US" sz="2800" dirty="0" err="1"/>
              <a:t>fread</a:t>
            </a:r>
            <a:r>
              <a:rPr lang="en-US" sz="2800" dirty="0"/>
              <a:t>(), </a:t>
            </a:r>
            <a:r>
              <a:rPr lang="en-US" sz="2800" dirty="0" err="1"/>
              <a:t>fwrite</a:t>
            </a:r>
            <a:r>
              <a:rPr lang="en-US" sz="2800" dirty="0"/>
              <a:t>(), etc.).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61860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1DA7-D930-973E-07B4-ABAA5CB57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9D314-7D82-ECE1-19DD-06876939E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Writing to a File (</a:t>
            </a:r>
            <a:r>
              <a:rPr lang="en-US" sz="2800" b="1" dirty="0" err="1">
                <a:solidFill>
                  <a:srgbClr val="C00000"/>
                </a:solidFill>
              </a:rPr>
              <a:t>fprintf</a:t>
            </a:r>
            <a:r>
              <a:rPr lang="en-US" sz="2800" b="1" dirty="0"/>
              <a:t>(), </a:t>
            </a:r>
            <a:r>
              <a:rPr lang="en-US" sz="2800" b="1" dirty="0" err="1">
                <a:solidFill>
                  <a:srgbClr val="C00000"/>
                </a:solidFill>
              </a:rPr>
              <a:t>fputs</a:t>
            </a:r>
            <a:r>
              <a:rPr lang="en-US" sz="2800" b="1" dirty="0"/>
              <a:t>(), </a:t>
            </a:r>
            <a:r>
              <a:rPr lang="en-US" sz="2800" b="1" dirty="0" err="1">
                <a:solidFill>
                  <a:srgbClr val="C00000"/>
                </a:solidFill>
              </a:rPr>
              <a:t>fwrite</a:t>
            </a:r>
            <a:r>
              <a:rPr lang="en-US" sz="2800" b="1" dirty="0"/>
              <a:t>())</a:t>
            </a:r>
          </a:p>
          <a:p>
            <a:pPr marL="0" indent="0">
              <a:buNone/>
            </a:pPr>
            <a:r>
              <a:rPr lang="en-US" sz="2400" b="1" dirty="0"/>
              <a:t>1. </a:t>
            </a:r>
            <a:r>
              <a:rPr lang="en-US" sz="2400" b="1" dirty="0" err="1"/>
              <a:t>fprintf</a:t>
            </a:r>
            <a:r>
              <a:rPr lang="en-US" sz="2400" b="1" dirty="0"/>
              <a:t>() – Formatted Output to a File</a:t>
            </a:r>
          </a:p>
          <a:p>
            <a:pPr marL="0" indent="0">
              <a:buNone/>
            </a:pPr>
            <a:r>
              <a:rPr lang="en-US" sz="2400" dirty="0" err="1"/>
              <a:t>fprintf</a:t>
            </a:r>
            <a:r>
              <a:rPr lang="en-US" sz="2400" dirty="0"/>
              <a:t>() is used to </a:t>
            </a:r>
            <a:r>
              <a:rPr lang="en-US" sz="2400" b="1" dirty="0">
                <a:solidFill>
                  <a:srgbClr val="C00000"/>
                </a:solidFill>
              </a:rPr>
              <a:t>write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formatted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text</a:t>
            </a:r>
            <a:r>
              <a:rPr lang="en-US" sz="2400" dirty="0"/>
              <a:t> (similar to </a:t>
            </a:r>
            <a:r>
              <a:rPr lang="en-US" sz="2400" b="1" dirty="0" err="1">
                <a:solidFill>
                  <a:srgbClr val="C00000"/>
                </a:solidFill>
              </a:rPr>
              <a:t>printf</a:t>
            </a:r>
            <a:r>
              <a:rPr lang="en-US" sz="2400" dirty="0"/>
              <a:t>(), but for file output). You can specify the format for the data, such as </a:t>
            </a:r>
            <a:r>
              <a:rPr lang="en-US" sz="2400" b="1" dirty="0"/>
              <a:t>integers</a:t>
            </a:r>
            <a:r>
              <a:rPr lang="en-US" sz="2400" dirty="0"/>
              <a:t>, </a:t>
            </a:r>
            <a:r>
              <a:rPr lang="en-US" sz="2400" b="1" dirty="0"/>
              <a:t>strings</a:t>
            </a:r>
            <a:r>
              <a:rPr lang="en-US" sz="2400" dirty="0"/>
              <a:t>, </a:t>
            </a:r>
            <a:r>
              <a:rPr lang="en-US" sz="2400" b="1" dirty="0"/>
              <a:t>floating-point</a:t>
            </a:r>
            <a:r>
              <a:rPr lang="en-US" sz="2400" dirty="0"/>
              <a:t> </a:t>
            </a:r>
            <a:r>
              <a:rPr lang="en-US" sz="2400" b="1" dirty="0"/>
              <a:t>numbers</a:t>
            </a:r>
            <a:r>
              <a:rPr lang="en-US" sz="2400" dirty="0"/>
              <a:t>, etc.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file → </a:t>
            </a:r>
            <a:r>
              <a:rPr lang="en-US" sz="2400" dirty="0"/>
              <a:t>Pointer to the </a:t>
            </a:r>
            <a:r>
              <a:rPr lang="en-US" sz="2400" b="1" dirty="0"/>
              <a:t>file</a:t>
            </a:r>
            <a:r>
              <a:rPr lang="en-US" sz="2400" dirty="0"/>
              <a:t> where data is written.</a:t>
            </a:r>
          </a:p>
          <a:p>
            <a:r>
              <a:rPr lang="en-US" sz="2400" b="1" dirty="0"/>
              <a:t>format → </a:t>
            </a:r>
            <a:r>
              <a:rPr lang="en-US" sz="2400" dirty="0"/>
              <a:t>Format specifiers (%d, %s, %f, etc.).</a:t>
            </a:r>
          </a:p>
          <a:p>
            <a:r>
              <a:rPr lang="en-US" sz="2400" dirty="0"/>
              <a:t>Returns the </a:t>
            </a:r>
            <a:r>
              <a:rPr lang="en-US" sz="2400" b="1" dirty="0">
                <a:solidFill>
                  <a:srgbClr val="C00000"/>
                </a:solidFill>
              </a:rPr>
              <a:t>number of characters written </a:t>
            </a:r>
            <a:r>
              <a:rPr lang="en-US" sz="2400" dirty="0"/>
              <a:t>or a negative number on error.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3897F5-B9DD-7045-16D5-17D661DA8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923" y="3337886"/>
            <a:ext cx="9839277" cy="72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20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69FF6-6BC7-3E2F-31B9-E7925670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8F7D4A-195B-CD9A-DD2B-1E681D98D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" y="0"/>
            <a:ext cx="1204264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5F5A5-27A2-B1AA-6521-FB9B306F4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43" y="348343"/>
            <a:ext cx="1709057" cy="631372"/>
          </a:xfrm>
          <a:ln w="38100">
            <a:solidFill>
              <a:schemeClr val="tx2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Example</a:t>
            </a:r>
            <a:endParaRPr lang="en-IN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331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3CEC-10BF-CB6D-67A3-EDFC40205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B4545-CBAC-0B3B-0726-09B6867AD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</a:t>
            </a:r>
            <a:r>
              <a:rPr lang="en-US" sz="2400" b="1" dirty="0" err="1"/>
              <a:t>fputs</a:t>
            </a:r>
            <a:r>
              <a:rPr lang="en-US" sz="2400" b="1" dirty="0"/>
              <a:t>() – Writing a String to a File</a:t>
            </a:r>
          </a:p>
          <a:p>
            <a:pPr marL="0" indent="0">
              <a:buNone/>
            </a:pPr>
            <a:r>
              <a:rPr lang="en-US" sz="2400" dirty="0" err="1"/>
              <a:t>fputs</a:t>
            </a:r>
            <a:r>
              <a:rPr lang="en-US" sz="2400" dirty="0"/>
              <a:t>() is used to </a:t>
            </a:r>
            <a:r>
              <a:rPr lang="en-US" sz="2400" b="1" dirty="0">
                <a:solidFill>
                  <a:srgbClr val="C00000"/>
                </a:solidFill>
              </a:rPr>
              <a:t>write a string </a:t>
            </a:r>
            <a:r>
              <a:rPr lang="en-US" sz="2400" dirty="0"/>
              <a:t>(</a:t>
            </a:r>
            <a:r>
              <a:rPr lang="en-US" sz="2400" b="1" dirty="0"/>
              <a:t>without</a:t>
            </a:r>
            <a:r>
              <a:rPr lang="en-US" sz="2400" dirty="0"/>
              <a:t> </a:t>
            </a:r>
            <a:r>
              <a:rPr lang="en-US" sz="2400" b="1" dirty="0"/>
              <a:t>formatting</a:t>
            </a:r>
            <a:r>
              <a:rPr lang="en-US" sz="2400" dirty="0"/>
              <a:t>) to a file. It writes the string </a:t>
            </a:r>
            <a:r>
              <a:rPr lang="en-US" sz="2400" b="1" dirty="0">
                <a:solidFill>
                  <a:srgbClr val="C00000"/>
                </a:solidFill>
              </a:rPr>
              <a:t>exactly as it </a:t>
            </a:r>
            <a:r>
              <a:rPr lang="en-US" sz="2400" b="1" dirty="0"/>
              <a:t>is</a:t>
            </a:r>
            <a:r>
              <a:rPr lang="en-US" sz="2400" dirty="0"/>
              <a:t>, including spaces, but </a:t>
            </a:r>
            <a:r>
              <a:rPr lang="en-US" sz="2400" b="1" dirty="0"/>
              <a:t>does not add a </a:t>
            </a:r>
            <a:r>
              <a:rPr lang="en-US" sz="2400" b="1" dirty="0">
                <a:solidFill>
                  <a:srgbClr val="C00000"/>
                </a:solidFill>
              </a:rPr>
              <a:t>newline</a:t>
            </a:r>
            <a:r>
              <a:rPr lang="en-US" sz="2400" b="1" dirty="0"/>
              <a:t> </a:t>
            </a:r>
            <a:r>
              <a:rPr lang="en-US" sz="2400" dirty="0"/>
              <a:t>at the end.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str → </a:t>
            </a:r>
            <a:r>
              <a:rPr lang="en-US" sz="2400" dirty="0"/>
              <a:t>The string to be </a:t>
            </a:r>
            <a:r>
              <a:rPr lang="en-US" sz="2400" b="1" dirty="0">
                <a:solidFill>
                  <a:srgbClr val="C00000"/>
                </a:solidFill>
              </a:rPr>
              <a:t>written</a:t>
            </a:r>
            <a:r>
              <a:rPr lang="en-US" sz="2400" dirty="0"/>
              <a:t> to the file.</a:t>
            </a:r>
          </a:p>
          <a:p>
            <a:r>
              <a:rPr lang="en-US" sz="2400" b="1" dirty="0"/>
              <a:t>file → </a:t>
            </a:r>
            <a:r>
              <a:rPr lang="en-US" sz="2400" dirty="0"/>
              <a:t>Pointer to the file.</a:t>
            </a:r>
          </a:p>
          <a:p>
            <a:r>
              <a:rPr lang="en-US" sz="2400" dirty="0"/>
              <a:t>Returns a </a:t>
            </a:r>
            <a:r>
              <a:rPr lang="en-US" sz="2400" b="1" dirty="0">
                <a:solidFill>
                  <a:srgbClr val="C00000"/>
                </a:solidFill>
              </a:rPr>
              <a:t>non-negative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value</a:t>
            </a:r>
            <a:r>
              <a:rPr lang="en-US" sz="2400" dirty="0"/>
              <a:t> if successful, or EOF on error.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B53FCC-1DC4-E983-0AE2-73D5CBA3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323" y="2590568"/>
            <a:ext cx="7248706" cy="77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1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4F05F-E699-A86B-57C5-4DA16993F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29850A-E05D-CDA5-5EE1-34796ACBD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1266714" cy="6841834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35F698-9573-1E5B-0732-15F01246E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714" y="0"/>
            <a:ext cx="925286" cy="6858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B71A0A-782A-7C46-A8BA-F014405218E9}"/>
              </a:ext>
            </a:extLst>
          </p:cNvPr>
          <p:cNvSpPr txBox="1">
            <a:spLocks/>
          </p:cNvSpPr>
          <p:nvPr/>
        </p:nvSpPr>
        <p:spPr>
          <a:xfrm>
            <a:off x="6368143" y="348343"/>
            <a:ext cx="1709057" cy="631372"/>
          </a:xfrm>
          <a:prstGeom prst="rect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>
                <a:solidFill>
                  <a:schemeClr val="bg1"/>
                </a:solidFill>
              </a:rPr>
              <a:t>Example</a:t>
            </a:r>
            <a:endParaRPr lang="en-IN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944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408FB-F0A6-2841-06B0-A26E0A80B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3D1C4-5F0E-61F6-CC4F-BA8974A27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</a:t>
            </a:r>
            <a:r>
              <a:rPr lang="en-US" sz="2400" b="1" dirty="0" err="1"/>
              <a:t>fwrite</a:t>
            </a:r>
            <a:r>
              <a:rPr lang="en-US" sz="2400" b="1" dirty="0"/>
              <a:t>() – Writing Binary Data to a File</a:t>
            </a:r>
          </a:p>
          <a:p>
            <a:pPr marL="0" indent="0">
              <a:buNone/>
            </a:pPr>
            <a:r>
              <a:rPr lang="en-US" sz="2400" dirty="0" err="1"/>
              <a:t>fwrite</a:t>
            </a:r>
            <a:r>
              <a:rPr lang="en-US" sz="2400" dirty="0"/>
              <a:t>() is used to write </a:t>
            </a:r>
            <a:r>
              <a:rPr lang="en-US" sz="2400" b="1" dirty="0">
                <a:solidFill>
                  <a:srgbClr val="C00000"/>
                </a:solidFill>
              </a:rPr>
              <a:t>raw binary data </a:t>
            </a:r>
            <a:r>
              <a:rPr lang="en-US" sz="2400" dirty="0"/>
              <a:t>to a file. It writes data as </a:t>
            </a:r>
            <a:r>
              <a:rPr lang="en-US" sz="2400" b="1" dirty="0"/>
              <a:t>blocks of memory</a:t>
            </a:r>
            <a:r>
              <a:rPr lang="en-US" sz="2400" dirty="0"/>
              <a:t>, which can be useful for saving complex data types like </a:t>
            </a:r>
            <a:r>
              <a:rPr lang="en-US" sz="2400" b="1" dirty="0"/>
              <a:t>structs</a:t>
            </a:r>
            <a:r>
              <a:rPr lang="en-US" sz="2400" dirty="0"/>
              <a:t>, </a:t>
            </a:r>
            <a:r>
              <a:rPr lang="en-US" sz="2400" b="1" dirty="0"/>
              <a:t>images</a:t>
            </a:r>
            <a:r>
              <a:rPr lang="en-US" sz="2400" dirty="0"/>
              <a:t>, or </a:t>
            </a:r>
            <a:r>
              <a:rPr lang="en-US" sz="2400" b="1" dirty="0"/>
              <a:t>arrays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 err="1"/>
              <a:t>ptr</a:t>
            </a:r>
            <a:r>
              <a:rPr lang="en-US" sz="2400" b="1" dirty="0"/>
              <a:t> → </a:t>
            </a:r>
            <a:r>
              <a:rPr lang="en-US" sz="2400" dirty="0"/>
              <a:t>Pointer to the data you want to write.</a:t>
            </a:r>
          </a:p>
          <a:p>
            <a:r>
              <a:rPr lang="en-US" sz="2400" b="1" dirty="0"/>
              <a:t>size → </a:t>
            </a:r>
            <a:r>
              <a:rPr lang="en-US" sz="2400" dirty="0"/>
              <a:t>Size of each element (e.g., </a:t>
            </a:r>
            <a:r>
              <a:rPr lang="en-US" sz="2400" dirty="0" err="1"/>
              <a:t>sizeof</a:t>
            </a:r>
            <a:r>
              <a:rPr lang="en-US" sz="2400" dirty="0"/>
              <a:t>(int)).</a:t>
            </a:r>
          </a:p>
          <a:p>
            <a:r>
              <a:rPr lang="en-US" sz="2400" b="1" dirty="0"/>
              <a:t>count → </a:t>
            </a:r>
            <a:r>
              <a:rPr lang="en-US" sz="2400" dirty="0"/>
              <a:t>Number of elements to write.</a:t>
            </a:r>
          </a:p>
          <a:p>
            <a:r>
              <a:rPr lang="en-US" sz="2400" b="1" dirty="0"/>
              <a:t>file → </a:t>
            </a:r>
            <a:r>
              <a:rPr lang="en-US" sz="2400" dirty="0"/>
              <a:t>Pointer to the file.</a:t>
            </a:r>
          </a:p>
          <a:p>
            <a:r>
              <a:rPr lang="en-US" sz="2400" b="1" dirty="0"/>
              <a:t>Returns</a:t>
            </a:r>
            <a:r>
              <a:rPr lang="en-US" sz="2400" dirty="0"/>
              <a:t> the number of elements successfully written.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05A3BC-58FB-D53B-5C67-8389255B5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314" y="2685985"/>
            <a:ext cx="10128733" cy="60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48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8B506-1DD1-4CE4-161E-96BD244E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1403D-3EA9-A30F-92D9-C754C409F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012" y="515453"/>
            <a:ext cx="10659110" cy="6403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EEDDD2-12D0-7EDE-65B2-DEE299FEBB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0" r="5893"/>
          <a:stretch/>
        </p:blipFill>
        <p:spPr>
          <a:xfrm>
            <a:off x="0" y="0"/>
            <a:ext cx="12177285" cy="65134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B6B623-35AA-BCC1-1EA9-27BF869BF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9905"/>
            <a:ext cx="12177285" cy="43809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5BEF35-77CF-6271-64A0-31E9816D20B0}"/>
              </a:ext>
            </a:extLst>
          </p:cNvPr>
          <p:cNvSpPr txBox="1">
            <a:spLocks/>
          </p:cNvSpPr>
          <p:nvPr/>
        </p:nvSpPr>
        <p:spPr>
          <a:xfrm>
            <a:off x="6716486" y="204253"/>
            <a:ext cx="1709057" cy="492433"/>
          </a:xfrm>
          <a:prstGeom prst="rect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>
                <a:solidFill>
                  <a:schemeClr val="bg1"/>
                </a:solidFill>
              </a:rPr>
              <a:t>Example</a:t>
            </a:r>
            <a:endParaRPr lang="en-IN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305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D5F77-FF32-6E93-0E25-CFDBC1C04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04587-45DC-7EF6-735E-2C5DF1AF0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Reading from a File (</a:t>
            </a:r>
            <a:r>
              <a:rPr lang="en-US" sz="2400" b="1" dirty="0" err="1">
                <a:solidFill>
                  <a:srgbClr val="C00000"/>
                </a:solidFill>
              </a:rPr>
              <a:t>fscanf</a:t>
            </a:r>
            <a:r>
              <a:rPr lang="en-US" sz="2400" b="1" dirty="0"/>
              <a:t>(), </a:t>
            </a:r>
            <a:r>
              <a:rPr lang="en-US" sz="2400" b="1" dirty="0" err="1">
                <a:solidFill>
                  <a:srgbClr val="C00000"/>
                </a:solidFill>
              </a:rPr>
              <a:t>fgets</a:t>
            </a:r>
            <a:r>
              <a:rPr lang="en-US" sz="2400" b="1" dirty="0"/>
              <a:t>(), </a:t>
            </a:r>
            <a:r>
              <a:rPr lang="en-US" sz="2400" b="1" dirty="0" err="1">
                <a:solidFill>
                  <a:srgbClr val="C00000"/>
                </a:solidFill>
              </a:rPr>
              <a:t>fread</a:t>
            </a:r>
            <a:r>
              <a:rPr lang="en-US" sz="2400" b="1" dirty="0"/>
              <a:t>())</a:t>
            </a:r>
          </a:p>
          <a:p>
            <a:pPr marL="0" indent="0">
              <a:buNone/>
            </a:pPr>
            <a:r>
              <a:rPr lang="en-US" sz="2400" b="1" dirty="0"/>
              <a:t>1. </a:t>
            </a:r>
            <a:r>
              <a:rPr lang="en-US" sz="2400" b="1" dirty="0" err="1"/>
              <a:t>fscanf</a:t>
            </a:r>
            <a:r>
              <a:rPr lang="en-US" sz="2400" b="1" dirty="0"/>
              <a:t>() – Formatted Input from a File</a:t>
            </a:r>
          </a:p>
          <a:p>
            <a:pPr marL="0" indent="0">
              <a:buNone/>
            </a:pPr>
            <a:r>
              <a:rPr lang="en-US" sz="2400" dirty="0" err="1"/>
              <a:t>fscanf</a:t>
            </a:r>
            <a:r>
              <a:rPr lang="en-US" sz="2400" dirty="0"/>
              <a:t>() is used to </a:t>
            </a:r>
            <a:r>
              <a:rPr lang="en-US" sz="2400" b="1" dirty="0">
                <a:solidFill>
                  <a:srgbClr val="C00000"/>
                </a:solidFill>
              </a:rPr>
              <a:t>read formatted data </a:t>
            </a:r>
            <a:r>
              <a:rPr lang="en-US" sz="2400" dirty="0"/>
              <a:t>from a file, </a:t>
            </a:r>
            <a:r>
              <a:rPr lang="en-US" sz="2400" b="1" dirty="0"/>
              <a:t>similar</a:t>
            </a:r>
            <a:r>
              <a:rPr lang="en-US" sz="2400" dirty="0"/>
              <a:t> to </a:t>
            </a:r>
            <a:r>
              <a:rPr lang="en-US" sz="2400" b="1" dirty="0" err="1">
                <a:solidFill>
                  <a:srgbClr val="C00000"/>
                </a:solidFill>
              </a:rPr>
              <a:t>scanf</a:t>
            </a:r>
            <a:r>
              <a:rPr lang="en-US" sz="2400" dirty="0"/>
              <a:t>() but for file input.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file → </a:t>
            </a:r>
            <a:r>
              <a:rPr lang="en-US" sz="2400" dirty="0"/>
              <a:t>Pointer to the file </a:t>
            </a:r>
            <a:r>
              <a:rPr lang="en-US" sz="2400" b="1" dirty="0"/>
              <a:t>opened</a:t>
            </a:r>
            <a:r>
              <a:rPr lang="en-US" sz="2400" dirty="0"/>
              <a:t> in read mode.</a:t>
            </a:r>
          </a:p>
          <a:p>
            <a:r>
              <a:rPr lang="en-US" sz="2400" b="1" dirty="0"/>
              <a:t>format → </a:t>
            </a:r>
            <a:r>
              <a:rPr lang="en-US" sz="2400" dirty="0"/>
              <a:t>Specifies the </a:t>
            </a:r>
            <a:r>
              <a:rPr lang="en-US" sz="2400" b="1" dirty="0"/>
              <a:t>format</a:t>
            </a:r>
            <a:r>
              <a:rPr lang="en-US" sz="2400" dirty="0"/>
              <a:t> </a:t>
            </a:r>
            <a:r>
              <a:rPr lang="en-US" sz="2400" b="1" dirty="0"/>
              <a:t>specifier</a:t>
            </a:r>
            <a:r>
              <a:rPr lang="en-US" sz="2400" dirty="0"/>
              <a:t> (%d, %s, %f, etc.).</a:t>
            </a:r>
          </a:p>
          <a:p>
            <a:r>
              <a:rPr lang="en-US" sz="2400" dirty="0"/>
              <a:t>Returns the </a:t>
            </a:r>
            <a:r>
              <a:rPr lang="en-US" sz="2400" b="1" dirty="0"/>
              <a:t>number of items successfully read</a:t>
            </a:r>
            <a:r>
              <a:rPr lang="en-US" sz="2400" dirty="0"/>
              <a:t>, or </a:t>
            </a:r>
            <a:r>
              <a:rPr lang="en-US" sz="2400" b="1" dirty="0">
                <a:solidFill>
                  <a:srgbClr val="C00000"/>
                </a:solidFill>
              </a:rPr>
              <a:t>EOF</a:t>
            </a:r>
            <a:r>
              <a:rPr lang="en-US" sz="2400" dirty="0"/>
              <a:t> (-1) on failure.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4A42E-64BD-0696-784C-47D34EA4C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943" y="3014714"/>
            <a:ext cx="9600000" cy="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42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0FDE7-74EC-650B-00CD-29D278CE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CAABA-D589-26FF-2D3B-96265AAE0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0895" y="188118"/>
            <a:ext cx="2934789" cy="60058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Example: – </a:t>
            </a:r>
          </a:p>
          <a:p>
            <a:pPr marL="0" indent="0">
              <a:buNone/>
            </a:pPr>
            <a:r>
              <a:rPr lang="en-US" sz="2800" b="1" dirty="0"/>
              <a:t>Read </a:t>
            </a:r>
            <a:r>
              <a:rPr lang="en-US" sz="2800" b="1" dirty="0">
                <a:solidFill>
                  <a:srgbClr val="C00000"/>
                </a:solidFill>
              </a:rPr>
              <a:t>words</a:t>
            </a:r>
            <a:r>
              <a:rPr lang="en-US" sz="2800" b="1" dirty="0"/>
              <a:t> from a file.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📌 Output </a:t>
            </a:r>
            <a:r>
              <a:rPr lang="en-US" sz="2800" dirty="0"/>
              <a:t>(if data.txt contains "Hello World! This is C."):</a:t>
            </a:r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6F3492-F66E-4D8D-3172-1B396DCD88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954"/>
          <a:stretch/>
        </p:blipFill>
        <p:spPr>
          <a:xfrm>
            <a:off x="-10886" y="0"/>
            <a:ext cx="8961781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7E3ED4-3970-99D0-914F-7AB50F2A3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7257" y="3887890"/>
            <a:ext cx="1238095" cy="2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70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20A24-8C18-D485-667C-D9E1E384B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CFA07-6194-D863-2323-47021E9A3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</a:t>
            </a:r>
            <a:r>
              <a:rPr lang="en-US" sz="2400" b="1" dirty="0" err="1"/>
              <a:t>fgets</a:t>
            </a:r>
            <a:r>
              <a:rPr lang="en-US" sz="2400" b="1" dirty="0"/>
              <a:t>() – Read a </a:t>
            </a:r>
            <a:r>
              <a:rPr lang="en-US" sz="2400" b="1" dirty="0">
                <a:solidFill>
                  <a:srgbClr val="C00000"/>
                </a:solidFill>
              </a:rPr>
              <a:t>Line</a:t>
            </a:r>
            <a:r>
              <a:rPr lang="en-US" sz="2400" b="1" dirty="0"/>
              <a:t> from a File</a:t>
            </a:r>
          </a:p>
          <a:p>
            <a:pPr marL="0" indent="0">
              <a:buNone/>
            </a:pPr>
            <a:r>
              <a:rPr lang="en-US" sz="2400" dirty="0" err="1"/>
              <a:t>fgets</a:t>
            </a:r>
            <a:r>
              <a:rPr lang="en-US" sz="2400" dirty="0"/>
              <a:t>() is used to read </a:t>
            </a:r>
            <a:r>
              <a:rPr lang="en-US" sz="2400" b="1" dirty="0">
                <a:solidFill>
                  <a:srgbClr val="C00000"/>
                </a:solidFill>
              </a:rPr>
              <a:t>an entire line </a:t>
            </a:r>
            <a:r>
              <a:rPr lang="en-US" sz="2400" dirty="0"/>
              <a:t>(</a:t>
            </a:r>
            <a:r>
              <a:rPr lang="en-US" sz="2400" b="1" dirty="0"/>
              <a:t>including</a:t>
            </a:r>
            <a:r>
              <a:rPr lang="en-US" sz="2400" dirty="0"/>
              <a:t> </a:t>
            </a:r>
            <a:r>
              <a:rPr lang="en-US" sz="2400" b="1" dirty="0"/>
              <a:t>spaces</a:t>
            </a:r>
            <a:r>
              <a:rPr lang="en-US" sz="2400" dirty="0"/>
              <a:t>) from a file.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str → </a:t>
            </a:r>
            <a:r>
              <a:rPr lang="en-US" sz="2400" dirty="0"/>
              <a:t>Character </a:t>
            </a:r>
            <a:r>
              <a:rPr lang="en-US" sz="2400" b="1" dirty="0">
                <a:solidFill>
                  <a:srgbClr val="C00000"/>
                </a:solidFill>
              </a:rPr>
              <a:t>array</a:t>
            </a:r>
            <a:r>
              <a:rPr lang="en-US" sz="2400" dirty="0"/>
              <a:t> to store the line.</a:t>
            </a:r>
          </a:p>
          <a:p>
            <a:r>
              <a:rPr lang="en-US" sz="2400" b="1" dirty="0"/>
              <a:t>size → Maximum</a:t>
            </a:r>
            <a:r>
              <a:rPr lang="en-US" sz="2400" dirty="0"/>
              <a:t> </a:t>
            </a:r>
            <a:r>
              <a:rPr lang="en-US" sz="2400" b="1" dirty="0"/>
              <a:t>number</a:t>
            </a:r>
            <a:r>
              <a:rPr lang="en-US" sz="2400" dirty="0"/>
              <a:t> of characters to read (including \0).</a:t>
            </a:r>
          </a:p>
          <a:p>
            <a:r>
              <a:rPr lang="en-US" sz="2400" b="1" dirty="0"/>
              <a:t>file → </a:t>
            </a:r>
            <a:r>
              <a:rPr lang="en-US" sz="2400" b="1" dirty="0">
                <a:solidFill>
                  <a:srgbClr val="C00000"/>
                </a:solidFill>
              </a:rPr>
              <a:t>Pointer</a:t>
            </a:r>
            <a:r>
              <a:rPr lang="en-US" sz="2400" dirty="0"/>
              <a:t> to the file.</a:t>
            </a:r>
          </a:p>
          <a:p>
            <a:r>
              <a:rPr lang="en-US" sz="2400" dirty="0"/>
              <a:t>Returns </a:t>
            </a:r>
            <a:r>
              <a:rPr lang="en-US" sz="2400" b="1" dirty="0">
                <a:solidFill>
                  <a:srgbClr val="C00000"/>
                </a:solidFill>
              </a:rPr>
              <a:t>NULL</a:t>
            </a:r>
            <a:r>
              <a:rPr lang="en-US" sz="2400" dirty="0"/>
              <a:t> if end of file or </a:t>
            </a:r>
            <a:r>
              <a:rPr lang="en-US" sz="2400" b="1" dirty="0">
                <a:solidFill>
                  <a:srgbClr val="C00000"/>
                </a:solidFill>
              </a:rPr>
              <a:t>error</a:t>
            </a:r>
            <a:r>
              <a:rPr lang="en-US" sz="2400" dirty="0"/>
              <a:t> occurs.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C89C42-A896-1ED5-93A2-A9F8F13FE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829" y="2545952"/>
            <a:ext cx="9705286" cy="78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87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D682E-2A84-C782-89BF-9C60B5200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857EBF-1A6C-A998-B372-77748C0DB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391254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408D2-62B9-FC36-7152-FA1C9D4FE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8942" y="348343"/>
            <a:ext cx="1654629" cy="631372"/>
          </a:xfrm>
          <a:ln w="38100">
            <a:solidFill>
              <a:schemeClr val="tx2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Example</a:t>
            </a:r>
            <a:endParaRPr lang="en-IN" sz="32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34B1C8-5970-2C3B-A681-6578B9018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254" y="0"/>
            <a:ext cx="8007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77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80445-203F-7621-DCD9-D1239372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E7410-665A-140C-DE81-6E3258C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</a:t>
            </a:r>
            <a:r>
              <a:rPr lang="en-US" sz="2400" b="1" dirty="0" err="1"/>
              <a:t>fread</a:t>
            </a:r>
            <a:r>
              <a:rPr lang="en-US" sz="2400" b="1" dirty="0"/>
              <a:t>() – Read </a:t>
            </a:r>
            <a:r>
              <a:rPr lang="en-US" sz="2400" b="1" dirty="0">
                <a:solidFill>
                  <a:srgbClr val="C00000"/>
                </a:solidFill>
              </a:rPr>
              <a:t>Binary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Data</a:t>
            </a:r>
            <a:r>
              <a:rPr lang="en-US" sz="2400" b="1" dirty="0"/>
              <a:t> from a File</a:t>
            </a:r>
          </a:p>
          <a:p>
            <a:pPr marL="0" indent="0">
              <a:buNone/>
            </a:pPr>
            <a:r>
              <a:rPr lang="en-US" sz="2400" dirty="0" err="1"/>
              <a:t>fread</a:t>
            </a:r>
            <a:r>
              <a:rPr lang="en-US" sz="2400" dirty="0"/>
              <a:t>() is used to </a:t>
            </a:r>
            <a:r>
              <a:rPr lang="en-US" sz="2400" b="1" dirty="0"/>
              <a:t>read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raw binary data </a:t>
            </a:r>
            <a:r>
              <a:rPr lang="en-US" sz="2400" dirty="0"/>
              <a:t>(useful for images, structures, etc.).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 err="1"/>
              <a:t>ptr</a:t>
            </a:r>
            <a:r>
              <a:rPr lang="en-US" sz="2400" b="1" dirty="0"/>
              <a:t> → </a:t>
            </a:r>
            <a:r>
              <a:rPr lang="en-US" sz="2400" dirty="0"/>
              <a:t>Pointer to </a:t>
            </a:r>
            <a:r>
              <a:rPr lang="en-US" sz="2400" b="1" dirty="0">
                <a:solidFill>
                  <a:srgbClr val="C00000"/>
                </a:solidFill>
              </a:rPr>
              <a:t>buffer</a:t>
            </a:r>
            <a:r>
              <a:rPr lang="en-US" sz="2400" dirty="0"/>
              <a:t> where data is stored.</a:t>
            </a:r>
          </a:p>
          <a:p>
            <a:r>
              <a:rPr lang="en-US" sz="2400" b="1" dirty="0"/>
              <a:t>size → </a:t>
            </a:r>
            <a:r>
              <a:rPr lang="en-US" sz="2400" b="1" dirty="0">
                <a:solidFill>
                  <a:srgbClr val="C00000"/>
                </a:solidFill>
              </a:rPr>
              <a:t>Size</a:t>
            </a:r>
            <a:r>
              <a:rPr lang="en-US" sz="2400" dirty="0"/>
              <a:t> of each element.</a:t>
            </a:r>
          </a:p>
          <a:p>
            <a:r>
              <a:rPr lang="en-US" sz="2400" b="1" dirty="0"/>
              <a:t>count → </a:t>
            </a:r>
            <a:r>
              <a:rPr lang="en-US" sz="2400" b="1" dirty="0">
                <a:solidFill>
                  <a:srgbClr val="C00000"/>
                </a:solidFill>
              </a:rPr>
              <a:t>Number</a:t>
            </a:r>
            <a:r>
              <a:rPr lang="en-US" sz="2400" dirty="0"/>
              <a:t> of elements to read.</a:t>
            </a:r>
          </a:p>
          <a:p>
            <a:r>
              <a:rPr lang="en-US" sz="2400" b="1" dirty="0"/>
              <a:t>file → </a:t>
            </a:r>
            <a:r>
              <a:rPr lang="en-US" sz="2400" dirty="0"/>
              <a:t>File </a:t>
            </a:r>
            <a:r>
              <a:rPr lang="en-US" sz="2400" b="1" dirty="0">
                <a:solidFill>
                  <a:srgbClr val="C00000"/>
                </a:solidFill>
              </a:rPr>
              <a:t>pointer</a:t>
            </a:r>
            <a:r>
              <a:rPr lang="en-US" sz="2400" dirty="0"/>
              <a:t>.</a:t>
            </a:r>
          </a:p>
          <a:p>
            <a:r>
              <a:rPr lang="en-US" sz="2400" b="1" dirty="0"/>
              <a:t>Returns</a:t>
            </a:r>
            <a:r>
              <a:rPr lang="en-US" sz="2400" dirty="0"/>
              <a:t> number of elements read.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88CBE7-4B11-3D58-4D33-A1060CF22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3" y="2475855"/>
            <a:ext cx="10659110" cy="69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47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5EFC-B396-C591-74D7-B4EF11748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9D8370-52A1-1076-19E9-55EA74250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264081" cy="68580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A3AF9B-0879-6D86-D6BF-EA1BA7C4F123}"/>
              </a:ext>
            </a:extLst>
          </p:cNvPr>
          <p:cNvSpPr txBox="1">
            <a:spLocks/>
          </p:cNvSpPr>
          <p:nvPr/>
        </p:nvSpPr>
        <p:spPr>
          <a:xfrm>
            <a:off x="6607628" y="729343"/>
            <a:ext cx="4343401" cy="522514"/>
          </a:xfrm>
          <a:prstGeom prst="rect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 b="1" dirty="0">
                <a:solidFill>
                  <a:schemeClr val="bg1"/>
                </a:solidFill>
              </a:rPr>
              <a:t>Example – Read </a:t>
            </a:r>
            <a:r>
              <a:rPr lang="en-IN" sz="2800" b="1" dirty="0">
                <a:solidFill>
                  <a:srgbClr val="C00000"/>
                </a:solidFill>
              </a:rPr>
              <a:t>binary</a:t>
            </a:r>
            <a:r>
              <a:rPr lang="en-IN" sz="2800" b="1" dirty="0">
                <a:solidFill>
                  <a:schemeClr val="bg1"/>
                </a:solidFill>
              </a:rPr>
              <a:t>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E9D417-0120-486A-3B6B-BC9140D8D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4080" y="0"/>
            <a:ext cx="927919" cy="893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41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97B60-1198-B062-CAB9-EC8E560E1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9951A-FEA3-DF33-8032-8D8FB1348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Appending to a File in C (a mode in </a:t>
            </a:r>
            <a:r>
              <a:rPr lang="en-US" sz="2400" b="1" dirty="0" err="1"/>
              <a:t>fopen</a:t>
            </a:r>
            <a:r>
              <a:rPr lang="en-US" sz="2400" b="1" dirty="0"/>
              <a:t>())</a:t>
            </a:r>
          </a:p>
          <a:p>
            <a:pPr marL="0" indent="0">
              <a:buNone/>
            </a:pPr>
            <a:r>
              <a:rPr lang="en-US" sz="2400" dirty="0"/>
              <a:t>Appending to a file means </a:t>
            </a:r>
            <a:r>
              <a:rPr lang="en-US" sz="2400" b="1" dirty="0"/>
              <a:t>adding new content </a:t>
            </a:r>
            <a:r>
              <a:rPr lang="en-US" sz="2400" b="1" dirty="0">
                <a:solidFill>
                  <a:srgbClr val="C00000"/>
                </a:solidFill>
              </a:rPr>
              <a:t>without</a:t>
            </a:r>
            <a:r>
              <a:rPr lang="en-US" sz="2400" b="1" dirty="0"/>
              <a:t> overwriting the existing data</a:t>
            </a:r>
            <a:r>
              <a:rPr lang="en-US" sz="2400" dirty="0"/>
              <a:t>. In C, you can use the "</a:t>
            </a:r>
            <a:r>
              <a:rPr lang="en-US" sz="2400" b="1" dirty="0">
                <a:solidFill>
                  <a:srgbClr val="C00000"/>
                </a:solidFill>
              </a:rPr>
              <a:t>a</a:t>
            </a:r>
            <a:r>
              <a:rPr lang="en-US" sz="2400" dirty="0"/>
              <a:t>" </a:t>
            </a:r>
            <a:r>
              <a:rPr lang="en-US" sz="2400" b="1" dirty="0"/>
              <a:t>mode</a:t>
            </a:r>
            <a:r>
              <a:rPr lang="en-US" sz="2400" dirty="0"/>
              <a:t> in </a:t>
            </a:r>
            <a:r>
              <a:rPr lang="en-US" sz="2400" dirty="0" err="1"/>
              <a:t>fopen</a:t>
            </a:r>
            <a:r>
              <a:rPr lang="en-US" sz="2400" dirty="0"/>
              <a:t>() to achieve this.</a:t>
            </a:r>
          </a:p>
          <a:p>
            <a:pPr marL="0" indent="0">
              <a:buNone/>
            </a:pPr>
            <a:r>
              <a:rPr lang="en-US" sz="2400" b="1" dirty="0"/>
              <a:t>When opening a file in append mode:</a:t>
            </a:r>
          </a:p>
          <a:p>
            <a:r>
              <a:rPr lang="en-US" sz="2400" dirty="0"/>
              <a:t>If the </a:t>
            </a:r>
            <a:r>
              <a:rPr lang="en-US" sz="2400" b="1" dirty="0">
                <a:solidFill>
                  <a:srgbClr val="C00000"/>
                </a:solidFill>
              </a:rPr>
              <a:t>file exists</a:t>
            </a:r>
            <a:r>
              <a:rPr lang="en-US" sz="2400" dirty="0"/>
              <a:t>, new data is added at the </a:t>
            </a:r>
            <a:r>
              <a:rPr lang="en-US" sz="2400" b="1" dirty="0"/>
              <a:t>end of the file</a:t>
            </a:r>
            <a:r>
              <a:rPr lang="en-US" sz="2400" dirty="0"/>
              <a:t>.</a:t>
            </a:r>
          </a:p>
          <a:p>
            <a:r>
              <a:rPr lang="en-US" sz="2400" dirty="0"/>
              <a:t>If the file does not exist, it is </a:t>
            </a:r>
            <a:r>
              <a:rPr lang="en-US" sz="2400" b="1" dirty="0"/>
              <a:t>created automatically</a:t>
            </a:r>
            <a:r>
              <a:rPr lang="en-US" sz="2400" dirty="0"/>
              <a:t>.</a:t>
            </a:r>
          </a:p>
          <a:p>
            <a:r>
              <a:rPr lang="en-US" sz="2400" dirty="0"/>
              <a:t>Unlike "w" mode, "a" does not erase the file’s previous contents.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057A2E-C1AE-E00A-EA3E-7508E32AC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572" y="4542810"/>
            <a:ext cx="7852058" cy="81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09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60630-3826-C01C-9261-2DDEC69C1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094003-5C43-5EC9-065A-3AC327385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94913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DCECC-3BF6-FB5F-BB32-EB1D741A6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42" y="348343"/>
            <a:ext cx="1589315" cy="522514"/>
          </a:xfrm>
          <a:ln w="38100">
            <a:solidFill>
              <a:schemeClr val="tx2">
                <a:lumMod val="50000"/>
                <a:lumOff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Example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740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0C4AC-12E8-C2E5-D954-5A3AE6E81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60C63-5F80-58C2-59C8-833DD3E12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74915"/>
            <a:ext cx="10659110" cy="555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Types of File Processing in C: </a:t>
            </a:r>
          </a:p>
          <a:p>
            <a:pPr marL="0" indent="0">
              <a:buNone/>
            </a:pPr>
            <a:r>
              <a:rPr lang="en-US" sz="2800" dirty="0"/>
              <a:t>File processing in C refers to the </a:t>
            </a:r>
            <a:r>
              <a:rPr lang="en-US" sz="2800" b="1" dirty="0"/>
              <a:t>ability</a:t>
            </a:r>
            <a:r>
              <a:rPr lang="en-US" sz="2800" dirty="0"/>
              <a:t> to </a:t>
            </a:r>
            <a:r>
              <a:rPr lang="en-US" sz="2800" b="1" dirty="0">
                <a:solidFill>
                  <a:srgbClr val="C00000"/>
                </a:solidFill>
              </a:rPr>
              <a:t>read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from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C00000"/>
                </a:solidFill>
              </a:rPr>
              <a:t>write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to</a:t>
            </a:r>
            <a:r>
              <a:rPr lang="en-US" sz="2800" dirty="0"/>
              <a:t> files using the </a:t>
            </a:r>
            <a:r>
              <a:rPr lang="en-US" sz="2800" b="1" dirty="0"/>
              <a:t>Standard I/O library </a:t>
            </a:r>
            <a:r>
              <a:rPr lang="en-US" sz="2800" dirty="0"/>
              <a:t>(</a:t>
            </a:r>
            <a:r>
              <a:rPr lang="en-US" sz="2800" dirty="0" err="1"/>
              <a:t>stdio.h</a:t>
            </a:r>
            <a:r>
              <a:rPr lang="en-US" sz="2800" dirty="0"/>
              <a:t>). Instead of handling input and output through the console, file processing allows programs to store data </a:t>
            </a:r>
            <a:r>
              <a:rPr lang="en-US" sz="2800" b="1" dirty="0">
                <a:solidFill>
                  <a:srgbClr val="C00000"/>
                </a:solidFill>
              </a:rPr>
              <a:t>persistently</a:t>
            </a:r>
            <a:r>
              <a:rPr lang="en-US" sz="2800" dirty="0"/>
              <a:t> in files. </a:t>
            </a:r>
          </a:p>
          <a:p>
            <a:pPr marL="0" indent="0">
              <a:buNone/>
            </a:pPr>
            <a:r>
              <a:rPr lang="en-US" sz="2800" dirty="0"/>
              <a:t>File processing in C is used to </a:t>
            </a:r>
            <a:r>
              <a:rPr lang="en-US" sz="2800" b="1" dirty="0">
                <a:solidFill>
                  <a:srgbClr val="C00000"/>
                </a:solidFill>
              </a:rPr>
              <a:t>store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C00000"/>
                </a:solidFill>
              </a:rPr>
              <a:t>retrieve</a:t>
            </a:r>
            <a:r>
              <a:rPr lang="en-US" sz="2800" dirty="0"/>
              <a:t> </a:t>
            </a:r>
            <a:r>
              <a:rPr lang="en-US" sz="2800" b="1" dirty="0"/>
              <a:t>data</a:t>
            </a:r>
            <a:r>
              <a:rPr lang="en-US" sz="2800" dirty="0"/>
              <a:t> </a:t>
            </a:r>
            <a:r>
              <a:rPr lang="en-US" sz="2800" b="1" dirty="0"/>
              <a:t>efficiently</a:t>
            </a:r>
            <a:r>
              <a:rPr lang="en-US" sz="2800" dirty="0"/>
              <a:t>. C provides different types of file processing methods, mainly: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Sequential</a:t>
            </a:r>
            <a:r>
              <a:rPr lang="en-US" sz="2800" dirty="0"/>
              <a:t> File Processing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Random</a:t>
            </a:r>
            <a:r>
              <a:rPr lang="en-US" sz="2800" dirty="0"/>
              <a:t> (Direct) File Processing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Indexed</a:t>
            </a:r>
            <a:r>
              <a:rPr lang="en-US" sz="2800" dirty="0"/>
              <a:t> File Processing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Hashed</a:t>
            </a:r>
            <a:r>
              <a:rPr lang="en-US" sz="2800" dirty="0"/>
              <a:t> File Processing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75785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905C6-BF99-1CA2-41D0-A5A9A8CC8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77FC-5D55-B34D-3A07-0983949DB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664030"/>
            <a:ext cx="10659110" cy="5812970"/>
          </a:xfrm>
        </p:spPr>
        <p:txBody>
          <a:bodyPr>
            <a:normAutofit fontScale="92500"/>
          </a:bodyPr>
          <a:lstStyle/>
          <a:p>
            <a:pPr marL="457200" indent="-457200">
              <a:buAutoNum type="arabicPeriod"/>
            </a:pPr>
            <a:r>
              <a:rPr lang="en-US" sz="3000" b="1" dirty="0"/>
              <a:t>Sequential File Processing:</a:t>
            </a:r>
          </a:p>
          <a:p>
            <a:pPr marL="0" indent="0">
              <a:buNone/>
            </a:pPr>
            <a:r>
              <a:rPr lang="en-US" sz="2600" dirty="0"/>
              <a:t>Sequential access means </a:t>
            </a:r>
            <a:r>
              <a:rPr lang="en-US" sz="2600" b="1" dirty="0">
                <a:solidFill>
                  <a:srgbClr val="C00000"/>
                </a:solidFill>
              </a:rPr>
              <a:t>reading</a:t>
            </a:r>
            <a:r>
              <a:rPr lang="en-US" sz="2600" dirty="0"/>
              <a:t> or </a:t>
            </a:r>
            <a:r>
              <a:rPr lang="en-US" sz="2600" b="1" dirty="0">
                <a:solidFill>
                  <a:srgbClr val="C00000"/>
                </a:solidFill>
              </a:rPr>
              <a:t>writing</a:t>
            </a:r>
            <a:r>
              <a:rPr lang="en-US" sz="2600" dirty="0"/>
              <a:t> </a:t>
            </a:r>
            <a:r>
              <a:rPr lang="en-US" sz="2600" b="1" dirty="0"/>
              <a:t>data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in order</a:t>
            </a:r>
            <a:r>
              <a:rPr lang="en-US" sz="2600" dirty="0"/>
              <a:t>, from the </a:t>
            </a:r>
            <a:r>
              <a:rPr lang="en-US" sz="2600" b="1" dirty="0"/>
              <a:t>beginning</a:t>
            </a:r>
            <a:r>
              <a:rPr lang="en-US" sz="2600" dirty="0"/>
              <a:t> to the </a:t>
            </a:r>
            <a:r>
              <a:rPr lang="en-US" sz="2600" b="1" dirty="0"/>
              <a:t>end</a:t>
            </a:r>
            <a:r>
              <a:rPr lang="en-US" sz="2600" dirty="0"/>
              <a:t> of a file. Data is accessed one record at a time, and you </a:t>
            </a:r>
            <a:r>
              <a:rPr lang="en-US" sz="2600" b="1" dirty="0">
                <a:solidFill>
                  <a:srgbClr val="C00000"/>
                </a:solidFill>
              </a:rPr>
              <a:t>cannot skip directly to a specific position</a:t>
            </a:r>
            <a:r>
              <a:rPr lang="en-US" sz="2600" dirty="0"/>
              <a:t> without reading all previous records.</a:t>
            </a:r>
          </a:p>
          <a:p>
            <a:pPr marL="0" indent="0">
              <a:buNone/>
            </a:pPr>
            <a:r>
              <a:rPr lang="en-US" sz="2600" dirty="0"/>
              <a:t>It is similar to </a:t>
            </a:r>
            <a:r>
              <a:rPr lang="en-US" sz="2600" b="1" dirty="0">
                <a:solidFill>
                  <a:srgbClr val="C00000"/>
                </a:solidFill>
              </a:rPr>
              <a:t>reading a book </a:t>
            </a:r>
            <a:r>
              <a:rPr lang="en-US" sz="2600" b="1" dirty="0"/>
              <a:t>page</a:t>
            </a:r>
            <a:r>
              <a:rPr lang="en-US" sz="2600" dirty="0"/>
              <a:t> </a:t>
            </a:r>
            <a:r>
              <a:rPr lang="en-US" sz="2600" b="1" dirty="0"/>
              <a:t>by</a:t>
            </a:r>
            <a:r>
              <a:rPr lang="en-US" sz="2600" dirty="0"/>
              <a:t> </a:t>
            </a:r>
            <a:r>
              <a:rPr lang="en-US" sz="2600" b="1" dirty="0"/>
              <a:t>page</a:t>
            </a:r>
            <a:r>
              <a:rPr lang="en-US" sz="2600" dirty="0"/>
              <a:t> rather than jumping directly to a particular chapter.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2400" b="1" dirty="0"/>
              <a:t>📌 Characteristics of Sequential Access</a:t>
            </a:r>
          </a:p>
          <a:p>
            <a:pPr marL="0" indent="0">
              <a:buNone/>
            </a:pPr>
            <a:r>
              <a:rPr lang="en-US" sz="2400" b="1" dirty="0"/>
              <a:t>✔ Linear Processing → </a:t>
            </a:r>
            <a:r>
              <a:rPr lang="en-US" sz="2400" dirty="0"/>
              <a:t>Data is processed </a:t>
            </a:r>
            <a:r>
              <a:rPr lang="en-US" sz="2400" b="1" dirty="0">
                <a:solidFill>
                  <a:srgbClr val="C00000"/>
                </a:solidFill>
              </a:rPr>
              <a:t>in the order </a:t>
            </a:r>
            <a:r>
              <a:rPr lang="en-US" sz="2400" b="1" dirty="0"/>
              <a:t>it is stored.</a:t>
            </a:r>
          </a:p>
          <a:p>
            <a:pPr marL="0" indent="0">
              <a:buNone/>
            </a:pPr>
            <a:r>
              <a:rPr lang="en-US" sz="2400" dirty="0"/>
              <a:t>✔ </a:t>
            </a:r>
            <a:r>
              <a:rPr lang="en-US" sz="2400" b="1" dirty="0"/>
              <a:t>No Direct Jumping → </a:t>
            </a:r>
            <a:r>
              <a:rPr lang="en-US" sz="2400" dirty="0"/>
              <a:t>You </a:t>
            </a:r>
            <a:r>
              <a:rPr lang="en-US" sz="2400" b="1" dirty="0">
                <a:solidFill>
                  <a:srgbClr val="C00000"/>
                </a:solidFill>
              </a:rPr>
              <a:t>must read all prior records </a:t>
            </a:r>
            <a:r>
              <a:rPr lang="en-US" sz="2400" dirty="0"/>
              <a:t>to access a specific one.</a:t>
            </a:r>
          </a:p>
          <a:p>
            <a:pPr marL="0" indent="0">
              <a:buNone/>
            </a:pPr>
            <a:r>
              <a:rPr lang="en-US" sz="2400" b="1" dirty="0"/>
              <a:t>✔ Efficient for Logs and Reports → </a:t>
            </a:r>
            <a:r>
              <a:rPr lang="en-US" sz="2400" dirty="0"/>
              <a:t>Best suited for files where records are always processed sequentially.</a:t>
            </a:r>
          </a:p>
          <a:p>
            <a:pPr marL="0" indent="0">
              <a:buNone/>
            </a:pPr>
            <a:r>
              <a:rPr lang="en-US" sz="2400" b="1" dirty="0"/>
              <a:t>✔ Simple to Implement → </a:t>
            </a:r>
            <a:r>
              <a:rPr lang="en-US" sz="2400" dirty="0"/>
              <a:t>Requires basic file operations like </a:t>
            </a:r>
            <a:r>
              <a:rPr lang="en-US" sz="2400" b="1" dirty="0" err="1">
                <a:solidFill>
                  <a:srgbClr val="C00000"/>
                </a:solidFill>
              </a:rPr>
              <a:t>fopen</a:t>
            </a:r>
            <a:r>
              <a:rPr lang="en-US" sz="2400" dirty="0"/>
              <a:t>(), </a:t>
            </a:r>
            <a:r>
              <a:rPr lang="en-US" sz="2400" b="1" dirty="0" err="1">
                <a:solidFill>
                  <a:srgbClr val="C00000"/>
                </a:solidFill>
              </a:rPr>
              <a:t>fgets</a:t>
            </a:r>
            <a:r>
              <a:rPr lang="en-US" sz="2400" dirty="0"/>
              <a:t>(), </a:t>
            </a:r>
            <a:r>
              <a:rPr lang="en-US" sz="2400" b="1" dirty="0" err="1">
                <a:solidFill>
                  <a:srgbClr val="C00000"/>
                </a:solidFill>
              </a:rPr>
              <a:t>fprintf</a:t>
            </a:r>
            <a:r>
              <a:rPr lang="en-US" sz="2400" dirty="0"/>
              <a:t>(), etc.</a:t>
            </a:r>
          </a:p>
          <a:p>
            <a:pPr marL="0" indent="0">
              <a:buNone/>
            </a:pPr>
            <a:r>
              <a:rPr lang="en-US" sz="2400" b="1" dirty="0"/>
              <a:t>✔ Slower for Large Files → </a:t>
            </a:r>
            <a:r>
              <a:rPr lang="en-US" sz="2400" dirty="0"/>
              <a:t>If you need to access a record in the middle, sequential access is </a:t>
            </a:r>
            <a:r>
              <a:rPr lang="en-US" sz="2400" b="1" dirty="0">
                <a:solidFill>
                  <a:srgbClr val="C00000"/>
                </a:solidFill>
              </a:rPr>
              <a:t>inefficient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4566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E945B-27F8-F8E0-CDE8-B5B2A9C48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DD910-A73F-7093-4365-CE23965F6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968829"/>
            <a:ext cx="1065911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1️⃣ Writing Data Sequentially to a File</a:t>
            </a:r>
          </a:p>
          <a:p>
            <a:pPr marL="0" indent="0">
              <a:buNone/>
            </a:pPr>
            <a:r>
              <a:rPr lang="en-US" sz="2800" dirty="0"/>
              <a:t>In sequential writing, data is written one after another in the order they are provided.</a:t>
            </a:r>
          </a:p>
          <a:p>
            <a:pPr marL="0" indent="0">
              <a:buNone/>
            </a:pPr>
            <a:r>
              <a:rPr lang="en-US" sz="2800" b="1" dirty="0"/>
              <a:t>📌 Example – </a:t>
            </a:r>
            <a:r>
              <a:rPr lang="en-US" sz="2800" dirty="0"/>
              <a:t>Writing </a:t>
            </a:r>
            <a:r>
              <a:rPr lang="en-US" sz="2800" b="1" dirty="0">
                <a:solidFill>
                  <a:srgbClr val="C00000"/>
                </a:solidFill>
              </a:rPr>
              <a:t>Names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C00000"/>
                </a:solidFill>
              </a:rPr>
              <a:t>Ages</a:t>
            </a:r>
            <a:r>
              <a:rPr lang="en-US" sz="2800" dirty="0"/>
              <a:t> to a File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🔹 Explanation</a:t>
            </a:r>
          </a:p>
          <a:p>
            <a:r>
              <a:rPr lang="en-US" sz="2800" dirty="0"/>
              <a:t>The file is </a:t>
            </a:r>
            <a:r>
              <a:rPr lang="en-US" sz="2800" b="1" dirty="0">
                <a:solidFill>
                  <a:srgbClr val="C00000"/>
                </a:solidFill>
              </a:rPr>
              <a:t>opened</a:t>
            </a:r>
            <a:r>
              <a:rPr lang="en-US" sz="2800" dirty="0"/>
              <a:t> in write mode (w).</a:t>
            </a:r>
          </a:p>
          <a:p>
            <a:r>
              <a:rPr lang="en-US" sz="2800" b="1" dirty="0" err="1">
                <a:solidFill>
                  <a:srgbClr val="C00000"/>
                </a:solidFill>
              </a:rPr>
              <a:t>fprintf</a:t>
            </a:r>
            <a:r>
              <a:rPr lang="en-US" sz="2800" dirty="0"/>
              <a:t>() writes data line by line.</a:t>
            </a:r>
          </a:p>
          <a:p>
            <a:r>
              <a:rPr lang="en-US" sz="2800" dirty="0"/>
              <a:t>The file is then </a:t>
            </a:r>
            <a:r>
              <a:rPr lang="en-US" sz="2800" b="1" dirty="0">
                <a:solidFill>
                  <a:srgbClr val="C00000"/>
                </a:solidFill>
              </a:rPr>
              <a:t>closed</a:t>
            </a:r>
            <a:r>
              <a:rPr lang="en-US" sz="2800" dirty="0"/>
              <a:t> to ensure data is saved.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24265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32075-80FB-BE9B-4DE6-528073B4B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E42BA-49D4-3995-BFD8-F036A41B5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3075E-4BE2-9D12-60EE-F5D49E470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698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A061B-6B6D-489C-5783-DA5846D8A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526A5-320E-68C7-1E54-B89DD1B8E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26" y="1066799"/>
            <a:ext cx="10659110" cy="48223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2️⃣ Reading Data Sequentially from a File:</a:t>
            </a:r>
          </a:p>
          <a:p>
            <a:pPr marL="0" indent="0">
              <a:buNone/>
            </a:pPr>
            <a:r>
              <a:rPr lang="en-US" sz="2800" dirty="0"/>
              <a:t>When reading, we start from the </a:t>
            </a:r>
            <a:r>
              <a:rPr lang="en-US" sz="2800" b="1" dirty="0">
                <a:solidFill>
                  <a:srgbClr val="C00000"/>
                </a:solidFill>
              </a:rPr>
              <a:t>beginning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C00000"/>
                </a:solidFill>
              </a:rPr>
              <a:t>move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forward</a:t>
            </a:r>
            <a:r>
              <a:rPr lang="en-US" sz="2800" dirty="0"/>
              <a:t> </a:t>
            </a:r>
            <a:r>
              <a:rPr lang="en-US" sz="2800" b="1" dirty="0"/>
              <a:t>line</a:t>
            </a:r>
            <a:r>
              <a:rPr lang="en-US" sz="2800" dirty="0"/>
              <a:t> by </a:t>
            </a:r>
            <a:r>
              <a:rPr lang="en-US" sz="2800" b="1" dirty="0"/>
              <a:t>line.</a:t>
            </a:r>
          </a:p>
          <a:p>
            <a:pPr marL="0" indent="0">
              <a:buNone/>
            </a:pPr>
            <a:r>
              <a:rPr lang="en-US" sz="2800" b="1" dirty="0"/>
              <a:t>📌 Example – Reading Names and Ages from a File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🔹 Explanation</a:t>
            </a:r>
          </a:p>
          <a:p>
            <a:r>
              <a:rPr lang="en-US" sz="2800" dirty="0"/>
              <a:t>The file is </a:t>
            </a:r>
            <a:r>
              <a:rPr lang="en-US" sz="2800" b="1" dirty="0">
                <a:solidFill>
                  <a:srgbClr val="C00000"/>
                </a:solidFill>
              </a:rPr>
              <a:t>opened</a:t>
            </a:r>
            <a:r>
              <a:rPr lang="en-US" sz="2800" dirty="0"/>
              <a:t> in read mode (r).</a:t>
            </a:r>
          </a:p>
          <a:p>
            <a:r>
              <a:rPr lang="en-US" sz="2800" b="1" dirty="0" err="1">
                <a:solidFill>
                  <a:srgbClr val="C00000"/>
                </a:solidFill>
              </a:rPr>
              <a:t>fscanf</a:t>
            </a:r>
            <a:r>
              <a:rPr lang="en-US" sz="2800" dirty="0"/>
              <a:t>(file, "%s %d", name, &amp;age) reads data word by word.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Loop</a:t>
            </a:r>
            <a:r>
              <a:rPr lang="en-US" sz="2800" dirty="0"/>
              <a:t> continues until EOF (End of File) is reached.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05665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B629D-CED0-824F-93A0-7B8FDAF76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B3868-EC81-363F-0C4C-5C21982E0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81E848-7765-CCE8-2A8E-B8D53CB7F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0"/>
            <a:ext cx="10724197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5CBA32-C566-C768-E347-BF8D48185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091" y="0"/>
            <a:ext cx="802531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864660-F674-C4D6-FCE6-695DE70E0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0"/>
            <a:ext cx="17090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60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DD80-0149-3B87-C9D7-66B255444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134A-988C-22EE-CCBF-D6537DEA7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3️⃣ Appending Data Sequentially to a File</a:t>
            </a:r>
          </a:p>
          <a:p>
            <a:pPr marL="0" indent="0">
              <a:buNone/>
            </a:pPr>
            <a:r>
              <a:rPr lang="en-US" sz="2800" dirty="0"/>
              <a:t>Appending means adding data at the </a:t>
            </a:r>
            <a:r>
              <a:rPr lang="en-US" sz="2800" b="1" dirty="0">
                <a:solidFill>
                  <a:srgbClr val="C00000"/>
                </a:solidFill>
              </a:rPr>
              <a:t>end</a:t>
            </a:r>
            <a:r>
              <a:rPr lang="en-US" sz="2800" dirty="0"/>
              <a:t> without overwriting the existing content.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📌 Example – </a:t>
            </a:r>
            <a:r>
              <a:rPr lang="en-US" sz="2800" dirty="0"/>
              <a:t>Adding More Entries to an Existing File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🔹 Explanation</a:t>
            </a:r>
          </a:p>
          <a:p>
            <a:r>
              <a:rPr lang="en-US" sz="2800" dirty="0"/>
              <a:t>The file is </a:t>
            </a:r>
            <a:r>
              <a:rPr lang="en-US" sz="2800" b="1" dirty="0">
                <a:solidFill>
                  <a:srgbClr val="C00000"/>
                </a:solidFill>
              </a:rPr>
              <a:t>opened</a:t>
            </a:r>
            <a:r>
              <a:rPr lang="en-US" sz="2800" dirty="0"/>
              <a:t> in append mode (a).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New entries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do not overwrite existing data.</a:t>
            </a:r>
          </a:p>
          <a:p>
            <a:r>
              <a:rPr lang="en-US" sz="2800" b="1" dirty="0" err="1">
                <a:solidFill>
                  <a:srgbClr val="C00000"/>
                </a:solidFill>
              </a:rPr>
              <a:t>fprintf</a:t>
            </a:r>
            <a:r>
              <a:rPr lang="en-US" sz="2800" dirty="0"/>
              <a:t>() writes at the end of the file.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241287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0076C-52DB-816C-7C70-D1B7488A9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001F2-01D1-72AB-DA1A-932F9B2DC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47ADCC-3273-468A-B52F-85515A9A1B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93"/>
          <a:stretch/>
        </p:blipFill>
        <p:spPr>
          <a:xfrm>
            <a:off x="-1" y="-1"/>
            <a:ext cx="12202705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57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1BFF0-BDE5-D1F1-503A-92DBFA361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163D8-3339-9491-631A-9E6BF841B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56" y="718456"/>
            <a:ext cx="3548744" cy="5595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📌 Example – 2</a:t>
            </a:r>
          </a:p>
          <a:p>
            <a:pPr marL="0" indent="0">
              <a:buNone/>
            </a:pPr>
            <a:r>
              <a:rPr lang="en-US" sz="2400" dirty="0"/>
              <a:t>Writing and Reading Sequentially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🔹 Explanation</a:t>
            </a:r>
          </a:p>
          <a:p>
            <a:r>
              <a:rPr lang="en-US" sz="2400" dirty="0"/>
              <a:t>The file is opened in </a:t>
            </a:r>
            <a:r>
              <a:rPr lang="en-US" sz="2400" b="1" dirty="0">
                <a:solidFill>
                  <a:srgbClr val="C00000"/>
                </a:solidFill>
              </a:rPr>
              <a:t>write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mode</a:t>
            </a:r>
            <a:r>
              <a:rPr lang="en-US" sz="2400" dirty="0"/>
              <a:t> (w), and data is written </a:t>
            </a:r>
            <a:r>
              <a:rPr lang="en-US" sz="2400" b="1" dirty="0">
                <a:solidFill>
                  <a:srgbClr val="C00000"/>
                </a:solidFill>
              </a:rPr>
              <a:t>sequentially</a:t>
            </a:r>
            <a:r>
              <a:rPr lang="en-US" sz="2400" dirty="0"/>
              <a:t>.</a:t>
            </a:r>
          </a:p>
          <a:p>
            <a:r>
              <a:rPr lang="en-US" sz="2400" dirty="0"/>
              <a:t>Then, it is opened in </a:t>
            </a:r>
            <a:r>
              <a:rPr lang="en-US" sz="2400" b="1" dirty="0">
                <a:solidFill>
                  <a:srgbClr val="C00000"/>
                </a:solidFill>
              </a:rPr>
              <a:t>read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mode</a:t>
            </a:r>
            <a:r>
              <a:rPr lang="en-US" sz="2400" dirty="0"/>
              <a:t> (r), and data is read </a:t>
            </a:r>
            <a:r>
              <a:rPr lang="en-US" sz="2400" b="1" dirty="0"/>
              <a:t>line by line </a:t>
            </a:r>
            <a:r>
              <a:rPr lang="en-US" sz="2400" dirty="0"/>
              <a:t>using </a:t>
            </a:r>
            <a:r>
              <a:rPr lang="en-US" sz="2400" dirty="0" err="1"/>
              <a:t>fgets</a:t>
            </a:r>
            <a:r>
              <a:rPr lang="en-US" sz="2400" dirty="0"/>
              <a:t>().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770197-3F77-4E84-D3B0-343EA836C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10"/>
            <a:ext cx="83727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745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C4A2D-E98B-2FA2-57F9-738D08C0B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734E8-976B-9A6B-2B6A-C819B2DB5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70" y="620486"/>
            <a:ext cx="10659110" cy="55625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1" dirty="0"/>
              <a:t>2. Random (Direct) File Processing:</a:t>
            </a:r>
          </a:p>
          <a:p>
            <a:pPr marL="0" indent="0">
              <a:buNone/>
            </a:pPr>
            <a:r>
              <a:rPr lang="en-US" sz="3200" dirty="0"/>
              <a:t>Random access (or </a:t>
            </a:r>
            <a:r>
              <a:rPr lang="en-US" sz="3200" b="1" dirty="0">
                <a:solidFill>
                  <a:srgbClr val="C00000"/>
                </a:solidFill>
              </a:rPr>
              <a:t>direct access</a:t>
            </a:r>
            <a:r>
              <a:rPr lang="en-US" sz="3200" dirty="0"/>
              <a:t>) in file processing allows you to </a:t>
            </a:r>
            <a:r>
              <a:rPr lang="en-US" sz="3200" b="1" dirty="0">
                <a:solidFill>
                  <a:srgbClr val="C00000"/>
                </a:solidFill>
              </a:rPr>
              <a:t>jump</a:t>
            </a:r>
            <a:r>
              <a:rPr lang="en-US" sz="3200" dirty="0"/>
              <a:t> to </a:t>
            </a:r>
            <a:r>
              <a:rPr lang="en-US" sz="3200" b="1" dirty="0"/>
              <a:t>any position </a:t>
            </a:r>
            <a:r>
              <a:rPr lang="en-US" sz="3200" dirty="0"/>
              <a:t>in a file </a:t>
            </a:r>
            <a:r>
              <a:rPr lang="en-US" sz="3200" b="1" dirty="0">
                <a:solidFill>
                  <a:srgbClr val="C00000"/>
                </a:solidFill>
              </a:rPr>
              <a:t>without reading it sequentially</a:t>
            </a:r>
            <a:r>
              <a:rPr lang="en-US" sz="3200" dirty="0"/>
              <a:t>. This makes it </a:t>
            </a:r>
            <a:r>
              <a:rPr lang="en-US" sz="3200" b="1" dirty="0"/>
              <a:t>faster</a:t>
            </a:r>
            <a:r>
              <a:rPr lang="en-US" sz="3200" dirty="0"/>
              <a:t> and </a:t>
            </a:r>
            <a:r>
              <a:rPr lang="en-US" sz="3200" b="1" dirty="0"/>
              <a:t>more</a:t>
            </a:r>
            <a:r>
              <a:rPr lang="en-US" sz="3200" dirty="0"/>
              <a:t> </a:t>
            </a:r>
            <a:r>
              <a:rPr lang="en-US" sz="3200" b="1" dirty="0"/>
              <a:t>efficient</a:t>
            </a:r>
            <a:r>
              <a:rPr lang="en-US" sz="3200" dirty="0"/>
              <a:t> when dealing with large files where you need to read or modify specific data.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3200" b="1" dirty="0"/>
              <a:t>📌 Key Features of Random Access:</a:t>
            </a:r>
          </a:p>
          <a:p>
            <a:pPr marL="0" indent="0">
              <a:buNone/>
            </a:pPr>
            <a:r>
              <a:rPr lang="en-US" sz="3200" b="1" dirty="0"/>
              <a:t>✔ Fast Retrieval → </a:t>
            </a:r>
            <a:r>
              <a:rPr lang="en-US" sz="3200" dirty="0"/>
              <a:t>You can </a:t>
            </a:r>
            <a:r>
              <a:rPr lang="en-US" sz="3200" b="1" dirty="0">
                <a:solidFill>
                  <a:srgbClr val="C00000"/>
                </a:solidFill>
              </a:rPr>
              <a:t>directly access </a:t>
            </a:r>
            <a:r>
              <a:rPr lang="en-US" sz="3200" b="1" dirty="0"/>
              <a:t>any part of </a:t>
            </a:r>
            <a:r>
              <a:rPr lang="en-US" sz="3200" dirty="0"/>
              <a:t>the file.</a:t>
            </a:r>
          </a:p>
          <a:p>
            <a:pPr marL="0" indent="0">
              <a:buNone/>
            </a:pPr>
            <a:r>
              <a:rPr lang="en-US" sz="3200" b="1" dirty="0"/>
              <a:t>✔ Efficient Updates → </a:t>
            </a:r>
            <a:r>
              <a:rPr lang="en-US" sz="3200" dirty="0"/>
              <a:t>Modify only required data without rewriting the entire file.</a:t>
            </a:r>
          </a:p>
          <a:p>
            <a:pPr marL="0" indent="0">
              <a:buNone/>
            </a:pPr>
            <a:r>
              <a:rPr lang="en-US" sz="3200" b="1" dirty="0"/>
              <a:t>✔ Works with Both Text &amp; Binary Files → </a:t>
            </a:r>
            <a:r>
              <a:rPr lang="en-US" sz="3200" dirty="0"/>
              <a:t>Used for databases, indexing, and fast lookups.</a:t>
            </a:r>
          </a:p>
          <a:p>
            <a:pPr marL="0" indent="0">
              <a:buNone/>
            </a:pPr>
            <a:r>
              <a:rPr lang="en-US" sz="3200" dirty="0"/>
              <a:t>✔ </a:t>
            </a:r>
            <a:r>
              <a:rPr lang="en-US" sz="3200" b="1" dirty="0"/>
              <a:t>Uses File Positioning Functions → </a:t>
            </a:r>
            <a:r>
              <a:rPr lang="en-US" sz="3200" b="1" dirty="0" err="1">
                <a:solidFill>
                  <a:srgbClr val="C00000"/>
                </a:solidFill>
              </a:rPr>
              <a:t>fseek</a:t>
            </a:r>
            <a:r>
              <a:rPr lang="en-US" sz="3200" dirty="0"/>
              <a:t>(), </a:t>
            </a:r>
            <a:r>
              <a:rPr lang="en-US" sz="3200" b="1" dirty="0" err="1">
                <a:solidFill>
                  <a:srgbClr val="C00000"/>
                </a:solidFill>
              </a:rPr>
              <a:t>ftell</a:t>
            </a:r>
            <a:r>
              <a:rPr lang="en-US" sz="3200" dirty="0"/>
              <a:t>(), </a:t>
            </a:r>
            <a:r>
              <a:rPr lang="en-US" sz="3200" b="1" dirty="0">
                <a:solidFill>
                  <a:srgbClr val="C00000"/>
                </a:solidFill>
              </a:rPr>
              <a:t>rewind</a:t>
            </a:r>
            <a:r>
              <a:rPr lang="en-US" sz="3200" dirty="0"/>
              <a:t>() are commonly used.</a:t>
            </a:r>
          </a:p>
        </p:txBody>
      </p:sp>
    </p:spTree>
    <p:extLst>
      <p:ext uri="{BB962C8B-B14F-4D97-AF65-F5344CB8AC3E}">
        <p14:creationId xmlns:p14="http://schemas.microsoft.com/office/powerpoint/2010/main" val="2567861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E5912-69C7-4155-0C10-937CF5A3E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E333-F5C6-494E-37F2-FACAD2B79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1️⃣ File Positioning Functions</a:t>
            </a:r>
          </a:p>
          <a:p>
            <a:pPr marL="0" indent="0">
              <a:buNone/>
            </a:pPr>
            <a:r>
              <a:rPr lang="en-US" sz="2800" dirty="0"/>
              <a:t>To enable random access, C provides several functions:</a:t>
            </a:r>
          </a:p>
          <a:p>
            <a:pPr marL="0" indent="0">
              <a:buNone/>
            </a:pPr>
            <a:r>
              <a:rPr lang="en-US" sz="2800" b="1" dirty="0"/>
              <a:t>📌 </a:t>
            </a:r>
            <a:r>
              <a:rPr lang="en-US" sz="2800" b="1" dirty="0" err="1"/>
              <a:t>fseek</a:t>
            </a:r>
            <a:r>
              <a:rPr lang="en-US" sz="2800" b="1" dirty="0"/>
              <a:t>(FILE *</a:t>
            </a:r>
            <a:r>
              <a:rPr lang="en-US" sz="2800" b="1" dirty="0" err="1"/>
              <a:t>fp</a:t>
            </a:r>
            <a:r>
              <a:rPr lang="en-US" sz="2800" b="1" dirty="0"/>
              <a:t>, long offset, int origin);</a:t>
            </a:r>
          </a:p>
          <a:p>
            <a:r>
              <a:rPr lang="en-US" sz="2800" dirty="0"/>
              <a:t>Moves the file pointer to a </a:t>
            </a:r>
            <a:r>
              <a:rPr lang="en-US" sz="2800" b="1" dirty="0">
                <a:solidFill>
                  <a:srgbClr val="C00000"/>
                </a:solidFill>
              </a:rPr>
              <a:t>specified position</a:t>
            </a:r>
            <a:r>
              <a:rPr lang="en-US" sz="2800" dirty="0"/>
              <a:t>.</a:t>
            </a:r>
          </a:p>
          <a:p>
            <a:r>
              <a:rPr lang="en-US" sz="2800" b="1" dirty="0"/>
              <a:t>offset</a:t>
            </a:r>
            <a:r>
              <a:rPr lang="en-US" sz="2800" dirty="0"/>
              <a:t> → Number of </a:t>
            </a:r>
            <a:r>
              <a:rPr lang="en-US" sz="2800" b="1" dirty="0">
                <a:solidFill>
                  <a:srgbClr val="C00000"/>
                </a:solidFill>
              </a:rPr>
              <a:t>bytes</a:t>
            </a:r>
            <a:r>
              <a:rPr lang="en-US" sz="2800" dirty="0"/>
              <a:t> to move.</a:t>
            </a:r>
          </a:p>
          <a:p>
            <a:r>
              <a:rPr lang="en-US" sz="2800" b="1" dirty="0"/>
              <a:t>origin</a:t>
            </a:r>
            <a:r>
              <a:rPr lang="en-US" sz="2800" dirty="0"/>
              <a:t> → Starting point (SEEK_SET, SEEK_CUR, SEEK_END).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51298E-A751-044E-D330-20BF9F8DC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694301"/>
              </p:ext>
            </p:extLst>
          </p:nvPr>
        </p:nvGraphicFramePr>
        <p:xfrm>
          <a:off x="1703816" y="3974153"/>
          <a:ext cx="8561411" cy="22028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0886">
                  <a:extLst>
                    <a:ext uri="{9D8B030D-6E8A-4147-A177-3AD203B41FA5}">
                      <a16:colId xmlns:a16="http://schemas.microsoft.com/office/drawing/2014/main" val="3641172486"/>
                    </a:ext>
                  </a:extLst>
                </a:gridCol>
                <a:gridCol w="1687511">
                  <a:extLst>
                    <a:ext uri="{9D8B030D-6E8A-4147-A177-3AD203B41FA5}">
                      <a16:colId xmlns:a16="http://schemas.microsoft.com/office/drawing/2014/main" val="278615601"/>
                    </a:ext>
                  </a:extLst>
                </a:gridCol>
                <a:gridCol w="4743014">
                  <a:extLst>
                    <a:ext uri="{9D8B030D-6E8A-4147-A177-3AD203B41FA5}">
                      <a16:colId xmlns:a16="http://schemas.microsoft.com/office/drawing/2014/main" val="2068723596"/>
                    </a:ext>
                  </a:extLst>
                </a:gridCol>
              </a:tblGrid>
              <a:tr h="3075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Macro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Value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Meaning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1178632"/>
                  </a:ext>
                </a:extLst>
              </a:tr>
              <a:tr h="6267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SEEK_SET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0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Move relative to the start of the file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6424784"/>
                  </a:ext>
                </a:extLst>
              </a:tr>
              <a:tr h="6267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SEEK_CUR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1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Move relative to the current position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4103050"/>
                  </a:ext>
                </a:extLst>
              </a:tr>
              <a:tr h="5722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SEEK_END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2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Move relative to the end of the file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5411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908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60BC1-A5F6-9EDE-341D-8E2250AB5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143000"/>
            <a:ext cx="10659110" cy="5033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📌 </a:t>
            </a:r>
            <a:r>
              <a:rPr lang="en-US" sz="2800" b="1" dirty="0" err="1"/>
              <a:t>ftell</a:t>
            </a:r>
            <a:r>
              <a:rPr lang="en-US" sz="2800" b="1" dirty="0"/>
              <a:t>(FILE *</a:t>
            </a:r>
            <a:r>
              <a:rPr lang="en-US" sz="2800" b="1" dirty="0" err="1"/>
              <a:t>fp</a:t>
            </a:r>
            <a:r>
              <a:rPr lang="en-US" sz="2800" b="1" dirty="0"/>
              <a:t>);</a:t>
            </a:r>
          </a:p>
          <a:p>
            <a:r>
              <a:rPr lang="en-US" sz="2800" dirty="0"/>
              <a:t>Returns the </a:t>
            </a:r>
            <a:r>
              <a:rPr lang="en-US" sz="2800" b="1" dirty="0">
                <a:solidFill>
                  <a:srgbClr val="C00000"/>
                </a:solidFill>
              </a:rPr>
              <a:t>current position </a:t>
            </a:r>
            <a:r>
              <a:rPr lang="en-US" sz="2800" dirty="0"/>
              <a:t>of the file pointer.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📌 rewind(FILE *</a:t>
            </a:r>
            <a:r>
              <a:rPr lang="en-US" sz="2800" b="1" dirty="0" err="1"/>
              <a:t>fp</a:t>
            </a:r>
            <a:r>
              <a:rPr lang="en-US" sz="2800" b="1" dirty="0"/>
              <a:t>);</a:t>
            </a:r>
          </a:p>
          <a:p>
            <a:r>
              <a:rPr lang="en-US" sz="2800" dirty="0"/>
              <a:t>Moves the file pointer </a:t>
            </a:r>
            <a:r>
              <a:rPr lang="en-US" sz="2800" b="1" dirty="0">
                <a:solidFill>
                  <a:srgbClr val="C00000"/>
                </a:solidFill>
              </a:rPr>
              <a:t>back to the beginning </a:t>
            </a:r>
            <a:r>
              <a:rPr lang="en-US" sz="2800" dirty="0"/>
              <a:t>of the file.</a:t>
            </a:r>
            <a:endParaRPr lang="en-IN" sz="2800" dirty="0"/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600469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5BAB-DCEE-7677-6550-1F2C9D5A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DB9F0-8C83-4225-0CB8-C79237D87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2️⃣ Writing Data Using Random Access</a:t>
            </a:r>
          </a:p>
          <a:p>
            <a:pPr marL="0" indent="0">
              <a:buNone/>
            </a:pPr>
            <a:r>
              <a:rPr lang="en-US" sz="2800" dirty="0"/>
              <a:t>In random access, you can </a:t>
            </a:r>
            <a:r>
              <a:rPr lang="en-US" sz="2800" b="1" dirty="0"/>
              <a:t>overwrite</a:t>
            </a:r>
            <a:r>
              <a:rPr lang="en-US" sz="2800" dirty="0"/>
              <a:t> or </a:t>
            </a:r>
            <a:r>
              <a:rPr lang="en-US" sz="2800" b="1" dirty="0"/>
              <a:t>insert</a:t>
            </a:r>
            <a:r>
              <a:rPr lang="en-US" sz="2800" dirty="0"/>
              <a:t> data at any position.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800" b="1" dirty="0"/>
              <a:t>📌 Example – Writing Student Records at Specific Positions</a:t>
            </a:r>
          </a:p>
          <a:p>
            <a:pPr marL="0" indent="0">
              <a:buNone/>
            </a:pPr>
            <a:endParaRPr lang="en-US" sz="800" b="1" dirty="0"/>
          </a:p>
          <a:p>
            <a:pPr marL="0" indent="0">
              <a:buNone/>
            </a:pPr>
            <a:r>
              <a:rPr lang="en-US" sz="2800" b="1" dirty="0"/>
              <a:t>🔹 Explanation</a:t>
            </a:r>
          </a:p>
          <a:p>
            <a:r>
              <a:rPr lang="en-US" sz="2800" b="1" dirty="0" err="1">
                <a:solidFill>
                  <a:srgbClr val="C00000"/>
                </a:solidFill>
              </a:rPr>
              <a:t>fseek</a:t>
            </a:r>
            <a:r>
              <a:rPr lang="en-US" sz="2800" dirty="0"/>
              <a:t>(file, </a:t>
            </a:r>
            <a:r>
              <a:rPr lang="en-US" sz="2800" dirty="0" err="1"/>
              <a:t>sizeof</a:t>
            </a:r>
            <a:r>
              <a:rPr lang="en-US" sz="2800" dirty="0"/>
              <a:t>(struct Student) * 1, SEEK_SET); moves to the 2nd record position.</a:t>
            </a:r>
          </a:p>
          <a:p>
            <a:r>
              <a:rPr lang="en-US" sz="2800" b="1" dirty="0" err="1">
                <a:solidFill>
                  <a:srgbClr val="C00000"/>
                </a:solidFill>
              </a:rPr>
              <a:t>fwrite</a:t>
            </a:r>
            <a:r>
              <a:rPr lang="en-US" sz="2800" dirty="0"/>
              <a:t>(&amp;s2, </a:t>
            </a:r>
            <a:r>
              <a:rPr lang="en-US" sz="2800" dirty="0" err="1"/>
              <a:t>sizeof</a:t>
            </a:r>
            <a:r>
              <a:rPr lang="en-US" sz="2800" dirty="0"/>
              <a:t>(struct Student), 1, file); writes Bob at 2nd position.</a:t>
            </a:r>
          </a:p>
          <a:p>
            <a:r>
              <a:rPr lang="en-US" sz="2800" b="1" dirty="0" err="1">
                <a:solidFill>
                  <a:srgbClr val="C00000"/>
                </a:solidFill>
              </a:rPr>
              <a:t>fseek</a:t>
            </a:r>
            <a:r>
              <a:rPr lang="en-US" sz="2800" dirty="0"/>
              <a:t>(file, </a:t>
            </a:r>
            <a:r>
              <a:rPr lang="en-US" sz="2800" dirty="0" err="1"/>
              <a:t>sizeof</a:t>
            </a:r>
            <a:r>
              <a:rPr lang="en-US" sz="2800" dirty="0"/>
              <a:t>(struct Student) * 0, SEEK_SET); moves back to 1st record.</a:t>
            </a:r>
          </a:p>
          <a:p>
            <a:r>
              <a:rPr lang="en-US" sz="2800" dirty="0"/>
              <a:t>This ensures random access instead of sequential writing.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922369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EF1E-0D26-B549-B355-098C4E7D5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B8B6E-235F-01D7-004D-3152B5A44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69885D-2A6C-EC27-D58E-A8C589B13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238" y="0"/>
            <a:ext cx="933152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D8CBEA-908E-633F-FC27-A9F13CE19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30238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19F193-81D2-D324-10E1-CDBF2436B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9109" y="0"/>
            <a:ext cx="1532889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2454C5-BEDC-1C48-B6A5-39715A236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838" y="6220507"/>
            <a:ext cx="1523810" cy="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2850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C4311-3C21-D97A-3796-948839211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E3B17-0C65-204A-0CFF-FEAF684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3️⃣ Reading Data Randomly</a:t>
            </a:r>
          </a:p>
          <a:p>
            <a:pPr marL="0" indent="0">
              <a:buNone/>
            </a:pPr>
            <a:r>
              <a:rPr lang="en-US" sz="2800" dirty="0"/>
              <a:t>You can read a specific record by seeking to its position.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📌 Example – </a:t>
            </a:r>
            <a:r>
              <a:rPr lang="en-US" sz="2800" dirty="0"/>
              <a:t>Reading a Specific Student Record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🔹 Explanation</a:t>
            </a:r>
          </a:p>
          <a:p>
            <a:r>
              <a:rPr lang="en-US" sz="2800" b="1" dirty="0" err="1">
                <a:solidFill>
                  <a:srgbClr val="C00000"/>
                </a:solidFill>
              </a:rPr>
              <a:t>fseek</a:t>
            </a:r>
            <a:r>
              <a:rPr lang="en-US" sz="2800" dirty="0"/>
              <a:t>(file, </a:t>
            </a:r>
            <a:r>
              <a:rPr lang="en-US" sz="2800" dirty="0" err="1"/>
              <a:t>sizeof</a:t>
            </a:r>
            <a:r>
              <a:rPr lang="en-US" sz="2800" dirty="0"/>
              <a:t>(struct Student) * 1, SEEK_SET); </a:t>
            </a:r>
            <a:r>
              <a:rPr lang="en-US" sz="2800" b="1" dirty="0"/>
              <a:t>moves to the 2nd record.</a:t>
            </a:r>
          </a:p>
          <a:p>
            <a:r>
              <a:rPr lang="en-US" sz="2800" b="1" dirty="0" err="1">
                <a:solidFill>
                  <a:srgbClr val="C00000"/>
                </a:solidFill>
              </a:rPr>
              <a:t>fread</a:t>
            </a:r>
            <a:r>
              <a:rPr lang="en-US" sz="2800" dirty="0"/>
              <a:t>(&amp;s, </a:t>
            </a:r>
            <a:r>
              <a:rPr lang="en-US" sz="2800" dirty="0" err="1"/>
              <a:t>sizeof</a:t>
            </a:r>
            <a:r>
              <a:rPr lang="en-US" sz="2800" dirty="0"/>
              <a:t>(struct Student), 1, file); </a:t>
            </a:r>
            <a:r>
              <a:rPr lang="en-US" sz="2800" b="1" dirty="0"/>
              <a:t>reads that record</a:t>
            </a:r>
            <a:r>
              <a:rPr lang="en-US" sz="2800" dirty="0"/>
              <a:t>.</a:t>
            </a:r>
          </a:p>
          <a:p>
            <a:r>
              <a:rPr lang="en-US" sz="2800" dirty="0"/>
              <a:t>Allows fast access without reading all previous records.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358001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8B034-320D-6508-381E-B51AB591A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CE391-79B5-14EB-5039-D4B545729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F1E26-9067-32C7-E244-F3997A171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0"/>
            <a:ext cx="11032435" cy="68767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535882-AA31-2C88-5280-42C29AA63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E09E26-EB79-37B9-005F-F171B71A9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760" y="0"/>
            <a:ext cx="7772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3544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859F4-8C82-E78D-19ED-2997AB2F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BF196-6E94-7B4E-9F0F-42D02611B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4️⃣ Updating Data Using Random Access</a:t>
            </a:r>
          </a:p>
          <a:p>
            <a:pPr marL="0" indent="0">
              <a:buNone/>
            </a:pPr>
            <a:r>
              <a:rPr lang="en-US" sz="2800" dirty="0"/>
              <a:t>You can modify a specific record </a:t>
            </a:r>
            <a:r>
              <a:rPr lang="en-US" sz="2800" b="1" dirty="0"/>
              <a:t>without rewriting the entire file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r>
              <a:rPr lang="en-US" sz="2800" b="1" dirty="0"/>
              <a:t>📌 Example – Updating the Age of a Student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US" sz="2800" b="1" dirty="0"/>
              <a:t>🔹 Explanation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Read</a:t>
            </a:r>
            <a:r>
              <a:rPr lang="en-US" sz="2800" dirty="0"/>
              <a:t> the specific record.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Modify</a:t>
            </a:r>
            <a:r>
              <a:rPr lang="en-US" sz="2800" dirty="0"/>
              <a:t> the data (</a:t>
            </a:r>
            <a:r>
              <a:rPr lang="en-US" sz="2800" dirty="0" err="1"/>
              <a:t>s.age</a:t>
            </a:r>
            <a:r>
              <a:rPr lang="en-US" sz="2800" dirty="0"/>
              <a:t> += 1).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Seek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back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C00000"/>
                </a:solidFill>
              </a:rPr>
              <a:t>overwrite</a:t>
            </a:r>
            <a:r>
              <a:rPr lang="en-US" sz="2800" dirty="0"/>
              <a:t> only that record.</a:t>
            </a:r>
          </a:p>
          <a:p>
            <a:r>
              <a:rPr lang="en-US" sz="2800" dirty="0"/>
              <a:t>Saves time compared to rewriting the whole file.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852056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B699D-0301-7C5C-2D75-CAFDE3E0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F9DC1-AFA6-4610-9157-9B0642112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5686" y="718457"/>
            <a:ext cx="3500664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A8C7EF-F9B7-77DD-A603-A7F6F2DF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10"/>
            <a:ext cx="76053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4738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4E8EB-F527-11C2-C14E-04E7983D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A9E802-9124-A2C2-C5E9-085221C55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76"/>
            <a:ext cx="10780952" cy="68190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80E18C-DD5E-F250-7D21-C9E54F6B8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952" y="-19476"/>
            <a:ext cx="141104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FE0B0-44D5-5546-2981-2501A024C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9" y="206828"/>
            <a:ext cx="5595257" cy="2677885"/>
          </a:xfrm>
          <a:ln w="38100">
            <a:solidFill>
              <a:schemeClr val="tx2">
                <a:lumMod val="90000"/>
                <a:lumOff val="10000"/>
              </a:schemeClr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📌 Example – </a:t>
            </a:r>
            <a:r>
              <a:rPr lang="en-US" sz="2400" dirty="0">
                <a:solidFill>
                  <a:schemeClr val="bg1"/>
                </a:solidFill>
              </a:rPr>
              <a:t>Seeking a Specific Position: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Explanation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fseek</a:t>
            </a:r>
            <a:r>
              <a:rPr lang="en-US" sz="2400" dirty="0">
                <a:solidFill>
                  <a:schemeClr val="bg1"/>
                </a:solidFill>
              </a:rPr>
              <a:t>(file, 6, SEEK_SET) moves the file pointer to the 6th byte.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fgetc</a:t>
            </a:r>
            <a:r>
              <a:rPr lang="en-US" sz="2400" dirty="0">
                <a:solidFill>
                  <a:schemeClr val="bg1"/>
                </a:solidFill>
              </a:rPr>
              <a:t>(file) reads a character from that position.</a:t>
            </a:r>
            <a:endParaRPr lang="en-IN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2355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915E8-D048-B356-94CA-C4C23D11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DE53A-94AB-9BFC-3BA9-647CC38D9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435429"/>
            <a:ext cx="10659110" cy="5741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Command Line Arguments in C</a:t>
            </a:r>
          </a:p>
          <a:p>
            <a:pPr marL="0" indent="0">
              <a:buNone/>
            </a:pPr>
            <a:r>
              <a:rPr lang="en-US" sz="2400" dirty="0"/>
              <a:t>Command-line arguments in C allow </a:t>
            </a:r>
            <a:r>
              <a:rPr lang="en-US" sz="2400" b="1" dirty="0"/>
              <a:t>users to </a:t>
            </a:r>
            <a:r>
              <a:rPr lang="en-US" sz="2400" b="1" dirty="0">
                <a:solidFill>
                  <a:srgbClr val="C00000"/>
                </a:solidFill>
              </a:rPr>
              <a:t>pass input </a:t>
            </a:r>
            <a:r>
              <a:rPr lang="en-US" sz="2400" b="1" dirty="0"/>
              <a:t>values to a program when </a:t>
            </a:r>
            <a:r>
              <a:rPr lang="en-US" sz="2400" b="1" dirty="0">
                <a:solidFill>
                  <a:srgbClr val="FF0000"/>
                </a:solidFill>
              </a:rPr>
              <a:t>executing it </a:t>
            </a:r>
            <a:r>
              <a:rPr lang="en-US" sz="2400" dirty="0"/>
              <a:t>from the </a:t>
            </a:r>
            <a:r>
              <a:rPr lang="en-US" sz="2400" b="1" dirty="0"/>
              <a:t>terminal</a:t>
            </a:r>
            <a:r>
              <a:rPr lang="en-US" sz="2400" dirty="0"/>
              <a:t> or </a:t>
            </a:r>
            <a:r>
              <a:rPr lang="en-US" sz="2400" b="1" dirty="0"/>
              <a:t>command</a:t>
            </a:r>
            <a:r>
              <a:rPr lang="en-US" sz="2400" dirty="0"/>
              <a:t> </a:t>
            </a:r>
            <a:r>
              <a:rPr lang="en-US" sz="2400" b="1" dirty="0"/>
              <a:t>prompt</a:t>
            </a:r>
            <a:r>
              <a:rPr lang="en-US" sz="2400" dirty="0"/>
              <a:t>. These arguments are passed to the </a:t>
            </a:r>
            <a:r>
              <a:rPr lang="en-US" sz="2400" b="1" dirty="0">
                <a:solidFill>
                  <a:srgbClr val="C00000"/>
                </a:solidFill>
              </a:rPr>
              <a:t>main</a:t>
            </a:r>
            <a:r>
              <a:rPr lang="en-US" sz="2400" dirty="0"/>
              <a:t>() function </a:t>
            </a:r>
            <a:r>
              <a:rPr lang="en-US" sz="2400" b="1" dirty="0"/>
              <a:t>as</a:t>
            </a:r>
            <a:r>
              <a:rPr lang="en-US" sz="2400" dirty="0"/>
              <a:t> </a:t>
            </a:r>
            <a:r>
              <a:rPr lang="en-US" sz="2400" b="1" dirty="0"/>
              <a:t>parameters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Syntax of Command Line Arguments</a:t>
            </a:r>
          </a:p>
          <a:p>
            <a:pPr marL="0" indent="0">
              <a:buNone/>
            </a:pPr>
            <a:r>
              <a:rPr lang="en-US" sz="2400" dirty="0"/>
              <a:t>In C, the </a:t>
            </a:r>
            <a:r>
              <a:rPr lang="en-US" sz="2400" b="1" dirty="0"/>
              <a:t>main()</a:t>
            </a:r>
            <a:r>
              <a:rPr lang="en-US" sz="2400" dirty="0"/>
              <a:t> function can take </a:t>
            </a:r>
            <a:r>
              <a:rPr lang="en-US" sz="2400" b="1" dirty="0">
                <a:solidFill>
                  <a:srgbClr val="C00000"/>
                </a:solidFill>
              </a:rPr>
              <a:t>two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parameters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argc</a:t>
            </a:r>
            <a:r>
              <a:rPr lang="en-US" sz="2400" b="1" dirty="0"/>
              <a:t> (Argument Count): </a:t>
            </a:r>
            <a:r>
              <a:rPr lang="en-US" sz="2400" dirty="0"/>
              <a:t>It represents the </a:t>
            </a:r>
            <a:r>
              <a:rPr lang="en-US" sz="2400" b="1" dirty="0">
                <a:solidFill>
                  <a:srgbClr val="C00000"/>
                </a:solidFill>
              </a:rPr>
              <a:t>number of command-line arguments passed</a:t>
            </a:r>
            <a:r>
              <a:rPr lang="en-US" sz="2400" dirty="0"/>
              <a:t>, including the program name.</a:t>
            </a:r>
          </a:p>
          <a:p>
            <a:r>
              <a:rPr lang="en-US" sz="2400" b="1" dirty="0" err="1"/>
              <a:t>argv</a:t>
            </a:r>
            <a:r>
              <a:rPr lang="en-US" sz="2400" b="1" dirty="0"/>
              <a:t> (Argument Vector): </a:t>
            </a:r>
            <a:r>
              <a:rPr lang="en-US" sz="2400" dirty="0"/>
              <a:t>It is an </a:t>
            </a:r>
            <a:r>
              <a:rPr lang="en-US" sz="2400" b="1" dirty="0">
                <a:solidFill>
                  <a:srgbClr val="C00000"/>
                </a:solidFill>
              </a:rPr>
              <a:t>array</a:t>
            </a:r>
            <a:r>
              <a:rPr lang="en-US" sz="2400" dirty="0"/>
              <a:t> of character pointers (</a:t>
            </a:r>
            <a:r>
              <a:rPr lang="en-US" sz="2400" b="1" dirty="0"/>
              <a:t>strings</a:t>
            </a:r>
            <a:r>
              <a:rPr lang="en-US" sz="2400" dirty="0"/>
              <a:t>) that hold the arguments.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031A63-BE54-8BD6-92AF-537B36E76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724" y="3306196"/>
            <a:ext cx="7295238" cy="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038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082CE-7FBA-CF59-1C19-9B89099D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6CFF0-5930-BF80-DBD6-3C2C37D9B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446314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 Using Command Line Arguments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CC8240-286A-3187-1E28-2B90F42678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97"/>
          <a:stretch/>
        </p:blipFill>
        <p:spPr>
          <a:xfrm>
            <a:off x="1532714" y="1058981"/>
            <a:ext cx="8800000" cy="535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390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C447A-80E4-4D20-B085-A90F0D3E9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24EC6-1634-162E-7677-4BD524FAA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Syntax for </a:t>
            </a:r>
            <a:r>
              <a:rPr lang="en-US" sz="2400" b="1" dirty="0">
                <a:solidFill>
                  <a:srgbClr val="C00000"/>
                </a:solidFill>
              </a:rPr>
              <a:t>Compiling</a:t>
            </a:r>
            <a:r>
              <a:rPr lang="en-US" sz="2400" b="1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Running</a:t>
            </a:r>
            <a:r>
              <a:rPr lang="en-US" sz="2400" b="1" dirty="0"/>
              <a:t> a C Program with Command Line Arguments</a:t>
            </a:r>
          </a:p>
          <a:p>
            <a:r>
              <a:rPr lang="en-US" sz="2400" b="1" dirty="0"/>
              <a:t>Compilation Syntax (Windows):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Example: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C6365-25BF-69E1-950F-51CF192DB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263" y="2024735"/>
            <a:ext cx="8938682" cy="7014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B9D0C7-728C-1CFF-B839-0687371BC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890" y="4131858"/>
            <a:ext cx="8085714" cy="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3354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E70B2-272C-A777-9458-E8ADA8182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AF2A3-CCAF-A8B0-E0BF-EF6DC5BA6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18457"/>
            <a:ext cx="10659110" cy="5458506"/>
          </a:xfrm>
        </p:spPr>
        <p:txBody>
          <a:bodyPr>
            <a:normAutofit/>
          </a:bodyPr>
          <a:lstStyle/>
          <a:p>
            <a:r>
              <a:rPr lang="en-IN" sz="2400" b="1" dirty="0"/>
              <a:t>Execution Syntax (Windows):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Example: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F0CEFE-A871-251F-FBE1-93BA6E511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52" y="1733818"/>
            <a:ext cx="10659110" cy="6752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41C769-301E-F34B-D2A8-FCEA2064D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463" y="4099719"/>
            <a:ext cx="10659110" cy="75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3531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22165-63FE-5479-BC59-C23CAF6AC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BD678-FFE3-CC4D-73EE-CE69AA1FE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83771"/>
            <a:ext cx="10659110" cy="5393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Output: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</a:rPr>
              <a:t>Note:</a:t>
            </a:r>
          </a:p>
          <a:p>
            <a:pPr marL="0" indent="0">
              <a:buNone/>
            </a:pPr>
            <a:r>
              <a:rPr lang="en-US" sz="2800" dirty="0" err="1"/>
              <a:t>CommandLine</a:t>
            </a:r>
            <a:r>
              <a:rPr lang="en-US" sz="2800" dirty="0"/>
              <a:t> Argument is another way of passing data to the program while it is running using </a:t>
            </a:r>
            <a:r>
              <a:rPr lang="en-US" sz="2800" dirty="0" err="1"/>
              <a:t>Commmandline</a:t>
            </a:r>
            <a:r>
              <a:rPr lang="en-US" sz="2800" dirty="0"/>
              <a:t> rather than using </a:t>
            </a:r>
            <a:r>
              <a:rPr lang="en-US" sz="2800" dirty="0" err="1"/>
              <a:t>scanf</a:t>
            </a:r>
            <a:r>
              <a:rPr lang="en-US" sz="2800" dirty="0"/>
              <a:t>() inside the program.</a:t>
            </a:r>
            <a:endParaRPr lang="en-IN" sz="2800" dirty="0"/>
          </a:p>
          <a:p>
            <a:pPr marL="0" indent="0">
              <a:buNone/>
            </a:pPr>
            <a:endParaRPr lang="en-IN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E8606A-9C8E-94D9-7D45-8D557A3C44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82"/>
          <a:stretch/>
        </p:blipFill>
        <p:spPr>
          <a:xfrm>
            <a:off x="43543" y="1775620"/>
            <a:ext cx="12072257" cy="195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655072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2587</Words>
  <Application>Microsoft Office PowerPoint</Application>
  <PresentationFormat>Widescreen</PresentationFormat>
  <Paragraphs>321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Aptos</vt:lpstr>
      <vt:lpstr>Arial</vt:lpstr>
      <vt:lpstr>Calibri</vt:lpstr>
      <vt:lpstr>Gill Sans Nova</vt:lpstr>
      <vt:lpstr>Wingdings</vt:lpstr>
      <vt:lpstr>ConfettiVTI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NAIK</dc:creator>
  <cp:lastModifiedBy>PRAMOD NAIK</cp:lastModifiedBy>
  <cp:revision>213</cp:revision>
  <dcterms:created xsi:type="dcterms:W3CDTF">2024-11-25T17:19:06Z</dcterms:created>
  <dcterms:modified xsi:type="dcterms:W3CDTF">2025-03-22T12:07:52Z</dcterms:modified>
</cp:coreProperties>
</file>