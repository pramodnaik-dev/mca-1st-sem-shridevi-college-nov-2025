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103"/>
  </p:notesMasterIdLst>
  <p:sldIdLst>
    <p:sldId id="421" r:id="rId2"/>
    <p:sldId id="479" r:id="rId3"/>
    <p:sldId id="597" r:id="rId4"/>
    <p:sldId id="480" r:id="rId5"/>
    <p:sldId id="481" r:id="rId6"/>
    <p:sldId id="482" r:id="rId7"/>
    <p:sldId id="615" r:id="rId8"/>
    <p:sldId id="616" r:id="rId9"/>
    <p:sldId id="594" r:id="rId10"/>
    <p:sldId id="595" r:id="rId11"/>
    <p:sldId id="598" r:id="rId12"/>
    <p:sldId id="596" r:id="rId13"/>
    <p:sldId id="599" r:id="rId14"/>
    <p:sldId id="600" r:id="rId15"/>
    <p:sldId id="601" r:id="rId16"/>
    <p:sldId id="602" r:id="rId17"/>
    <p:sldId id="603" r:id="rId18"/>
    <p:sldId id="604" r:id="rId19"/>
    <p:sldId id="605" r:id="rId20"/>
    <p:sldId id="606" r:id="rId21"/>
    <p:sldId id="607" r:id="rId22"/>
    <p:sldId id="608" r:id="rId23"/>
    <p:sldId id="609" r:id="rId24"/>
    <p:sldId id="610" r:id="rId25"/>
    <p:sldId id="611" r:id="rId26"/>
    <p:sldId id="612" r:id="rId27"/>
    <p:sldId id="613" r:id="rId28"/>
    <p:sldId id="617" r:id="rId29"/>
    <p:sldId id="618" r:id="rId30"/>
    <p:sldId id="619" r:id="rId31"/>
    <p:sldId id="620" r:id="rId32"/>
    <p:sldId id="622" r:id="rId33"/>
    <p:sldId id="621" r:id="rId34"/>
    <p:sldId id="623" r:id="rId35"/>
    <p:sldId id="624" r:id="rId36"/>
    <p:sldId id="626" r:id="rId37"/>
    <p:sldId id="625" r:id="rId38"/>
    <p:sldId id="627" r:id="rId39"/>
    <p:sldId id="628" r:id="rId40"/>
    <p:sldId id="629" r:id="rId41"/>
    <p:sldId id="630" r:id="rId42"/>
    <p:sldId id="631" r:id="rId43"/>
    <p:sldId id="632" r:id="rId44"/>
    <p:sldId id="633" r:id="rId45"/>
    <p:sldId id="634" r:id="rId46"/>
    <p:sldId id="635" r:id="rId47"/>
    <p:sldId id="636" r:id="rId48"/>
    <p:sldId id="637" r:id="rId49"/>
    <p:sldId id="638" r:id="rId50"/>
    <p:sldId id="639" r:id="rId51"/>
    <p:sldId id="483" r:id="rId52"/>
    <p:sldId id="484" r:id="rId53"/>
    <p:sldId id="640" r:id="rId54"/>
    <p:sldId id="641" r:id="rId55"/>
    <p:sldId id="642" r:id="rId56"/>
    <p:sldId id="656" r:id="rId57"/>
    <p:sldId id="657" r:id="rId58"/>
    <p:sldId id="658" r:id="rId59"/>
    <p:sldId id="659" r:id="rId60"/>
    <p:sldId id="697" r:id="rId61"/>
    <p:sldId id="698" r:id="rId62"/>
    <p:sldId id="699" r:id="rId63"/>
    <p:sldId id="660" r:id="rId64"/>
    <p:sldId id="661" r:id="rId65"/>
    <p:sldId id="662" r:id="rId66"/>
    <p:sldId id="663" r:id="rId67"/>
    <p:sldId id="664" r:id="rId68"/>
    <p:sldId id="665" r:id="rId69"/>
    <p:sldId id="666" r:id="rId70"/>
    <p:sldId id="667" r:id="rId71"/>
    <p:sldId id="668" r:id="rId72"/>
    <p:sldId id="669" r:id="rId73"/>
    <p:sldId id="670" r:id="rId74"/>
    <p:sldId id="671" r:id="rId75"/>
    <p:sldId id="672" r:id="rId76"/>
    <p:sldId id="673" r:id="rId77"/>
    <p:sldId id="674" r:id="rId78"/>
    <p:sldId id="675" r:id="rId79"/>
    <p:sldId id="676" r:id="rId80"/>
    <p:sldId id="677" r:id="rId81"/>
    <p:sldId id="678" r:id="rId82"/>
    <p:sldId id="679" r:id="rId83"/>
    <p:sldId id="680" r:id="rId84"/>
    <p:sldId id="681" r:id="rId85"/>
    <p:sldId id="682" r:id="rId86"/>
    <p:sldId id="683" r:id="rId87"/>
    <p:sldId id="684" r:id="rId88"/>
    <p:sldId id="685" r:id="rId89"/>
    <p:sldId id="686" r:id="rId90"/>
    <p:sldId id="687" r:id="rId91"/>
    <p:sldId id="688" r:id="rId92"/>
    <p:sldId id="689" r:id="rId93"/>
    <p:sldId id="690" r:id="rId94"/>
    <p:sldId id="691" r:id="rId95"/>
    <p:sldId id="692" r:id="rId96"/>
    <p:sldId id="693" r:id="rId97"/>
    <p:sldId id="694" r:id="rId98"/>
    <p:sldId id="695" r:id="rId99"/>
    <p:sldId id="696" r:id="rId100"/>
    <p:sldId id="614" r:id="rId101"/>
    <p:sldId id="643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2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8A8E6-D4B7-4286-B37C-5D755B8E2CF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260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2/9/2026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86F5F-E3B6-C2E0-511F-712CC24C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8D5FB-2FB5-E6BC-C140-7910375D1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049" y="1366719"/>
            <a:ext cx="10795465" cy="3194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Module-4: STRUCTURES AND UNION </a:t>
            </a:r>
            <a:r>
              <a:rPr lang="en-IN" sz="32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200" b="1" dirty="0"/>
              <a:t>Structure: </a:t>
            </a:r>
            <a:r>
              <a:rPr lang="en-US" sz="3200" dirty="0"/>
              <a:t>Nested structures, Pointer and Structures, Array of structures, Self referential structures </a:t>
            </a:r>
          </a:p>
          <a:p>
            <a:pPr marL="0" indent="0">
              <a:buNone/>
            </a:pPr>
            <a:r>
              <a:rPr lang="en-US" sz="3200" b="1" dirty="0"/>
              <a:t>Dynamic memory allocation:</a:t>
            </a:r>
            <a:r>
              <a:rPr lang="en-US" sz="3200" dirty="0"/>
              <a:t> Singly linked list, typedef </a:t>
            </a:r>
          </a:p>
          <a:p>
            <a:pPr marL="0" indent="0">
              <a:buNone/>
            </a:pPr>
            <a:r>
              <a:rPr lang="en-US" sz="3200" b="1" dirty="0"/>
              <a:t>Union: </a:t>
            </a:r>
            <a:r>
              <a:rPr lang="en-US" sz="3200" dirty="0"/>
              <a:t>Storage classes and Visibility.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1134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60269"/>
            <a:ext cx="10659110" cy="3740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User Defined Data Types:</a:t>
            </a:r>
          </a:p>
          <a:p>
            <a:pPr marL="0" indent="0">
              <a:buNone/>
            </a:pPr>
            <a:r>
              <a:rPr lang="en-US" sz="2400" dirty="0"/>
              <a:t>The data types defined by the user themself are referred to as user-defined data types. These data types are derived from the existing datatypes.</a:t>
            </a:r>
          </a:p>
          <a:p>
            <a:pPr marL="0" indent="0">
              <a:buNone/>
            </a:pPr>
            <a:r>
              <a:rPr lang="en-US" sz="2400" b="1" dirty="0"/>
              <a:t>There are 4 types of user-defined data types in C. They are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Structure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Union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Enum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Typedef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450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Diff between Array and Structure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09703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92183"/>
            <a:ext cx="10659110" cy="558478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1. Structure:</a:t>
            </a:r>
            <a:endParaRPr lang="en-US" sz="2800" dirty="0"/>
          </a:p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b="1" dirty="0"/>
              <a:t>structure</a:t>
            </a:r>
            <a:r>
              <a:rPr lang="en-US" sz="2400" dirty="0"/>
              <a:t> in C is a </a:t>
            </a:r>
            <a:r>
              <a:rPr lang="en-US" sz="2400" b="1" dirty="0"/>
              <a:t>user-defined data type </a:t>
            </a:r>
            <a:r>
              <a:rPr lang="en-US" sz="2400" dirty="0"/>
              <a:t>that allows you to group </a:t>
            </a:r>
            <a:r>
              <a:rPr lang="en-US" sz="2400" b="1" dirty="0">
                <a:solidFill>
                  <a:srgbClr val="C00000"/>
                </a:solidFill>
              </a:rPr>
              <a:t>different types of variables under a single name</a:t>
            </a:r>
            <a:r>
              <a:rPr lang="en-US" sz="2400" dirty="0"/>
              <a:t>. Structures are particularly useful for organizing related data together, such as information about an entity like a </a:t>
            </a:r>
            <a:r>
              <a:rPr lang="en-US" sz="2400" b="1" dirty="0"/>
              <a:t>student</a:t>
            </a:r>
            <a:r>
              <a:rPr lang="en-US" sz="2400" dirty="0"/>
              <a:t>, </a:t>
            </a:r>
            <a:r>
              <a:rPr lang="en-US" sz="2400" b="1" dirty="0"/>
              <a:t>employee</a:t>
            </a:r>
            <a:r>
              <a:rPr lang="en-US" sz="2400" dirty="0"/>
              <a:t>, or </a:t>
            </a:r>
            <a:r>
              <a:rPr lang="en-US" sz="2400" b="1" dirty="0"/>
              <a:t>product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As we know, C doesn't have built-in </a:t>
            </a:r>
            <a:r>
              <a:rPr lang="en-US" sz="2400" b="1" dirty="0">
                <a:solidFill>
                  <a:srgbClr val="C00000"/>
                </a:solidFill>
              </a:rPr>
              <a:t>object-oriented</a:t>
            </a:r>
            <a:r>
              <a:rPr lang="en-US" sz="2400" dirty="0"/>
              <a:t> features like C++ but structures can be used to achieve encapsulation to some level.</a:t>
            </a:r>
          </a:p>
          <a:p>
            <a:pPr marL="0" indent="0">
              <a:buNone/>
            </a:pPr>
            <a:endParaRPr lang="en-US" sz="800" b="1" dirty="0"/>
          </a:p>
          <a:p>
            <a:pPr marL="0" indent="0">
              <a:buNone/>
            </a:pPr>
            <a:r>
              <a:rPr lang="en-US" sz="2400" b="1" dirty="0"/>
              <a:t>Why Use Structures?</a:t>
            </a:r>
          </a:p>
          <a:p>
            <a:r>
              <a:rPr lang="en-US" sz="2400" dirty="0"/>
              <a:t>To </a:t>
            </a:r>
            <a:r>
              <a:rPr lang="en-US" sz="2400" b="1" dirty="0"/>
              <a:t>group</a:t>
            </a:r>
            <a:r>
              <a:rPr lang="en-US" sz="2400" dirty="0"/>
              <a:t> </a:t>
            </a:r>
            <a:r>
              <a:rPr lang="en-US" sz="2400" b="1" dirty="0"/>
              <a:t>variables</a:t>
            </a:r>
            <a:r>
              <a:rPr lang="en-US" sz="2400" dirty="0"/>
              <a:t> of </a:t>
            </a:r>
            <a:r>
              <a:rPr lang="en-US" sz="2400" b="1" dirty="0"/>
              <a:t>different types </a:t>
            </a:r>
            <a:r>
              <a:rPr lang="en-US" sz="2400" dirty="0"/>
              <a:t>as array can hold only Homogenous data.</a:t>
            </a:r>
          </a:p>
          <a:p>
            <a:r>
              <a:rPr lang="en-US" sz="2400" dirty="0"/>
              <a:t>To create a </a:t>
            </a:r>
            <a:r>
              <a:rPr lang="en-US" sz="2400" b="1" dirty="0">
                <a:solidFill>
                  <a:srgbClr val="C00000"/>
                </a:solidFill>
              </a:rPr>
              <a:t>complex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data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type</a:t>
            </a:r>
            <a:r>
              <a:rPr lang="en-US" sz="2400" dirty="0"/>
              <a:t> that is easy to manage and use.</a:t>
            </a:r>
          </a:p>
          <a:p>
            <a:r>
              <a:rPr lang="en-US" sz="2400" dirty="0"/>
              <a:t>To model </a:t>
            </a:r>
            <a:r>
              <a:rPr lang="en-US" sz="2400" b="1" dirty="0"/>
              <a:t>real-world entities </a:t>
            </a:r>
            <a:r>
              <a:rPr lang="en-US" sz="2400" dirty="0"/>
              <a:t>in a program.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06097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612" y="483326"/>
            <a:ext cx="10659110" cy="5584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Defining a Structure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struct</a:t>
            </a:r>
            <a:r>
              <a:rPr lang="en-US" sz="2400" dirty="0"/>
              <a:t> keyword is used to define a structure.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000" b="1" dirty="0"/>
              <a:t>Example:</a:t>
            </a: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E1DC7-ED5A-1492-5EFD-620D675CF8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72"/>
          <a:stretch/>
        </p:blipFill>
        <p:spPr>
          <a:xfrm>
            <a:off x="1810657" y="1557607"/>
            <a:ext cx="3643086" cy="20310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DE03E0-2075-A8CF-B443-985988B2E21E}"/>
              </a:ext>
            </a:extLst>
          </p:cNvPr>
          <p:cNvSpPr txBox="1"/>
          <p:nvPr/>
        </p:nvSpPr>
        <p:spPr>
          <a:xfrm>
            <a:off x="5812972" y="2020161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/>
              <a:t>structure_name</a:t>
            </a:r>
            <a:r>
              <a:rPr lang="en-US" sz="2200" b="1" dirty="0"/>
              <a:t>: </a:t>
            </a:r>
            <a:r>
              <a:rPr lang="en-US" sz="2200" dirty="0"/>
              <a:t>Name of the 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member1, member2, ...: </a:t>
            </a:r>
            <a:r>
              <a:rPr lang="en-US" sz="2200" dirty="0"/>
              <a:t>Variables (members) of the structure.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9D349-29AC-267D-600D-11955B184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657" y="4101402"/>
            <a:ext cx="3643086" cy="239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071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12" y="994954"/>
            <a:ext cx="10659110" cy="5584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Using Structures:</a:t>
            </a:r>
          </a:p>
          <a:p>
            <a:pPr>
              <a:buFont typeface="+mj-lt"/>
              <a:buAutoNum type="arabicPeriod"/>
            </a:pPr>
            <a:r>
              <a:rPr lang="en-US" sz="2800" b="1" dirty="0"/>
              <a:t>Declaring a Structure Variable</a:t>
            </a:r>
            <a:r>
              <a:rPr lang="en-US" sz="2800" dirty="0"/>
              <a:t>: Once a structure is defined, you can declare variables of that type:</a:t>
            </a:r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D88CE4-8D77-626F-C9FE-496CC6A8B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572" y="2770434"/>
            <a:ext cx="6648040" cy="109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3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40044-0F61-5483-EC0B-F10ED6394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33400"/>
            <a:ext cx="10659110" cy="564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Initializing a Structure Variable: (</a:t>
            </a:r>
            <a:r>
              <a:rPr lang="en-US" sz="2400" b="1" dirty="0">
                <a:solidFill>
                  <a:srgbClr val="C00000"/>
                </a:solidFill>
              </a:rPr>
              <a:t>Same way as we initialize Array</a:t>
            </a:r>
            <a:r>
              <a:rPr lang="en-US" sz="2400" b="1" dirty="0"/>
              <a:t>)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OR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1F0846-D29C-AB78-DFE1-D5D6A1691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731" y="3916569"/>
            <a:ext cx="9030537" cy="18766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3604B1-5DDD-961D-8287-74C59CFAB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95" y="1221260"/>
            <a:ext cx="10344599" cy="172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6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2C5BF-165A-AE54-D885-938C50EC3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729343"/>
            <a:ext cx="10659110" cy="5447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3. Accessing Members: </a:t>
            </a:r>
            <a:r>
              <a:rPr lang="en-US" sz="2800" dirty="0"/>
              <a:t>Use the </a:t>
            </a:r>
            <a:r>
              <a:rPr lang="en-US" sz="2800" b="1" dirty="0">
                <a:solidFill>
                  <a:srgbClr val="C00000"/>
                </a:solidFill>
              </a:rPr>
              <a:t>dot</a:t>
            </a:r>
            <a:r>
              <a:rPr lang="en-US" sz="2800" dirty="0"/>
              <a:t> operator (.) to access structure members.</a:t>
            </a:r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1B1F4-1E46-CBB3-EA36-020F130D6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66" y="1889580"/>
            <a:ext cx="10466667" cy="3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7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Nested Structures in C:</a:t>
            </a:r>
          </a:p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nested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structure</a:t>
            </a:r>
            <a:r>
              <a:rPr lang="en-US" sz="2400" dirty="0"/>
              <a:t> in C is a structure that </a:t>
            </a:r>
            <a:r>
              <a:rPr lang="en-US" sz="2400" b="1" dirty="0">
                <a:solidFill>
                  <a:srgbClr val="C00000"/>
                </a:solidFill>
              </a:rPr>
              <a:t>contains another structure as its member</a:t>
            </a:r>
            <a:r>
              <a:rPr lang="en-US" sz="2400" dirty="0"/>
              <a:t>. It helps in creating complex data types by </a:t>
            </a:r>
            <a:r>
              <a:rPr lang="en-US" sz="2400" b="1" dirty="0"/>
              <a:t>grouping related structures together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6AF8AA-DEC1-2421-516B-DF5EDEF28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45" y="2123306"/>
            <a:ext cx="10114027" cy="422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839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5" y="1752599"/>
            <a:ext cx="3370089" cy="2340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 </a:t>
            </a:r>
          </a:p>
          <a:p>
            <a:pPr marL="0" indent="0">
              <a:buNone/>
            </a:pPr>
            <a:r>
              <a:rPr lang="en-US" sz="2400" b="1" dirty="0"/>
              <a:t>Storing </a:t>
            </a:r>
            <a:r>
              <a:rPr lang="en-US" sz="2400" b="1" dirty="0">
                <a:solidFill>
                  <a:srgbClr val="C00000"/>
                </a:solidFill>
              </a:rPr>
              <a:t>Employee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Details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en-US" sz="2400" b="1" dirty="0"/>
              <a:t>with </a:t>
            </a:r>
            <a:r>
              <a:rPr lang="en-US" sz="2400" b="1" dirty="0">
                <a:solidFill>
                  <a:srgbClr val="C00000"/>
                </a:solidFill>
              </a:rPr>
              <a:t>Address</a:t>
            </a:r>
            <a:endParaRPr lang="en-IN" sz="24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3EFE41-E0EE-C8F1-9D6F-EC7819F82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8" b="3651"/>
          <a:stretch/>
        </p:blipFill>
        <p:spPr>
          <a:xfrm>
            <a:off x="3690129" y="351561"/>
            <a:ext cx="8262385" cy="615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02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Initializing the Nested Structure:</a:t>
            </a:r>
          </a:p>
          <a:p>
            <a:pPr marL="0" indent="0">
              <a:buNone/>
            </a:pP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A44CE-BA39-4225-DD60-3C1A37E50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69" y="1848518"/>
            <a:ext cx="11102492" cy="74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18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2029" y="576944"/>
            <a:ext cx="5539228" cy="4484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Explanation:</a:t>
            </a:r>
          </a:p>
          <a:p>
            <a:r>
              <a:rPr lang="en-IN" sz="2400" b="1" dirty="0"/>
              <a:t>Define </a:t>
            </a:r>
            <a:r>
              <a:rPr lang="en-IN" sz="2400" b="1" dirty="0">
                <a:solidFill>
                  <a:srgbClr val="C00000"/>
                </a:solidFill>
              </a:rPr>
              <a:t>Inner</a:t>
            </a:r>
            <a:r>
              <a:rPr lang="en-IN" sz="2400" b="1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Structure</a:t>
            </a:r>
            <a:r>
              <a:rPr lang="en-IN" sz="2400" b="1" dirty="0"/>
              <a:t> → </a:t>
            </a:r>
            <a:r>
              <a:rPr lang="en-IN" sz="2400" dirty="0"/>
              <a:t>struct Address contains city, state, and </a:t>
            </a:r>
            <a:r>
              <a:rPr lang="en-IN" sz="2400" dirty="0" err="1"/>
              <a:t>zipCode</a:t>
            </a:r>
            <a:r>
              <a:rPr lang="en-IN" sz="2400" dirty="0"/>
              <a:t>.</a:t>
            </a:r>
          </a:p>
          <a:p>
            <a:r>
              <a:rPr lang="en-IN" sz="2400" b="1" dirty="0"/>
              <a:t>Define </a:t>
            </a:r>
            <a:r>
              <a:rPr lang="en-IN" sz="2400" b="1" dirty="0">
                <a:solidFill>
                  <a:srgbClr val="C00000"/>
                </a:solidFill>
              </a:rPr>
              <a:t>Outer Structure </a:t>
            </a:r>
            <a:r>
              <a:rPr lang="en-IN" sz="2400" b="1" dirty="0"/>
              <a:t>→ </a:t>
            </a:r>
            <a:r>
              <a:rPr lang="en-IN" sz="2400" dirty="0"/>
              <a:t>struct Employee contains name, id, and struct Address </a:t>
            </a:r>
            <a:r>
              <a:rPr lang="en-IN" sz="2400" dirty="0" err="1"/>
              <a:t>address</a:t>
            </a:r>
            <a:r>
              <a:rPr lang="en-IN" sz="2400" dirty="0"/>
              <a:t> (nested structure).</a:t>
            </a:r>
          </a:p>
          <a:p>
            <a:r>
              <a:rPr lang="en-IN" sz="2400" b="1" dirty="0"/>
              <a:t>Assign Values → </a:t>
            </a:r>
            <a:r>
              <a:rPr lang="en-IN" sz="2400" dirty="0"/>
              <a:t>Use </a:t>
            </a:r>
            <a:r>
              <a:rPr lang="en-IN" sz="2400" dirty="0" err="1"/>
              <a:t>strcpy</a:t>
            </a:r>
            <a:r>
              <a:rPr lang="en-IN" sz="2400" dirty="0"/>
              <a:t>() for strings and direct assignment for integers.</a:t>
            </a:r>
          </a:p>
          <a:p>
            <a:r>
              <a:rPr lang="en-IN" sz="2400" b="1" dirty="0"/>
              <a:t>Access Nested Members → </a:t>
            </a:r>
            <a:r>
              <a:rPr lang="en-IN" sz="2400" dirty="0"/>
              <a:t>Use </a:t>
            </a:r>
            <a:r>
              <a:rPr lang="en-IN" sz="2400" dirty="0" err="1"/>
              <a:t>emp.address.city</a:t>
            </a:r>
            <a:r>
              <a:rPr lang="en-IN" sz="2400" dirty="0"/>
              <a:t>, </a:t>
            </a:r>
            <a:r>
              <a:rPr lang="en-IN" sz="2400" dirty="0" err="1"/>
              <a:t>emp.address.state</a:t>
            </a:r>
            <a:r>
              <a:rPr lang="en-IN" sz="2400" dirty="0"/>
              <a:t>,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064D6-7F4D-5042-1748-FC9CB3965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52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97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Pointer and Structures:</a:t>
            </a:r>
          </a:p>
          <a:p>
            <a:pPr marL="0" indent="0">
              <a:buNone/>
            </a:pPr>
            <a:r>
              <a:rPr lang="en-US" sz="2400" dirty="0"/>
              <a:t>In C, </a:t>
            </a:r>
            <a:r>
              <a:rPr lang="en-US" sz="2400" b="1" dirty="0"/>
              <a:t>pointers</a:t>
            </a:r>
            <a:r>
              <a:rPr lang="en-US" sz="2400" dirty="0"/>
              <a:t> and </a:t>
            </a:r>
            <a:r>
              <a:rPr lang="en-US" sz="2400" b="1" dirty="0"/>
              <a:t>structures</a:t>
            </a:r>
            <a:r>
              <a:rPr lang="en-US" sz="2400" dirty="0"/>
              <a:t> can be </a:t>
            </a:r>
            <a:r>
              <a:rPr lang="en-US" sz="2400" b="1" dirty="0">
                <a:solidFill>
                  <a:srgbClr val="C00000"/>
                </a:solidFill>
              </a:rPr>
              <a:t>used together </a:t>
            </a:r>
            <a:r>
              <a:rPr lang="en-US" sz="2400" dirty="0"/>
              <a:t>to efficiently manage </a:t>
            </a:r>
            <a:r>
              <a:rPr lang="en-US" sz="2400" b="1" dirty="0"/>
              <a:t>complex data structures</a:t>
            </a:r>
            <a:r>
              <a:rPr lang="en-US" sz="2400" dirty="0"/>
              <a:t>. A pointer to a structure allows </a:t>
            </a:r>
            <a:r>
              <a:rPr lang="en-US" sz="2400" b="1" dirty="0"/>
              <a:t>dynamic memory allocation</a:t>
            </a:r>
            <a:r>
              <a:rPr lang="en-US" sz="2400" dirty="0"/>
              <a:t>, easier function parameter passing, and efficient data manipulation.</a:t>
            </a:r>
          </a:p>
          <a:p>
            <a:pPr marL="0" indent="0">
              <a:buNone/>
            </a:pPr>
            <a:r>
              <a:rPr lang="en-US" sz="2400" b="1" dirty="0"/>
              <a:t>1. Declaring a Structure</a:t>
            </a:r>
          </a:p>
          <a:p>
            <a:pPr marL="0" indent="0">
              <a:buNone/>
            </a:pPr>
            <a:r>
              <a:rPr lang="en-US" sz="2400" dirty="0"/>
              <a:t>A structure in C is a user-defined data type that groups related variables of different data types.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B8095-6DCD-50F4-A943-928313D2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657" y="3584237"/>
            <a:ext cx="3100577" cy="250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67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Declaring a Pointer to a Structure:</a:t>
            </a:r>
          </a:p>
          <a:p>
            <a:pPr marL="0" indent="0">
              <a:buNone/>
            </a:pPr>
            <a:r>
              <a:rPr lang="en-US" sz="2400" dirty="0"/>
              <a:t>A pointer to a structure </a:t>
            </a:r>
            <a:r>
              <a:rPr lang="en-US" sz="2400" b="1" dirty="0">
                <a:solidFill>
                  <a:srgbClr val="C00000"/>
                </a:solidFill>
              </a:rPr>
              <a:t>stores the address </a:t>
            </a:r>
            <a:r>
              <a:rPr lang="en-US" sz="2400" b="1" dirty="0"/>
              <a:t>of a structure variable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323614-F3A8-4B3C-751A-0E548254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037" y="2175866"/>
            <a:ext cx="8990887" cy="200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4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Accessing Structure Members Using a Pointer:</a:t>
            </a:r>
          </a:p>
          <a:p>
            <a:pPr marL="0" indent="0">
              <a:buNone/>
            </a:pPr>
            <a:r>
              <a:rPr lang="en-US" sz="2400" dirty="0"/>
              <a:t>To access structure members using a pointer, we use the </a:t>
            </a:r>
            <a:r>
              <a:rPr lang="en-US" sz="3200" b="1" dirty="0">
                <a:solidFill>
                  <a:srgbClr val="C00000"/>
                </a:solidFill>
              </a:rPr>
              <a:t>-&gt;</a:t>
            </a:r>
            <a:r>
              <a:rPr lang="en-US" sz="2400" b="1" dirty="0"/>
              <a:t> (arrow) operator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32B83-ED81-3B02-23D9-98A117740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52" y="2087514"/>
            <a:ext cx="8092268" cy="345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85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Array of structures:</a:t>
            </a:r>
          </a:p>
          <a:p>
            <a:pPr marL="0" indent="0">
              <a:buNone/>
            </a:pPr>
            <a:r>
              <a:rPr lang="en-US" sz="2400" dirty="0"/>
              <a:t>An array of structures is a </a:t>
            </a:r>
            <a:r>
              <a:rPr lang="en-US" sz="2400" b="1" dirty="0">
                <a:solidFill>
                  <a:srgbClr val="C00000"/>
                </a:solidFill>
              </a:rPr>
              <a:t>collection of multiple structure variables </a:t>
            </a:r>
            <a:r>
              <a:rPr lang="en-US" sz="2400" dirty="0"/>
              <a:t>of the </a:t>
            </a:r>
            <a:r>
              <a:rPr lang="en-US" sz="2400" b="1" dirty="0">
                <a:solidFill>
                  <a:srgbClr val="C00000"/>
                </a:solidFill>
              </a:rPr>
              <a:t>same type</a:t>
            </a:r>
            <a:r>
              <a:rPr lang="en-US" sz="2400" dirty="0"/>
              <a:t> stored in </a:t>
            </a:r>
            <a:r>
              <a:rPr lang="en-US" sz="2400" b="1" dirty="0"/>
              <a:t>contiguous memory locations</a:t>
            </a:r>
            <a:r>
              <a:rPr lang="en-US" sz="2400" dirty="0"/>
              <a:t>. It helps in organizing related data efficiently.</a:t>
            </a:r>
          </a:p>
          <a:p>
            <a:pPr marL="0" indent="0">
              <a:buNone/>
            </a:pPr>
            <a:r>
              <a:rPr lang="en-US" sz="2400" b="1" dirty="0"/>
              <a:t>1. Declaring an Array of Structures: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A6FFA-A8F2-4670-2846-CA0F7344E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466" y="3050171"/>
            <a:ext cx="3442977" cy="255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43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To create an array of structures: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Here, </a:t>
            </a:r>
            <a:r>
              <a:rPr lang="en-US" sz="2400" b="1" dirty="0">
                <a:solidFill>
                  <a:srgbClr val="C00000"/>
                </a:solidFill>
              </a:rPr>
              <a:t>students</a:t>
            </a:r>
            <a:r>
              <a:rPr lang="en-US" sz="2400" dirty="0"/>
              <a:t> is an array of </a:t>
            </a:r>
            <a:r>
              <a:rPr lang="en-US" sz="2400" b="1" dirty="0"/>
              <a:t>3 </a:t>
            </a:r>
            <a:r>
              <a:rPr lang="en-US" sz="2400" b="1" dirty="0">
                <a:solidFill>
                  <a:srgbClr val="C00000"/>
                </a:solidFill>
              </a:rPr>
              <a:t>Student structures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02D6B0-DA78-7238-DF19-62CEEAD0E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429" y="1644457"/>
            <a:ext cx="7265219" cy="9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39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screen shot of a program code">
            <a:extLst>
              <a:ext uri="{FF2B5EF4-FFF2-40B4-BE49-F238E27FC236}">
                <a16:creationId xmlns:a16="http://schemas.microsoft.com/office/drawing/2014/main" id="{55C2E61F-5BD4-3361-BAE9-F185E76960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5" t="3333" r="1928" b="10359"/>
          <a:stretch/>
        </p:blipFill>
        <p:spPr>
          <a:xfrm>
            <a:off x="-54430" y="-77992"/>
            <a:ext cx="11952514" cy="69359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1183" y="402773"/>
            <a:ext cx="7408817" cy="612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Example: Storing and Displaying Student Records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0C826B-B5A2-3617-0566-53BD0A867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6286" y="-77992"/>
            <a:ext cx="485714" cy="693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61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Input and Output: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91EF1F-4751-02F9-9B97-B26F19C7B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037" y="1542571"/>
            <a:ext cx="8976083" cy="391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70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Accessing Structure Members Using a </a:t>
            </a:r>
            <a:r>
              <a:rPr lang="en-US" sz="2400" b="1" dirty="0">
                <a:solidFill>
                  <a:srgbClr val="C00000"/>
                </a:solidFill>
              </a:rPr>
              <a:t>Pointer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r>
              <a:rPr lang="en-US" sz="2400" dirty="0"/>
              <a:t>Instead of directly using an index, you can use a </a:t>
            </a:r>
            <a:r>
              <a:rPr lang="en-US" sz="2400" b="1" dirty="0"/>
              <a:t>pointer to traverse the array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BEBE2D7A-1771-F66D-E2E8-720E9EEAC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27" y="1603816"/>
            <a:ext cx="15677735" cy="503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05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987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Self referential structures:</a:t>
            </a:r>
          </a:p>
          <a:p>
            <a:pPr marL="0" indent="0">
              <a:buNone/>
            </a:pPr>
            <a:r>
              <a:rPr lang="en-US" sz="2400" dirty="0"/>
              <a:t>A self-referential structure is a structure that </a:t>
            </a:r>
            <a:r>
              <a:rPr lang="en-US" sz="2400" b="1" dirty="0"/>
              <a:t>contains </a:t>
            </a:r>
            <a:r>
              <a:rPr lang="en-US" sz="2400" b="1" dirty="0">
                <a:solidFill>
                  <a:srgbClr val="C00000"/>
                </a:solidFill>
              </a:rPr>
              <a:t>a pointer to an instance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C00000"/>
                </a:solidFill>
              </a:rPr>
              <a:t>itself</a:t>
            </a:r>
            <a:r>
              <a:rPr lang="en-US" sz="2400" dirty="0"/>
              <a:t>. This is commonly used in data structures like </a:t>
            </a:r>
            <a:r>
              <a:rPr lang="en-US" sz="2400" b="1" dirty="0">
                <a:solidFill>
                  <a:srgbClr val="C00000"/>
                </a:solidFill>
              </a:rPr>
              <a:t>linked lists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trees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C00000"/>
                </a:solidFill>
              </a:rPr>
              <a:t>graphs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Definition:</a:t>
            </a:r>
          </a:p>
          <a:p>
            <a:pPr marL="0" indent="0">
              <a:buNone/>
            </a:pPr>
            <a:r>
              <a:rPr lang="en-US" sz="2400" dirty="0"/>
              <a:t>A self-referential structure typically </a:t>
            </a:r>
            <a:r>
              <a:rPr lang="en-US" sz="2400" b="1" dirty="0">
                <a:solidFill>
                  <a:srgbClr val="C00000"/>
                </a:solidFill>
              </a:rPr>
              <a:t>includes a pointer that refers to another structure of the same type</a:t>
            </a:r>
            <a:r>
              <a:rPr lang="en-US" sz="2400" b="1" dirty="0"/>
              <a:t>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Here, </a:t>
            </a:r>
            <a:r>
              <a:rPr lang="en-US" sz="2400" dirty="0"/>
              <a:t>struct Node contains an </a:t>
            </a:r>
            <a:r>
              <a:rPr lang="en-US" sz="2400" b="1" dirty="0">
                <a:solidFill>
                  <a:srgbClr val="C00000"/>
                </a:solidFill>
              </a:rPr>
              <a:t>integer</a:t>
            </a:r>
            <a:r>
              <a:rPr lang="en-US" sz="2400" dirty="0"/>
              <a:t> (data) and a </a:t>
            </a:r>
            <a:r>
              <a:rPr lang="en-US" sz="2400" b="1" dirty="0">
                <a:solidFill>
                  <a:srgbClr val="C00000"/>
                </a:solidFill>
              </a:rPr>
              <a:t>pointer</a:t>
            </a:r>
            <a:r>
              <a:rPr lang="en-US" sz="2400" dirty="0"/>
              <a:t> (next) that stores the address of another Node structure.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A400E-7A1F-A1B0-D040-CDBD443DA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199" y="3243943"/>
            <a:ext cx="8459640" cy="212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16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554" y="683418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Types of Self-Referential Structures:</a:t>
            </a:r>
          </a:p>
          <a:p>
            <a:pPr marL="0" indent="0">
              <a:buNone/>
            </a:pPr>
            <a:r>
              <a:rPr lang="en-US" sz="2400" b="1" dirty="0"/>
              <a:t>1. </a:t>
            </a:r>
            <a:r>
              <a:rPr lang="en-US" sz="2400" b="1" dirty="0">
                <a:solidFill>
                  <a:srgbClr val="C00000"/>
                </a:solidFill>
              </a:rPr>
              <a:t>Linear</a:t>
            </a:r>
            <a:r>
              <a:rPr lang="en-US" sz="2400" b="1" dirty="0"/>
              <a:t> Self-Referential Structures:</a:t>
            </a:r>
          </a:p>
          <a:p>
            <a:pPr marL="0" indent="0">
              <a:buNone/>
            </a:pPr>
            <a:r>
              <a:rPr lang="en-US" sz="2400" dirty="0"/>
              <a:t>Each structure node has a </a:t>
            </a:r>
            <a:r>
              <a:rPr lang="en-US" sz="2400" b="1" dirty="0">
                <a:solidFill>
                  <a:srgbClr val="C00000"/>
                </a:solidFill>
              </a:rPr>
              <a:t>pointer</a:t>
            </a:r>
            <a:r>
              <a:rPr lang="en-US" sz="2400" dirty="0"/>
              <a:t> </a:t>
            </a:r>
            <a:r>
              <a:rPr lang="en-US" sz="2400" b="1" dirty="0"/>
              <a:t>to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next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node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Example: </a:t>
            </a:r>
            <a:r>
              <a:rPr lang="en-US" sz="2400" b="1" dirty="0">
                <a:solidFill>
                  <a:srgbClr val="C00000"/>
                </a:solidFill>
              </a:rPr>
              <a:t>Linked Lists</a:t>
            </a:r>
            <a:endParaRPr lang="en-IN" sz="24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DFE15-7C84-7F88-022C-EBA4E2DED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356" y="3051514"/>
            <a:ext cx="5121287" cy="245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00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Non-Linear Self-Referential Structures:</a:t>
            </a:r>
          </a:p>
          <a:p>
            <a:pPr marL="0" indent="0">
              <a:buNone/>
            </a:pPr>
            <a:r>
              <a:rPr lang="en-US" sz="2400" dirty="0"/>
              <a:t>A node contains </a:t>
            </a:r>
            <a:r>
              <a:rPr lang="en-US" sz="2400" b="1" dirty="0">
                <a:solidFill>
                  <a:srgbClr val="C00000"/>
                </a:solidFill>
              </a:rPr>
              <a:t>multiple pointers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Example: </a:t>
            </a:r>
            <a:r>
              <a:rPr lang="en-US" sz="2400" b="1" dirty="0">
                <a:solidFill>
                  <a:srgbClr val="C00000"/>
                </a:solidFill>
              </a:rPr>
              <a:t>Binary Trees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692B9-BD61-437E-6F38-8CAE58C37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333" y="2248028"/>
            <a:ext cx="5718640" cy="304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53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325" y="1055914"/>
            <a:ext cx="8725989" cy="4256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Use Cases of Self-Referential Structures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Linked Lists (Single, Doubly, Circular)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Binary Trees &amp; BSTs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Graphs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dirty="0"/>
              <a:t>Stack &amp; Queue Implementation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111689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Dynamic Memory Allocation in C:</a:t>
            </a:r>
          </a:p>
          <a:p>
            <a:pPr marL="0" indent="0">
              <a:buNone/>
            </a:pPr>
            <a:r>
              <a:rPr lang="en-US" sz="2800" dirty="0"/>
              <a:t>Dynamic memory allocation in C allows the program to </a:t>
            </a:r>
            <a:r>
              <a:rPr lang="en-US" sz="2800" b="1" dirty="0">
                <a:solidFill>
                  <a:srgbClr val="C00000"/>
                </a:solidFill>
              </a:rPr>
              <a:t>allocate memory at runtime </a:t>
            </a:r>
            <a:r>
              <a:rPr lang="en-US" sz="2800" b="1" dirty="0">
                <a:solidFill>
                  <a:srgbClr val="002060"/>
                </a:solidFill>
              </a:rPr>
              <a:t>using pointers</a:t>
            </a:r>
            <a:r>
              <a:rPr lang="en-US" sz="2800" dirty="0"/>
              <a:t>. 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What is Dynamic Memory Allocation?</a:t>
            </a:r>
          </a:p>
          <a:p>
            <a:pPr marL="0" indent="0">
              <a:buNone/>
            </a:pPr>
            <a:r>
              <a:rPr lang="en-US" sz="2800" dirty="0"/>
              <a:t>Dynamic memory allocation (</a:t>
            </a:r>
            <a:r>
              <a:rPr lang="en-US" sz="2800" b="1" dirty="0">
                <a:solidFill>
                  <a:srgbClr val="C00000"/>
                </a:solidFill>
              </a:rPr>
              <a:t>DMA</a:t>
            </a:r>
            <a:r>
              <a:rPr lang="en-US" sz="2800" dirty="0"/>
              <a:t>) is a process in C where memory is allocated at </a:t>
            </a:r>
            <a:r>
              <a:rPr lang="en-US" sz="2800" b="1" dirty="0">
                <a:solidFill>
                  <a:srgbClr val="C00000"/>
                </a:solidFill>
              </a:rPr>
              <a:t>runtime</a:t>
            </a:r>
            <a:r>
              <a:rPr lang="en-US" sz="2800" dirty="0"/>
              <a:t> using pointers. Unlike </a:t>
            </a:r>
            <a:r>
              <a:rPr lang="en-US" sz="2800" b="1" dirty="0"/>
              <a:t>static memory allocation</a:t>
            </a:r>
            <a:r>
              <a:rPr lang="en-US" sz="2800" dirty="0"/>
              <a:t>, which reserves a fixed amount of memory </a:t>
            </a:r>
            <a:r>
              <a:rPr lang="en-US" sz="2800" b="1" dirty="0">
                <a:solidFill>
                  <a:srgbClr val="C00000"/>
                </a:solidFill>
              </a:rPr>
              <a:t>during compilation</a:t>
            </a:r>
            <a:r>
              <a:rPr lang="en-US" sz="2800" dirty="0"/>
              <a:t>, dynamic memory allocation allows programs to request memory </a:t>
            </a:r>
            <a:r>
              <a:rPr lang="en-US" sz="2800" b="1" dirty="0">
                <a:solidFill>
                  <a:srgbClr val="C00000"/>
                </a:solidFill>
              </a:rPr>
              <a:t>as needed </a:t>
            </a:r>
            <a:r>
              <a:rPr lang="en-US" sz="2800" dirty="0"/>
              <a:t>while the program is running.</a:t>
            </a:r>
          </a:p>
        </p:txBody>
      </p:sp>
    </p:spTree>
    <p:extLst>
      <p:ext uri="{BB962C8B-B14F-4D97-AF65-F5344CB8AC3E}">
        <p14:creationId xmlns:p14="http://schemas.microsoft.com/office/powerpoint/2010/main" val="1539459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39" y="1175657"/>
            <a:ext cx="10935789" cy="4234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The C standard library provides </a:t>
            </a:r>
            <a:r>
              <a:rPr lang="en-US" sz="2800" b="1" dirty="0">
                <a:solidFill>
                  <a:srgbClr val="C00000"/>
                </a:solidFill>
              </a:rPr>
              <a:t>four functions </a:t>
            </a:r>
            <a:r>
              <a:rPr lang="en-US" sz="2800" dirty="0"/>
              <a:t>for dynamic memory management: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malloc() – </a:t>
            </a:r>
            <a:r>
              <a:rPr lang="en-US" sz="2800" dirty="0"/>
              <a:t>Allocates a specified number of bytes but </a:t>
            </a:r>
            <a:r>
              <a:rPr lang="en-US" sz="2800" b="1" dirty="0">
                <a:solidFill>
                  <a:srgbClr val="C00000"/>
                </a:solidFill>
              </a:rPr>
              <a:t>does not initialize </a:t>
            </a:r>
            <a:r>
              <a:rPr lang="en-US" sz="2800" dirty="0"/>
              <a:t>them.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err="1"/>
              <a:t>calloc</a:t>
            </a:r>
            <a:r>
              <a:rPr lang="en-US" sz="2800" b="1" dirty="0"/>
              <a:t>() – </a:t>
            </a:r>
            <a:r>
              <a:rPr lang="en-US" sz="2800" dirty="0"/>
              <a:t>Allocates memory and </a:t>
            </a:r>
            <a:r>
              <a:rPr lang="en-US" sz="2800" b="1" dirty="0">
                <a:solidFill>
                  <a:srgbClr val="C00000"/>
                </a:solidFill>
              </a:rPr>
              <a:t>initializes</a:t>
            </a:r>
            <a:r>
              <a:rPr lang="en-US" sz="2800" dirty="0"/>
              <a:t> all elements to zero.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err="1"/>
              <a:t>realloc</a:t>
            </a:r>
            <a:r>
              <a:rPr lang="en-US" sz="2800" b="1" dirty="0"/>
              <a:t>() – </a:t>
            </a:r>
            <a:r>
              <a:rPr lang="en-US" sz="2800" b="1" dirty="0">
                <a:solidFill>
                  <a:srgbClr val="C00000"/>
                </a:solidFill>
              </a:rPr>
              <a:t>Resizes</a:t>
            </a:r>
            <a:r>
              <a:rPr lang="en-US" sz="2800" dirty="0"/>
              <a:t> previously allocated memory.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free() – </a:t>
            </a:r>
            <a:r>
              <a:rPr lang="en-US" sz="2800" b="1" dirty="0">
                <a:solidFill>
                  <a:srgbClr val="C00000"/>
                </a:solidFill>
              </a:rPr>
              <a:t>Frees</a:t>
            </a:r>
            <a:r>
              <a:rPr lang="en-US" sz="2800" dirty="0"/>
              <a:t> allocated memory</a:t>
            </a:r>
            <a:endParaRPr lang="en-IN" sz="2800" dirty="0"/>
          </a:p>
          <a:p>
            <a:pPr marL="0" indent="0">
              <a:buNone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457105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E519-1169-5E9F-6A2B-EAB2CE86A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8F6E-4709-E851-B6CD-5EAA2881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Why Should We Use Dynamic Memory Allocation?</a:t>
            </a:r>
          </a:p>
          <a:p>
            <a:pPr marL="457200" indent="-457200">
              <a:buAutoNum type="arabicPeriod"/>
            </a:pPr>
            <a:r>
              <a:rPr lang="en-US" sz="2400" b="1" dirty="0"/>
              <a:t>Efficient Memory Usage:</a:t>
            </a:r>
          </a:p>
          <a:p>
            <a:r>
              <a:rPr lang="en-US" sz="2400" dirty="0"/>
              <a:t>In static allocation, if you declare an array of </a:t>
            </a:r>
            <a:r>
              <a:rPr lang="en-US" sz="2400" b="1" dirty="0">
                <a:solidFill>
                  <a:srgbClr val="C00000"/>
                </a:solidFill>
              </a:rPr>
              <a:t>size 100 </a:t>
            </a:r>
            <a:r>
              <a:rPr lang="en-US" sz="2400" dirty="0"/>
              <a:t>but only use 10 elements, the remaining 90 elements </a:t>
            </a:r>
            <a:r>
              <a:rPr lang="en-US" sz="2400" b="1" dirty="0">
                <a:solidFill>
                  <a:srgbClr val="C00000"/>
                </a:solidFill>
              </a:rPr>
              <a:t>remain unused</a:t>
            </a:r>
            <a:r>
              <a:rPr lang="en-US" sz="2400" dirty="0"/>
              <a:t>, leading to </a:t>
            </a:r>
            <a:r>
              <a:rPr lang="en-US" sz="2400" b="1" dirty="0">
                <a:solidFill>
                  <a:srgbClr val="C00000"/>
                </a:solidFill>
              </a:rPr>
              <a:t>wasted memory</a:t>
            </a:r>
            <a:r>
              <a:rPr lang="en-US" sz="2400" dirty="0"/>
              <a:t>.</a:t>
            </a:r>
          </a:p>
          <a:p>
            <a:r>
              <a:rPr lang="en-US" sz="2400" dirty="0"/>
              <a:t>In dynamic allocation, you can allocate memory </a:t>
            </a:r>
            <a:r>
              <a:rPr lang="en-US" sz="2400" b="1" dirty="0"/>
              <a:t>exactly as required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2. Flexibility: </a:t>
            </a:r>
            <a:r>
              <a:rPr lang="en-US" sz="2400" dirty="0"/>
              <a:t>If the size of data is unknown during compilation, </a:t>
            </a:r>
            <a:r>
              <a:rPr lang="en-US" sz="2400" b="1" dirty="0">
                <a:solidFill>
                  <a:srgbClr val="C00000"/>
                </a:solidFill>
              </a:rPr>
              <a:t>dynamic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allocation</a:t>
            </a:r>
            <a:r>
              <a:rPr lang="en-US" sz="2400" dirty="0"/>
              <a:t> lets you adjust memory as needed at runtime.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3. Data Structure Implementation: </a:t>
            </a:r>
            <a:r>
              <a:rPr lang="en-US" sz="2400" dirty="0"/>
              <a:t>DMA is essential for data structures like </a:t>
            </a:r>
            <a:r>
              <a:rPr lang="en-US" sz="2400" b="1" dirty="0">
                <a:solidFill>
                  <a:srgbClr val="C00000"/>
                </a:solidFill>
              </a:rPr>
              <a:t>linked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lists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trees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stacks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C00000"/>
                </a:solidFill>
              </a:rPr>
              <a:t>queues</a:t>
            </a:r>
            <a:r>
              <a:rPr lang="en-US" sz="2400" dirty="0"/>
              <a:t>, where elements are created and removed dynamically.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4. Avoid Stack Overflow: </a:t>
            </a:r>
            <a:r>
              <a:rPr lang="en-US" sz="2400" dirty="0"/>
              <a:t>Large arrays or variables declared in functions consume stack memory, which is limited. Dynamic memory allocation utilizes the </a:t>
            </a:r>
            <a:r>
              <a:rPr lang="en-US" sz="2400" b="1" dirty="0">
                <a:solidFill>
                  <a:srgbClr val="C00000"/>
                </a:solidFill>
              </a:rPr>
              <a:t>heap</a:t>
            </a:r>
            <a:r>
              <a:rPr lang="en-US" sz="2400" dirty="0"/>
              <a:t>, which has a larger memory pool.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2400" b="1" dirty="0"/>
              <a:t>5. Memory Reallocation: </a:t>
            </a:r>
            <a:r>
              <a:rPr lang="en-US" sz="2400" dirty="0"/>
              <a:t>With functions like </a:t>
            </a:r>
            <a:r>
              <a:rPr lang="en-US" sz="2400" b="1" dirty="0" err="1">
                <a:solidFill>
                  <a:srgbClr val="C00000"/>
                </a:solidFill>
              </a:rPr>
              <a:t>realloc</a:t>
            </a:r>
            <a:r>
              <a:rPr lang="en-US" sz="2400" dirty="0"/>
              <a:t>(), you can </a:t>
            </a:r>
            <a:r>
              <a:rPr lang="en-US" sz="2400" b="1" dirty="0">
                <a:solidFill>
                  <a:srgbClr val="C00000"/>
                </a:solidFill>
              </a:rPr>
              <a:t>expand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shrink</a:t>
            </a:r>
            <a:r>
              <a:rPr lang="en-US" sz="2400" dirty="0"/>
              <a:t> the memory as needed, avoiding unnecessary memory usage.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5598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A9051-821B-4D0A-E9C3-1940F9271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F6AE5-F5BC-4E8C-3FFB-27255BA1F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b="1" dirty="0"/>
              <a:t>malloc() :</a:t>
            </a:r>
          </a:p>
          <a:p>
            <a:pPr marL="0" indent="0">
              <a:buNone/>
            </a:pPr>
            <a:r>
              <a:rPr lang="en-US" sz="2400" dirty="0"/>
              <a:t>malloc() (</a:t>
            </a:r>
            <a:r>
              <a:rPr lang="en-US" sz="2400" b="1" dirty="0">
                <a:solidFill>
                  <a:srgbClr val="C00000"/>
                </a:solidFill>
              </a:rPr>
              <a:t>Memory Allocation</a:t>
            </a:r>
            <a:r>
              <a:rPr lang="en-US" sz="2400" dirty="0"/>
              <a:t>) is a standard </a:t>
            </a:r>
            <a:r>
              <a:rPr lang="en-US" sz="2400" b="1" dirty="0"/>
              <a:t>library function </a:t>
            </a:r>
            <a:r>
              <a:rPr lang="en-US" sz="2400" dirty="0"/>
              <a:t>in C </a:t>
            </a:r>
            <a:r>
              <a:rPr lang="en-US" sz="2400" b="1" dirty="0">
                <a:solidFill>
                  <a:srgbClr val="C00000"/>
                </a:solidFill>
              </a:rPr>
              <a:t>that allocates a specified number of bytes</a:t>
            </a:r>
            <a:r>
              <a:rPr lang="en-US" sz="2400" dirty="0"/>
              <a:t> in the </a:t>
            </a:r>
            <a:r>
              <a:rPr lang="en-US" sz="2400" b="1" dirty="0">
                <a:solidFill>
                  <a:srgbClr val="C00000"/>
                </a:solidFill>
              </a:rPr>
              <a:t>heap</a:t>
            </a:r>
            <a:r>
              <a:rPr lang="en-US" sz="2400" dirty="0"/>
              <a:t> memory and </a:t>
            </a:r>
            <a:r>
              <a:rPr lang="en-US" sz="2400" b="1" dirty="0"/>
              <a:t>returns a </a:t>
            </a:r>
            <a:r>
              <a:rPr lang="en-US" sz="2400" b="1" dirty="0">
                <a:solidFill>
                  <a:srgbClr val="C00000"/>
                </a:solidFill>
              </a:rPr>
              <a:t>void pointer </a:t>
            </a:r>
            <a:r>
              <a:rPr lang="en-US" sz="2400" dirty="0"/>
              <a:t>to the allocated memory. The allocated memory contains garbage values (</a:t>
            </a:r>
            <a:r>
              <a:rPr lang="en-US" sz="2400" b="1" dirty="0"/>
              <a:t>uninitialized</a:t>
            </a:r>
            <a:r>
              <a:rPr lang="en-US" sz="2400" dirty="0"/>
              <a:t>).</a:t>
            </a:r>
          </a:p>
          <a:p>
            <a:pPr marL="0" indent="0">
              <a:buNone/>
            </a:pPr>
            <a:r>
              <a:rPr lang="en-IN" sz="2400" b="1" dirty="0"/>
              <a:t>Syntax of malloc():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r>
              <a:rPr lang="en-US" sz="2400" b="1" dirty="0" err="1"/>
              <a:t>size_t</a:t>
            </a:r>
            <a:r>
              <a:rPr lang="en-US" sz="2400" b="1" dirty="0"/>
              <a:t> size: </a:t>
            </a:r>
            <a:r>
              <a:rPr lang="en-US" sz="2400" dirty="0"/>
              <a:t>The number of bytes to allocate.</a:t>
            </a:r>
          </a:p>
          <a:p>
            <a:r>
              <a:rPr lang="en-US" sz="2400" b="1" dirty="0"/>
              <a:t>Returns: </a:t>
            </a:r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void* </a:t>
            </a:r>
            <a:r>
              <a:rPr lang="en-US" sz="2400" dirty="0"/>
              <a:t>pointer to the allocated memory or </a:t>
            </a:r>
            <a:r>
              <a:rPr lang="en-US" sz="2400" b="1" dirty="0">
                <a:solidFill>
                  <a:srgbClr val="C00000"/>
                </a:solidFill>
              </a:rPr>
              <a:t>NULL</a:t>
            </a:r>
            <a:r>
              <a:rPr lang="en-US" sz="2400" dirty="0"/>
              <a:t> if </a:t>
            </a:r>
            <a:r>
              <a:rPr lang="en-US" sz="2400" b="1" dirty="0"/>
              <a:t>allocation fails</a:t>
            </a:r>
            <a:r>
              <a:rPr lang="en-US" sz="2400" dirty="0"/>
              <a:t>.</a:t>
            </a:r>
          </a:p>
          <a:p>
            <a:r>
              <a:rPr lang="en-US" sz="2400" dirty="0"/>
              <a:t>The returned void* pointer should be </a:t>
            </a:r>
            <a:r>
              <a:rPr lang="en-US" sz="2400" b="1" dirty="0">
                <a:solidFill>
                  <a:srgbClr val="C00000"/>
                </a:solidFill>
              </a:rPr>
              <a:t>typecast</a:t>
            </a:r>
            <a:r>
              <a:rPr lang="en-US" sz="2400" dirty="0"/>
              <a:t> to the desired data type.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C249AE-BEE1-EFDE-4FF5-5E3581C7D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53"/>
          <a:stretch/>
        </p:blipFill>
        <p:spPr>
          <a:xfrm>
            <a:off x="2366601" y="3052790"/>
            <a:ext cx="5085714" cy="75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42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42A5E-0B24-F314-E6C4-A7FA2754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C9791-B678-C5ED-873F-7B21152C2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34143"/>
            <a:ext cx="10659110" cy="4071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How to Use malloc()?</a:t>
            </a:r>
          </a:p>
          <a:p>
            <a:pPr marL="0" indent="0">
              <a:buNone/>
            </a:pPr>
            <a:r>
              <a:rPr lang="en-US" sz="2800" dirty="0"/>
              <a:t>To use malloc(), follow these steps: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Declare a </a:t>
            </a:r>
            <a:r>
              <a:rPr lang="en-US" sz="2800" b="1" dirty="0"/>
              <a:t>pointer</a:t>
            </a:r>
            <a:r>
              <a:rPr lang="en-US" sz="2800" dirty="0"/>
              <a:t> of the required type.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Use </a:t>
            </a:r>
            <a:r>
              <a:rPr lang="en-US" sz="2800" b="1" dirty="0"/>
              <a:t>malloc</a:t>
            </a:r>
            <a:r>
              <a:rPr lang="en-US" sz="2800" dirty="0"/>
              <a:t>() to allocate memory.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Check if the memory </a:t>
            </a:r>
            <a:r>
              <a:rPr lang="en-US" sz="2800" b="1" dirty="0"/>
              <a:t>allocation</a:t>
            </a:r>
            <a:r>
              <a:rPr lang="en-US" sz="2800" dirty="0"/>
              <a:t> </a:t>
            </a:r>
            <a:r>
              <a:rPr lang="en-US" sz="2800" b="1" dirty="0"/>
              <a:t>was</a:t>
            </a:r>
            <a:r>
              <a:rPr lang="en-US" sz="2800" dirty="0"/>
              <a:t> </a:t>
            </a:r>
            <a:r>
              <a:rPr lang="en-US" sz="2800" b="1" dirty="0"/>
              <a:t>successful</a:t>
            </a:r>
            <a:r>
              <a:rPr lang="en-US" sz="2800" dirty="0"/>
              <a:t> (</a:t>
            </a:r>
            <a:r>
              <a:rPr lang="en-US" sz="2800" dirty="0" err="1"/>
              <a:t>ptr</a:t>
            </a:r>
            <a:r>
              <a:rPr lang="en-US" sz="2800" dirty="0"/>
              <a:t> != NULL).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Use</a:t>
            </a:r>
            <a:r>
              <a:rPr lang="en-US" sz="2800" dirty="0"/>
              <a:t> the allocated memory as needed.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Free</a:t>
            </a:r>
            <a:r>
              <a:rPr lang="en-US" sz="2800" dirty="0"/>
              <a:t> the memory using free() when done.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89987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3CF3-AB21-2758-57F1-61B1FF991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0EB8-1E00-856E-D4CF-B413A3BA5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1657" y="968829"/>
            <a:ext cx="4343400" cy="2667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 1: </a:t>
            </a:r>
            <a:r>
              <a:rPr lang="en-US" sz="2400" dirty="0"/>
              <a:t>Allocating Memory for an </a:t>
            </a:r>
            <a:r>
              <a:rPr lang="en-US" sz="2400" b="1" dirty="0">
                <a:solidFill>
                  <a:srgbClr val="C00000"/>
                </a:solidFill>
              </a:rPr>
              <a:t>Integer</a:t>
            </a:r>
            <a:endParaRPr lang="en-IN" sz="24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FAC73C-B266-CEC3-52F0-F6A824316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59" y="0"/>
            <a:ext cx="7143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647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B30A-87E7-4BEE-71DE-23720215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BB39-71D3-230E-23B1-16BC593B4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7627" y="683418"/>
            <a:ext cx="4545693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 2: Allocating Memory for an Array</a:t>
            </a:r>
            <a:endParaRPr lang="en-IN" sz="2400" b="1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AEB1CA1-F0B7-E0A8-C825-15AF1F731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7" t="3809" r="3808" b="4127"/>
          <a:stretch/>
        </p:blipFill>
        <p:spPr>
          <a:xfrm>
            <a:off x="662422" y="0"/>
            <a:ext cx="6373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12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F2B67-4757-F2E1-27E8-6502D96B4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C87A4-5312-E8B7-C545-598F3E78A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90600"/>
            <a:ext cx="10659110" cy="3984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Note: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</a:rPr>
              <a:t>Understanding </a:t>
            </a:r>
            <a:r>
              <a:rPr lang="en-US" sz="2800" dirty="0" err="1"/>
              <a:t>arr</a:t>
            </a:r>
            <a:r>
              <a:rPr lang="en-US" sz="2800" b="1" dirty="0">
                <a:solidFill>
                  <a:srgbClr val="002060"/>
                </a:solidFill>
              </a:rPr>
              <a:t>[</a:t>
            </a:r>
            <a:r>
              <a:rPr lang="en-US" sz="2800" b="1" dirty="0" err="1">
                <a:solidFill>
                  <a:srgbClr val="002060"/>
                </a:solidFill>
              </a:rPr>
              <a:t>i</a:t>
            </a:r>
            <a:r>
              <a:rPr lang="en-US" sz="2800" b="1" dirty="0">
                <a:solidFill>
                  <a:srgbClr val="002060"/>
                </a:solidFill>
              </a:rPr>
              <a:t>] vs. *</a:t>
            </a:r>
            <a:r>
              <a:rPr lang="en-US" sz="2800" dirty="0"/>
              <a:t> </a:t>
            </a:r>
            <a:r>
              <a:rPr lang="en-US" sz="2800" dirty="0" err="1"/>
              <a:t>arr</a:t>
            </a:r>
            <a:r>
              <a:rPr lang="en-US" sz="2800" b="1" dirty="0">
                <a:solidFill>
                  <a:srgbClr val="002060"/>
                </a:solidFill>
              </a:rPr>
              <a:t>[</a:t>
            </a:r>
            <a:r>
              <a:rPr lang="en-US" sz="2800" b="1" dirty="0" err="1">
                <a:solidFill>
                  <a:srgbClr val="002060"/>
                </a:solidFill>
              </a:rPr>
              <a:t>i</a:t>
            </a:r>
            <a:r>
              <a:rPr lang="en-US" sz="2800" b="1" dirty="0">
                <a:solidFill>
                  <a:srgbClr val="002060"/>
                </a:solidFill>
              </a:rPr>
              <a:t>]: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[</a:t>
            </a:r>
            <a:r>
              <a:rPr lang="en-US" sz="2800" dirty="0" err="1"/>
              <a:t>i</a:t>
            </a:r>
            <a:r>
              <a:rPr lang="en-US" sz="2800" dirty="0"/>
              <a:t>] is </a:t>
            </a:r>
            <a:r>
              <a:rPr lang="en-US" sz="2800" b="1" dirty="0">
                <a:solidFill>
                  <a:srgbClr val="C00000"/>
                </a:solidFill>
              </a:rPr>
              <a:t>equivalent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to</a:t>
            </a:r>
            <a:r>
              <a:rPr lang="en-US" sz="2800" dirty="0"/>
              <a:t> *(</a:t>
            </a:r>
            <a:r>
              <a:rPr lang="en-US" sz="2800" dirty="0" err="1"/>
              <a:t>arr</a:t>
            </a:r>
            <a:r>
              <a:rPr lang="en-US" sz="2800" dirty="0"/>
              <a:t> + </a:t>
            </a:r>
            <a:r>
              <a:rPr lang="en-US" sz="2800" dirty="0" err="1"/>
              <a:t>i</a:t>
            </a:r>
            <a:r>
              <a:rPr lang="en-US" sz="2800" dirty="0"/>
              <a:t>).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 is a pointer to the first element of dynamically allocated memory.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[</a:t>
            </a:r>
            <a:r>
              <a:rPr lang="en-US" sz="2800" dirty="0" err="1"/>
              <a:t>i</a:t>
            </a:r>
            <a:r>
              <a:rPr lang="en-US" sz="2800" dirty="0"/>
              <a:t>] means "access the value at the address </a:t>
            </a:r>
            <a:r>
              <a:rPr lang="en-US" sz="2800" dirty="0" err="1"/>
              <a:t>arr</a:t>
            </a:r>
            <a:r>
              <a:rPr lang="en-US" sz="2800" dirty="0"/>
              <a:t> + </a:t>
            </a:r>
            <a:r>
              <a:rPr lang="en-US" sz="2800" dirty="0" err="1"/>
              <a:t>i</a:t>
            </a:r>
            <a:r>
              <a:rPr lang="en-US" sz="2800" dirty="0"/>
              <a:t>".</a:t>
            </a:r>
          </a:p>
          <a:p>
            <a:r>
              <a:rPr lang="en-US" sz="2800" dirty="0"/>
              <a:t>* </a:t>
            </a:r>
            <a:r>
              <a:rPr lang="en-US" sz="2800" dirty="0" err="1"/>
              <a:t>arr</a:t>
            </a:r>
            <a:r>
              <a:rPr lang="en-US" sz="2800" dirty="0"/>
              <a:t>[</a:t>
            </a:r>
            <a:r>
              <a:rPr lang="en-US" sz="2800" dirty="0" err="1"/>
              <a:t>i</a:t>
            </a:r>
            <a:r>
              <a:rPr lang="en-US" sz="2800" dirty="0"/>
              <a:t>] would imply that </a:t>
            </a:r>
            <a:r>
              <a:rPr lang="en-US" sz="2800" dirty="0" err="1"/>
              <a:t>arr</a:t>
            </a:r>
            <a:r>
              <a:rPr lang="en-US" sz="2800" dirty="0"/>
              <a:t>[</a:t>
            </a:r>
            <a:r>
              <a:rPr lang="en-US" sz="2800" dirty="0" err="1"/>
              <a:t>i</a:t>
            </a:r>
            <a:r>
              <a:rPr lang="en-US" sz="2800" dirty="0"/>
              <a:t>] is itself a pointer, which it is not in this case.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4842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9EF1D-FD73-148E-C80A-0A791F511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B7429-BDC8-FA6D-765A-27A70DDF2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23258"/>
            <a:ext cx="10659110" cy="4278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Key Points About malloc()</a:t>
            </a:r>
          </a:p>
          <a:p>
            <a:r>
              <a:rPr lang="en-US" sz="2800" dirty="0"/>
              <a:t>Returns </a:t>
            </a:r>
            <a:r>
              <a:rPr lang="en-US" sz="2800" b="1" dirty="0">
                <a:solidFill>
                  <a:srgbClr val="C00000"/>
                </a:solidFill>
              </a:rPr>
              <a:t>void</a:t>
            </a:r>
            <a:r>
              <a:rPr lang="en-US" sz="2800" dirty="0"/>
              <a:t>*, so typecasting is required (e.g., (int*) malloc(...)).</a:t>
            </a:r>
          </a:p>
          <a:p>
            <a:r>
              <a:rPr lang="en-US" sz="2800" dirty="0"/>
              <a:t>If allocation </a:t>
            </a:r>
            <a:r>
              <a:rPr lang="en-US" sz="2800" b="1" dirty="0">
                <a:solidFill>
                  <a:srgbClr val="C00000"/>
                </a:solidFill>
              </a:rPr>
              <a:t>fails</a:t>
            </a:r>
            <a:r>
              <a:rPr lang="en-US" sz="2800" dirty="0"/>
              <a:t>, malloc() returns </a:t>
            </a:r>
            <a:r>
              <a:rPr lang="en-US" sz="2800" b="1" dirty="0">
                <a:solidFill>
                  <a:srgbClr val="C00000"/>
                </a:solidFill>
              </a:rPr>
              <a:t>NULL</a:t>
            </a:r>
            <a:r>
              <a:rPr lang="en-US" sz="2800" dirty="0"/>
              <a:t>, so always check for NULL.</a:t>
            </a:r>
          </a:p>
          <a:p>
            <a:r>
              <a:rPr lang="en-US" sz="2800" dirty="0"/>
              <a:t>The allocated memory contains </a:t>
            </a:r>
            <a:r>
              <a:rPr lang="en-US" sz="2800" b="1" dirty="0">
                <a:solidFill>
                  <a:srgbClr val="C00000"/>
                </a:solidFill>
              </a:rPr>
              <a:t>garbage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values</a:t>
            </a:r>
            <a:r>
              <a:rPr lang="en-US" sz="2800" dirty="0"/>
              <a:t> (use </a:t>
            </a:r>
            <a:r>
              <a:rPr lang="en-US" sz="2800" dirty="0" err="1"/>
              <a:t>calloc</a:t>
            </a:r>
            <a:r>
              <a:rPr lang="en-US" sz="2800" dirty="0"/>
              <a:t>() if you want zero-initialized memory).</a:t>
            </a:r>
          </a:p>
          <a:p>
            <a:r>
              <a:rPr lang="en-US" sz="2800" dirty="0"/>
              <a:t>Memory allocated with malloc() must be freed using </a:t>
            </a:r>
            <a:r>
              <a:rPr lang="en-US" sz="2800" b="1" dirty="0">
                <a:solidFill>
                  <a:srgbClr val="C00000"/>
                </a:solidFill>
              </a:rPr>
              <a:t>free</a:t>
            </a:r>
            <a:r>
              <a:rPr lang="en-US" sz="2800" dirty="0"/>
              <a:t>() to avoid </a:t>
            </a:r>
            <a:r>
              <a:rPr lang="en-US" sz="2800" b="1" dirty="0">
                <a:solidFill>
                  <a:srgbClr val="C00000"/>
                </a:solidFill>
              </a:rPr>
              <a:t>memory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leaks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90375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2. </a:t>
            </a:r>
            <a:r>
              <a:rPr lang="en-IN" sz="2400" b="1" dirty="0" err="1"/>
              <a:t>calloc</a:t>
            </a:r>
            <a:r>
              <a:rPr lang="en-IN" sz="2400" b="1" dirty="0"/>
              <a:t>():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calloc</a:t>
            </a:r>
            <a:r>
              <a:rPr lang="en-US" sz="2400" dirty="0"/>
              <a:t>() function in C is used for dynamic memory allocation. It allocates memory for an </a:t>
            </a:r>
            <a:r>
              <a:rPr lang="en-US" sz="2400" b="1" dirty="0"/>
              <a:t>array of elements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initializes all bytes to zero</a:t>
            </a:r>
            <a:r>
              <a:rPr lang="en-US" sz="2400" dirty="0"/>
              <a:t>, and returns a </a:t>
            </a:r>
            <a:r>
              <a:rPr lang="en-US" sz="2400" b="1" dirty="0">
                <a:solidFill>
                  <a:srgbClr val="C00000"/>
                </a:solidFill>
              </a:rPr>
              <a:t>pointer</a:t>
            </a:r>
            <a:r>
              <a:rPr lang="en-US" sz="2400" dirty="0"/>
              <a:t> to the allocated memory.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Where:</a:t>
            </a:r>
          </a:p>
          <a:p>
            <a:r>
              <a:rPr lang="en-US" sz="2400" b="1" dirty="0"/>
              <a:t>num → </a:t>
            </a:r>
            <a:r>
              <a:rPr lang="en-US" sz="2400" b="1" dirty="0">
                <a:solidFill>
                  <a:srgbClr val="002060"/>
                </a:solidFill>
              </a:rPr>
              <a:t>Number of elements to allocate.</a:t>
            </a:r>
          </a:p>
          <a:p>
            <a:r>
              <a:rPr lang="en-US" sz="2400" b="1" dirty="0"/>
              <a:t>size → </a:t>
            </a:r>
            <a:r>
              <a:rPr lang="en-US" sz="2400" b="1" dirty="0">
                <a:solidFill>
                  <a:srgbClr val="002060"/>
                </a:solidFill>
              </a:rPr>
              <a:t>Size of each element in bytes</a:t>
            </a:r>
            <a:r>
              <a:rPr lang="en-US" sz="2400" dirty="0"/>
              <a:t>.</a:t>
            </a:r>
          </a:p>
          <a:p>
            <a:r>
              <a:rPr lang="en-US" sz="2400" b="1" dirty="0"/>
              <a:t>Returns → </a:t>
            </a:r>
            <a:r>
              <a:rPr lang="en-US" sz="2400" dirty="0"/>
              <a:t>A pointer to the allocated memory block, or </a:t>
            </a:r>
            <a:r>
              <a:rPr lang="en-US" sz="2400" b="1" dirty="0">
                <a:solidFill>
                  <a:srgbClr val="C00000"/>
                </a:solidFill>
              </a:rPr>
              <a:t>NULL</a:t>
            </a:r>
            <a:r>
              <a:rPr lang="en-US" sz="2400" dirty="0"/>
              <a:t> if memory allocation fails.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43A58-C5E6-FA9B-7237-CA7D2ED60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25" y="2447971"/>
            <a:ext cx="6728854" cy="98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57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Key Differences Between </a:t>
            </a:r>
            <a:r>
              <a:rPr lang="en-US" sz="2400" b="1" dirty="0">
                <a:solidFill>
                  <a:srgbClr val="C00000"/>
                </a:solidFill>
              </a:rPr>
              <a:t>malloc</a:t>
            </a:r>
            <a:r>
              <a:rPr lang="en-US" sz="2400" b="1" dirty="0"/>
              <a:t>() and </a:t>
            </a:r>
            <a:r>
              <a:rPr lang="en-US" sz="2400" b="1" dirty="0" err="1">
                <a:solidFill>
                  <a:srgbClr val="C00000"/>
                </a:solidFill>
              </a:rPr>
              <a:t>calloc</a:t>
            </a:r>
            <a:r>
              <a:rPr lang="en-US" sz="2400" b="1" dirty="0"/>
              <a:t>():</a:t>
            </a:r>
            <a:endParaRPr lang="en-IN" sz="24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20265C-3EAD-A084-0C19-BBFA753FE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245985"/>
              </p:ext>
            </p:extLst>
          </p:nvPr>
        </p:nvGraphicFramePr>
        <p:xfrm>
          <a:off x="777240" y="1251291"/>
          <a:ext cx="10739847" cy="50188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3674">
                  <a:extLst>
                    <a:ext uri="{9D8B030D-6E8A-4147-A177-3AD203B41FA5}">
                      <a16:colId xmlns:a16="http://schemas.microsoft.com/office/drawing/2014/main" val="2878482024"/>
                    </a:ext>
                  </a:extLst>
                </a:gridCol>
                <a:gridCol w="4332515">
                  <a:extLst>
                    <a:ext uri="{9D8B030D-6E8A-4147-A177-3AD203B41FA5}">
                      <a16:colId xmlns:a16="http://schemas.microsoft.com/office/drawing/2014/main" val="4127388300"/>
                    </a:ext>
                  </a:extLst>
                </a:gridCol>
                <a:gridCol w="4223658">
                  <a:extLst>
                    <a:ext uri="{9D8B030D-6E8A-4147-A177-3AD203B41FA5}">
                      <a16:colId xmlns:a16="http://schemas.microsoft.com/office/drawing/2014/main" val="1759175410"/>
                    </a:ext>
                  </a:extLst>
                </a:gridCol>
              </a:tblGrid>
              <a:tr h="6963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Feature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malloc()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calloc()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5807541"/>
                  </a:ext>
                </a:extLst>
              </a:tr>
              <a:tr h="6963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Initialization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solidFill>
                            <a:srgbClr val="C00000"/>
                          </a:solidFill>
                          <a:effectLst/>
                        </a:rPr>
                        <a:t>Does not initialize </a:t>
                      </a:r>
                      <a:r>
                        <a:rPr lang="en-US" sz="2400" kern="100" dirty="0">
                          <a:effectLst/>
                        </a:rPr>
                        <a:t>memory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Initializes memory to </a:t>
                      </a:r>
                      <a:r>
                        <a:rPr lang="en-US" sz="2400" b="1" kern="100" dirty="0">
                          <a:solidFill>
                            <a:srgbClr val="C00000"/>
                          </a:solidFill>
                          <a:effectLst/>
                        </a:rPr>
                        <a:t>zero</a:t>
                      </a:r>
                      <a:endParaRPr lang="en-US" sz="2400" b="1" kern="1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6651755"/>
                  </a:ext>
                </a:extLst>
              </a:tr>
              <a:tr h="6963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Parameters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Single argument </a:t>
                      </a:r>
                      <a:r>
                        <a:rPr lang="en-US" sz="2400" kern="100" dirty="0">
                          <a:effectLst/>
                        </a:rPr>
                        <a:t>(total bytes)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Two arguments </a:t>
                      </a:r>
                      <a:r>
                        <a:rPr lang="en-US" sz="2400" kern="100" dirty="0">
                          <a:effectLst/>
                        </a:rPr>
                        <a:t>(num &amp; size)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3926186"/>
                  </a:ext>
                </a:extLst>
              </a:tr>
              <a:tr h="8343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unga" panose="020B0502040204020203" pitchFamily="34" charset="0"/>
                        </a:rPr>
                        <a:t>Performance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unga" panose="020B0502040204020203" pitchFamily="34" charset="0"/>
                        </a:rPr>
                        <a:t>Slightly faster since it doesn’t initialize memory.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unga" panose="020B0502040204020203" pitchFamily="34" charset="0"/>
                        </a:rPr>
                        <a:t>Slightly slower due to zero initialization.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1025769"/>
                  </a:ext>
                </a:extLst>
              </a:tr>
              <a:tr h="12609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unga" panose="020B0502040204020203" pitchFamily="34" charset="0"/>
                        </a:rPr>
                        <a:t>Memory Usage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unga" panose="020B0502040204020203" pitchFamily="34" charset="0"/>
                        </a:rPr>
                        <a:t>May lead to uninitialized memory issues if not manually set.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unga" panose="020B0502040204020203" pitchFamily="34" charset="0"/>
                        </a:rPr>
                        <a:t>Safer as memory is pre-initialized to zero.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4631553"/>
                  </a:ext>
                </a:extLst>
              </a:tr>
              <a:tr h="8343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unga" panose="020B0502040204020203" pitchFamily="34" charset="0"/>
                        </a:rPr>
                        <a:t>Use Case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unga" panose="020B0502040204020203" pitchFamily="34" charset="0"/>
                        </a:rPr>
                        <a:t>Preferred when initialization isn’t required.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unga" panose="020B0502040204020203" pitchFamily="34" charset="0"/>
                        </a:rPr>
                        <a:t>Preferred when zero-initialized memory is needed.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2196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7198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5171" y="685800"/>
            <a:ext cx="3592285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 1: </a:t>
            </a:r>
          </a:p>
          <a:p>
            <a:pPr marL="0" indent="0">
              <a:buNone/>
            </a:pPr>
            <a:r>
              <a:rPr lang="en-US" sz="2400" dirty="0"/>
              <a:t>Allocating Memory for an </a:t>
            </a:r>
            <a:r>
              <a:rPr lang="en-US" sz="2400" b="1" dirty="0">
                <a:solidFill>
                  <a:srgbClr val="C00000"/>
                </a:solidFill>
              </a:rPr>
              <a:t>Integer</a:t>
            </a:r>
            <a:endParaRPr lang="en-IN" sz="24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A3C65-C282-FD15-2C9F-3D1AA3335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4" y="-7320"/>
            <a:ext cx="7979229" cy="686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73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3829" y="359229"/>
            <a:ext cx="5377542" cy="5519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Exampl-2: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/>
              <a:t>calloc</a:t>
            </a:r>
            <a:r>
              <a:rPr lang="en-US" sz="2400" dirty="0"/>
              <a:t>(n, </a:t>
            </a:r>
            <a:r>
              <a:rPr lang="en-US" sz="2400" dirty="0" err="1"/>
              <a:t>sizeof</a:t>
            </a:r>
            <a:r>
              <a:rPr lang="en-US" sz="2400" dirty="0"/>
              <a:t>(int)) allocates memory for </a:t>
            </a:r>
            <a:r>
              <a:rPr lang="en-US" sz="2400" b="1" dirty="0">
                <a:solidFill>
                  <a:srgbClr val="C00000"/>
                </a:solidFill>
              </a:rPr>
              <a:t>5 integers.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allocated memory is </a:t>
            </a:r>
            <a:r>
              <a:rPr lang="en-US" sz="2400" b="1" dirty="0">
                <a:solidFill>
                  <a:srgbClr val="C00000"/>
                </a:solidFill>
              </a:rPr>
              <a:t>initialized to zero.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 </a:t>
            </a:r>
            <a:r>
              <a:rPr lang="en-US" sz="2400" b="1" dirty="0"/>
              <a:t>NULL</a:t>
            </a:r>
            <a:r>
              <a:rPr lang="en-US" sz="2400" dirty="0"/>
              <a:t> </a:t>
            </a:r>
            <a:r>
              <a:rPr lang="en-US" sz="2400" b="1" dirty="0"/>
              <a:t>check</a:t>
            </a:r>
            <a:r>
              <a:rPr lang="en-US" sz="2400" dirty="0"/>
              <a:t> is performed to handle allocation failure.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values are printed (all should be 0).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C00000"/>
                </a:solidFill>
              </a:rPr>
              <a:t>free</a:t>
            </a:r>
            <a:r>
              <a:rPr lang="en-US" sz="2400" b="1" dirty="0"/>
              <a:t>(</a:t>
            </a:r>
            <a:r>
              <a:rPr lang="en-US" sz="2400" b="1" dirty="0" err="1"/>
              <a:t>arr</a:t>
            </a:r>
            <a:r>
              <a:rPr lang="en-US" sz="2400" b="1" dirty="0"/>
              <a:t>) </a:t>
            </a:r>
            <a:r>
              <a:rPr lang="en-US" sz="2400" dirty="0"/>
              <a:t>releases the allocated memory to prevent memory leaks.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Output:</a:t>
            </a:r>
            <a:endParaRPr lang="en-IN" sz="2400" b="1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1D3ED5B-D607-CB04-C2CE-236AD1F10C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6" b="8413"/>
          <a:stretch/>
        </p:blipFill>
        <p:spPr>
          <a:xfrm>
            <a:off x="-274973" y="0"/>
            <a:ext cx="7154744" cy="6882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FC7474-C2A5-7EF9-F4E8-4FB95E6CB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771" y="5613057"/>
            <a:ext cx="5028571" cy="8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974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66058"/>
            <a:ext cx="10659110" cy="56109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3. </a:t>
            </a:r>
            <a:r>
              <a:rPr lang="en-US" sz="2400" b="1" dirty="0" err="1"/>
              <a:t>realloc</a:t>
            </a:r>
            <a:r>
              <a:rPr lang="en-US" sz="2400" b="1" dirty="0"/>
              <a:t>(): 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realloc</a:t>
            </a:r>
            <a:r>
              <a:rPr lang="en-US" sz="2400" dirty="0"/>
              <a:t>() function in C is used to </a:t>
            </a:r>
            <a:r>
              <a:rPr lang="en-US" sz="2400" b="1" dirty="0">
                <a:solidFill>
                  <a:srgbClr val="C00000"/>
                </a:solidFill>
              </a:rPr>
              <a:t>resize a </a:t>
            </a:r>
            <a:r>
              <a:rPr lang="en-US" sz="2400" b="1" dirty="0">
                <a:solidFill>
                  <a:srgbClr val="002060"/>
                </a:solidFill>
              </a:rPr>
              <a:t>previously allocated memory block</a:t>
            </a:r>
            <a:r>
              <a:rPr lang="en-US" sz="2400" dirty="0"/>
              <a:t>. It allows you to </a:t>
            </a:r>
            <a:r>
              <a:rPr lang="en-US" sz="2400" b="1" dirty="0">
                <a:solidFill>
                  <a:srgbClr val="C00000"/>
                </a:solidFill>
              </a:rPr>
              <a:t>increase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decrease</a:t>
            </a:r>
            <a:r>
              <a:rPr lang="en-US" sz="2400" dirty="0"/>
              <a:t> the memory size while </a:t>
            </a:r>
            <a:r>
              <a:rPr lang="en-US" sz="2400" b="1" dirty="0">
                <a:solidFill>
                  <a:srgbClr val="002060"/>
                </a:solidFill>
              </a:rPr>
              <a:t>preserving the existing data.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Syntax:</a:t>
            </a: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/>
              <a:t>Where:</a:t>
            </a:r>
          </a:p>
          <a:p>
            <a:r>
              <a:rPr lang="en-US" sz="2400" b="1" dirty="0" err="1"/>
              <a:t>ptr</a:t>
            </a:r>
            <a:r>
              <a:rPr lang="en-US" sz="2400" b="1" dirty="0"/>
              <a:t> → </a:t>
            </a:r>
            <a:r>
              <a:rPr lang="en-US" sz="2400" dirty="0"/>
              <a:t>Pointer to the </a:t>
            </a:r>
            <a:r>
              <a:rPr lang="en-US" sz="2400" b="1" dirty="0">
                <a:solidFill>
                  <a:srgbClr val="C00000"/>
                </a:solidFill>
              </a:rPr>
              <a:t>previously allocated memory block </a:t>
            </a:r>
            <a:r>
              <a:rPr lang="en-US" sz="2400" dirty="0"/>
              <a:t>(malloc(), </a:t>
            </a:r>
            <a:r>
              <a:rPr lang="en-US" sz="2400" dirty="0" err="1"/>
              <a:t>calloc</a:t>
            </a:r>
            <a:r>
              <a:rPr lang="en-US" sz="2400" dirty="0"/>
              <a:t>(), or </a:t>
            </a:r>
            <a:r>
              <a:rPr lang="en-US" sz="2400" dirty="0" err="1"/>
              <a:t>realloc</a:t>
            </a:r>
            <a:r>
              <a:rPr lang="en-US" sz="2400" dirty="0"/>
              <a:t>()).</a:t>
            </a:r>
          </a:p>
          <a:p>
            <a:r>
              <a:rPr lang="en-US" sz="2400" b="1" dirty="0" err="1"/>
              <a:t>new_size</a:t>
            </a:r>
            <a:r>
              <a:rPr lang="en-US" sz="2400" b="1" dirty="0"/>
              <a:t> → </a:t>
            </a:r>
            <a:r>
              <a:rPr lang="en-US" sz="2400" dirty="0"/>
              <a:t>New size (in bytes) for the memory block.</a:t>
            </a:r>
          </a:p>
          <a:p>
            <a:r>
              <a:rPr lang="en-US" sz="2400" b="1" dirty="0"/>
              <a:t>Returns: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A pointer to the </a:t>
            </a:r>
            <a:r>
              <a:rPr lang="en-US" sz="2400" b="1" dirty="0">
                <a:solidFill>
                  <a:srgbClr val="C00000"/>
                </a:solidFill>
              </a:rPr>
              <a:t>newly allocated memory</a:t>
            </a:r>
            <a:r>
              <a:rPr lang="en-US" sz="24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NULL</a:t>
            </a:r>
            <a:r>
              <a:rPr lang="en-US" sz="2400" dirty="0"/>
              <a:t> if reallocation </a:t>
            </a:r>
            <a:r>
              <a:rPr lang="en-US" sz="2400" b="1" dirty="0"/>
              <a:t>fails</a:t>
            </a:r>
            <a:r>
              <a:rPr lang="en-US" sz="2400" dirty="0"/>
              <a:t> (original memory remains unchanged).</a:t>
            </a: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sz="2400" b="1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1A561-71C2-0F9E-4FFF-205C5A58C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228" y="2362199"/>
            <a:ext cx="6718049" cy="81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49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012371"/>
            <a:ext cx="10659110" cy="5164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How </a:t>
            </a:r>
            <a:r>
              <a:rPr lang="en-US" sz="2800" b="1" dirty="0" err="1"/>
              <a:t>realloc</a:t>
            </a:r>
            <a:r>
              <a:rPr lang="en-US" sz="2800" b="1" dirty="0"/>
              <a:t>() Works:</a:t>
            </a:r>
          </a:p>
          <a:p>
            <a:r>
              <a:rPr lang="en-US" sz="2800" dirty="0"/>
              <a:t>If </a:t>
            </a:r>
            <a:r>
              <a:rPr lang="en-US" sz="2800" b="1" dirty="0" err="1">
                <a:solidFill>
                  <a:srgbClr val="C00000"/>
                </a:solidFill>
              </a:rPr>
              <a:t>ptr</a:t>
            </a:r>
            <a:r>
              <a:rPr lang="en-US" sz="2800" b="1" dirty="0">
                <a:solidFill>
                  <a:srgbClr val="C00000"/>
                </a:solidFill>
              </a:rPr>
              <a:t> is NULL</a:t>
            </a:r>
            <a:r>
              <a:rPr lang="en-US" sz="2800" dirty="0"/>
              <a:t>, </a:t>
            </a:r>
            <a:r>
              <a:rPr lang="en-US" sz="2800" dirty="0" err="1"/>
              <a:t>realloc</a:t>
            </a:r>
            <a:r>
              <a:rPr lang="en-US" sz="2800" dirty="0"/>
              <a:t>() </a:t>
            </a:r>
            <a:r>
              <a:rPr lang="en-US" sz="2800" b="1" dirty="0">
                <a:solidFill>
                  <a:srgbClr val="002060"/>
                </a:solidFill>
              </a:rPr>
              <a:t>behaves like malloc</a:t>
            </a:r>
            <a:r>
              <a:rPr lang="en-US" sz="2800" dirty="0"/>
              <a:t>(), allocating a new memory block.</a:t>
            </a:r>
          </a:p>
          <a:p>
            <a:r>
              <a:rPr lang="en-US" sz="2800" dirty="0"/>
              <a:t>If </a:t>
            </a:r>
            <a:r>
              <a:rPr lang="en-US" sz="2800" b="1" dirty="0" err="1">
                <a:solidFill>
                  <a:srgbClr val="C00000"/>
                </a:solidFill>
              </a:rPr>
              <a:t>new_size</a:t>
            </a:r>
            <a:r>
              <a:rPr lang="en-US" sz="2800" b="1" dirty="0">
                <a:solidFill>
                  <a:srgbClr val="C00000"/>
                </a:solidFill>
              </a:rPr>
              <a:t> is 0</a:t>
            </a:r>
            <a:r>
              <a:rPr lang="en-US" sz="2800" dirty="0"/>
              <a:t>, </a:t>
            </a:r>
            <a:r>
              <a:rPr lang="en-US" sz="2800" dirty="0" err="1"/>
              <a:t>realloc</a:t>
            </a:r>
            <a:r>
              <a:rPr lang="en-US" sz="2800" dirty="0"/>
              <a:t>() </a:t>
            </a:r>
            <a:r>
              <a:rPr lang="en-US" sz="2800" b="1" dirty="0">
                <a:solidFill>
                  <a:srgbClr val="002060"/>
                </a:solidFill>
              </a:rPr>
              <a:t>behaves like free(</a:t>
            </a:r>
            <a:r>
              <a:rPr lang="en-US" sz="2800" b="1" dirty="0" err="1">
                <a:solidFill>
                  <a:srgbClr val="002060"/>
                </a:solidFill>
              </a:rPr>
              <a:t>ptr</a:t>
            </a:r>
            <a:r>
              <a:rPr lang="en-US" sz="2800" b="1" dirty="0">
                <a:solidFill>
                  <a:srgbClr val="002060"/>
                </a:solidFill>
              </a:rPr>
              <a:t>), </a:t>
            </a:r>
            <a:r>
              <a:rPr lang="en-US" sz="2800" dirty="0"/>
              <a:t>deallocating the memory.</a:t>
            </a:r>
          </a:p>
          <a:p>
            <a:r>
              <a:rPr lang="en-US" sz="2800" dirty="0"/>
              <a:t>If there is </a:t>
            </a:r>
            <a:r>
              <a:rPr lang="en-US" sz="2800" b="1" dirty="0">
                <a:solidFill>
                  <a:srgbClr val="C00000"/>
                </a:solidFill>
              </a:rPr>
              <a:t>enough space adjacent </a:t>
            </a:r>
            <a:r>
              <a:rPr lang="en-US" sz="2800" dirty="0"/>
              <a:t>to the current block, it is resized in-place.</a:t>
            </a:r>
          </a:p>
          <a:p>
            <a:r>
              <a:rPr lang="en-US" sz="2800" dirty="0"/>
              <a:t>If not, a new memory block is allocated, </a:t>
            </a:r>
            <a:r>
              <a:rPr lang="en-US" sz="2800" b="1" dirty="0">
                <a:solidFill>
                  <a:srgbClr val="C00000"/>
                </a:solidFill>
              </a:rPr>
              <a:t>old data is copied</a:t>
            </a:r>
            <a:r>
              <a:rPr lang="en-US" sz="2800" dirty="0"/>
              <a:t>, and the old block is freed.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364304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7256" y="968830"/>
            <a:ext cx="4811487" cy="5414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  <a:p>
            <a:pPr marL="0" indent="0">
              <a:buNone/>
            </a:pPr>
            <a:r>
              <a:rPr lang="en-IN" sz="2400" b="1" dirty="0"/>
              <a:t>Step-1: Allocating a memory dynamically for </a:t>
            </a:r>
            <a:r>
              <a:rPr lang="en-IN" sz="2400" b="1" dirty="0">
                <a:solidFill>
                  <a:srgbClr val="C00000"/>
                </a:solidFill>
              </a:rPr>
              <a:t>3 Elements.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1DB27F0-DB0C-5535-C640-A728767E76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0" t="4604" r="4640" b="4127"/>
          <a:stretch/>
        </p:blipFill>
        <p:spPr>
          <a:xfrm>
            <a:off x="1023257" y="0"/>
            <a:ext cx="6183086" cy="697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71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3685" y="1064418"/>
            <a:ext cx="4539344" cy="2593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Step-2: 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Re-Allocating</a:t>
            </a:r>
            <a:r>
              <a:rPr lang="en-IN" sz="2400" dirty="0"/>
              <a:t> the previously allocated memory by increasing the size by </a:t>
            </a:r>
            <a:r>
              <a:rPr lang="en-IN" sz="2400" b="1" dirty="0">
                <a:solidFill>
                  <a:srgbClr val="C00000"/>
                </a:solidFill>
              </a:rPr>
              <a:t>3 to 5 </a:t>
            </a:r>
            <a:r>
              <a:rPr lang="en-IN" sz="2400" dirty="0"/>
              <a:t>Elements.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Output:</a:t>
            </a: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0DB82F2-C12D-732D-A100-ACF1AB2ECB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t="4445" r="4033" b="4286"/>
          <a:stretch/>
        </p:blipFill>
        <p:spPr>
          <a:xfrm>
            <a:off x="-32658" y="0"/>
            <a:ext cx="6810292" cy="68688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645B8F-DA47-9EB7-DD33-A87C75DDB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085" y="3810066"/>
            <a:ext cx="4441144" cy="129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758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90600"/>
            <a:ext cx="10659110" cy="3624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Key Points About </a:t>
            </a:r>
            <a:r>
              <a:rPr lang="en-US" sz="2800" b="1" dirty="0" err="1"/>
              <a:t>realloc</a:t>
            </a:r>
            <a:r>
              <a:rPr lang="en-US" sz="2800" b="1" dirty="0"/>
              <a:t>():</a:t>
            </a:r>
          </a:p>
          <a:p>
            <a:pPr marL="0" indent="0">
              <a:buNone/>
            </a:pPr>
            <a:r>
              <a:rPr lang="en-US" sz="2800" dirty="0"/>
              <a:t>✔ If </a:t>
            </a:r>
            <a:r>
              <a:rPr lang="en-US" sz="2800" dirty="0" err="1"/>
              <a:t>realloc</a:t>
            </a:r>
            <a:r>
              <a:rPr lang="en-US" sz="2800" dirty="0"/>
              <a:t>() </a:t>
            </a:r>
            <a:r>
              <a:rPr lang="en-US" sz="2800" b="1" dirty="0">
                <a:solidFill>
                  <a:srgbClr val="C00000"/>
                </a:solidFill>
              </a:rPr>
              <a:t>moves memory to a new location</a:t>
            </a:r>
            <a:r>
              <a:rPr lang="en-US" sz="2800" dirty="0"/>
              <a:t>, the </a:t>
            </a:r>
            <a:r>
              <a:rPr lang="en-US" sz="2800" b="1" dirty="0"/>
              <a:t>old data remains intact (</a:t>
            </a:r>
            <a:r>
              <a:rPr lang="en-US" sz="2800" b="1" dirty="0">
                <a:solidFill>
                  <a:srgbClr val="C00000"/>
                </a:solidFill>
              </a:rPr>
              <a:t>not lost </a:t>
            </a:r>
            <a:r>
              <a:rPr lang="en-US" sz="2800" b="1" dirty="0"/>
              <a:t>) </a:t>
            </a:r>
            <a:r>
              <a:rPr lang="en-US" sz="2800" dirty="0"/>
              <a:t>but </a:t>
            </a:r>
            <a:r>
              <a:rPr lang="en-US" sz="2800" b="1" dirty="0">
                <a:solidFill>
                  <a:srgbClr val="C00000"/>
                </a:solidFill>
              </a:rPr>
              <a:t>copying takes time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sz="2800" dirty="0"/>
              <a:t>✔ If </a:t>
            </a:r>
            <a:r>
              <a:rPr lang="en-US" sz="2800" b="1" dirty="0"/>
              <a:t>expansion happens in place</a:t>
            </a:r>
            <a:r>
              <a:rPr lang="en-US" sz="2800" dirty="0"/>
              <a:t>, it's more efficient.</a:t>
            </a:r>
          </a:p>
          <a:p>
            <a:pPr marL="0" indent="0">
              <a:buNone/>
            </a:pPr>
            <a:r>
              <a:rPr lang="en-US" sz="2800" dirty="0"/>
              <a:t>✔ Always check if </a:t>
            </a:r>
            <a:r>
              <a:rPr lang="en-US" sz="2800" dirty="0" err="1"/>
              <a:t>realloc</a:t>
            </a:r>
            <a:r>
              <a:rPr lang="en-US" sz="2800" dirty="0"/>
              <a:t>() returns </a:t>
            </a:r>
            <a:r>
              <a:rPr lang="en-US" sz="2800" b="1" dirty="0"/>
              <a:t>NULL</a:t>
            </a:r>
            <a:r>
              <a:rPr lang="en-US" sz="2800" dirty="0"/>
              <a:t> before using the new pointer.</a:t>
            </a:r>
          </a:p>
          <a:p>
            <a:pPr marL="0" indent="0">
              <a:buNone/>
            </a:pPr>
            <a:r>
              <a:rPr lang="en-US" sz="2800" dirty="0"/>
              <a:t>✔ </a:t>
            </a:r>
            <a:r>
              <a:rPr lang="en-US" sz="2800" b="1" dirty="0"/>
              <a:t>free(</a:t>
            </a:r>
            <a:r>
              <a:rPr lang="en-US" sz="2800" b="1" dirty="0" err="1"/>
              <a:t>ptr</a:t>
            </a:r>
            <a:r>
              <a:rPr lang="en-US" sz="2800" b="1" dirty="0"/>
              <a:t>) </a:t>
            </a:r>
            <a:r>
              <a:rPr lang="en-US" sz="2800" dirty="0"/>
              <a:t>should always be used to release allocated memory.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50567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4. </a:t>
            </a:r>
            <a:r>
              <a:rPr lang="en-US" sz="2400" b="1" dirty="0"/>
              <a:t>free():</a:t>
            </a:r>
          </a:p>
          <a:p>
            <a:pPr marL="0" indent="0">
              <a:buNone/>
            </a:pPr>
            <a:r>
              <a:rPr lang="en-US" sz="2400" dirty="0"/>
              <a:t>The free() function is used to </a:t>
            </a:r>
            <a:r>
              <a:rPr lang="en-US" sz="2400" b="1" dirty="0">
                <a:solidFill>
                  <a:srgbClr val="C00000"/>
                </a:solidFill>
              </a:rPr>
              <a:t>deallocate</a:t>
            </a:r>
            <a:r>
              <a:rPr lang="en-US" sz="2400" b="1" dirty="0"/>
              <a:t> dynamically allocated memory </a:t>
            </a:r>
            <a:r>
              <a:rPr lang="en-US" sz="2400" dirty="0"/>
              <a:t>in C. It frees up the memory that was </a:t>
            </a:r>
            <a:r>
              <a:rPr lang="en-US" sz="2400" b="1" dirty="0"/>
              <a:t>previously allocated </a:t>
            </a:r>
            <a:r>
              <a:rPr lang="en-US" sz="2400" dirty="0"/>
              <a:t>using </a:t>
            </a:r>
            <a:r>
              <a:rPr lang="en-US" sz="2400" b="1" dirty="0">
                <a:solidFill>
                  <a:srgbClr val="C00000"/>
                </a:solidFill>
              </a:rPr>
              <a:t>malloc</a:t>
            </a:r>
            <a:r>
              <a:rPr lang="en-US" sz="2400" dirty="0"/>
              <a:t>(), </a:t>
            </a:r>
            <a:r>
              <a:rPr lang="en-US" sz="2400" b="1" dirty="0" err="1">
                <a:solidFill>
                  <a:srgbClr val="C00000"/>
                </a:solidFill>
              </a:rPr>
              <a:t>calloc</a:t>
            </a:r>
            <a:r>
              <a:rPr lang="en-US" sz="2400" dirty="0"/>
              <a:t>(), or </a:t>
            </a:r>
            <a:r>
              <a:rPr lang="en-US" sz="2400" b="1" dirty="0" err="1">
                <a:solidFill>
                  <a:srgbClr val="C00000"/>
                </a:solidFill>
              </a:rPr>
              <a:t>realloc</a:t>
            </a:r>
            <a:r>
              <a:rPr lang="en-US" sz="2400" dirty="0"/>
              <a:t>(), making it available for future use.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Where:</a:t>
            </a:r>
          </a:p>
          <a:p>
            <a:r>
              <a:rPr lang="en-US" sz="2400" dirty="0" err="1"/>
              <a:t>ptr</a:t>
            </a:r>
            <a:r>
              <a:rPr lang="en-US" sz="2400" dirty="0"/>
              <a:t> is a </a:t>
            </a:r>
            <a:r>
              <a:rPr lang="en-US" sz="2400" b="1" dirty="0">
                <a:solidFill>
                  <a:srgbClr val="C00000"/>
                </a:solidFill>
              </a:rPr>
              <a:t>pointer to </a:t>
            </a:r>
            <a:r>
              <a:rPr lang="en-US" sz="2400" dirty="0"/>
              <a:t>the dynamically allocated memory that needs to be freed.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17F97-BE53-3311-9A0F-621288D82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867" y="3118799"/>
            <a:ext cx="4429968" cy="87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33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26" y="1055914"/>
            <a:ext cx="10659110" cy="4147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Key Points About free()</a:t>
            </a:r>
          </a:p>
          <a:p>
            <a:pPr marL="0" indent="0">
              <a:buNone/>
            </a:pPr>
            <a:r>
              <a:rPr lang="en-US" sz="2800" dirty="0"/>
              <a:t>✔ Prevents </a:t>
            </a:r>
            <a:r>
              <a:rPr lang="en-US" sz="2800" b="1" dirty="0">
                <a:solidFill>
                  <a:srgbClr val="C00000"/>
                </a:solidFill>
              </a:rPr>
              <a:t>memory leaks </a:t>
            </a:r>
            <a:r>
              <a:rPr lang="en-US" sz="2800" dirty="0"/>
              <a:t>by releasing allocated memory when it's no longer needed.</a:t>
            </a:r>
          </a:p>
          <a:p>
            <a:pPr marL="0" indent="0">
              <a:buNone/>
            </a:pPr>
            <a:r>
              <a:rPr lang="en-US" sz="2800" dirty="0"/>
              <a:t>✔ After calling free(</a:t>
            </a:r>
            <a:r>
              <a:rPr lang="en-US" sz="2800" dirty="0" err="1"/>
              <a:t>ptr</a:t>
            </a:r>
            <a:r>
              <a:rPr lang="en-US" sz="2800" dirty="0"/>
              <a:t>), the pointer still exists but the memory it pointed to is returned to the system.</a:t>
            </a:r>
          </a:p>
          <a:p>
            <a:pPr marL="0" indent="0">
              <a:buNone/>
            </a:pPr>
            <a:r>
              <a:rPr lang="en-US" sz="2800" dirty="0"/>
              <a:t>✔ It is a good practice to </a:t>
            </a:r>
            <a:r>
              <a:rPr lang="en-US" sz="2800" b="1" dirty="0">
                <a:solidFill>
                  <a:srgbClr val="C00000"/>
                </a:solidFill>
              </a:rPr>
              <a:t>set the pointer to NULL </a:t>
            </a:r>
            <a:r>
              <a:rPr lang="en-US" sz="2800" dirty="0"/>
              <a:t>after freeing to avoid </a:t>
            </a:r>
            <a:r>
              <a:rPr lang="en-US" sz="2800" b="1" dirty="0">
                <a:solidFill>
                  <a:srgbClr val="C00000"/>
                </a:solidFill>
              </a:rPr>
              <a:t>dangling pointers.</a:t>
            </a:r>
          </a:p>
          <a:p>
            <a:pPr marL="0" indent="0">
              <a:buNone/>
            </a:pPr>
            <a:r>
              <a:rPr lang="en-US" sz="2800" dirty="0"/>
              <a:t>✔ Calling free() on a NULL pointer is </a:t>
            </a:r>
            <a:r>
              <a:rPr lang="en-US" sz="2800" b="1" dirty="0">
                <a:solidFill>
                  <a:srgbClr val="C00000"/>
                </a:solidFill>
              </a:rPr>
              <a:t>safe</a:t>
            </a:r>
            <a:r>
              <a:rPr lang="en-US" sz="2800" dirty="0"/>
              <a:t> and has no effect.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942898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83CA6-9205-5573-D476-17BBAC8E6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037" y="1882657"/>
            <a:ext cx="7243139" cy="201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153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typedef:</a:t>
            </a:r>
          </a:p>
          <a:p>
            <a:pPr marL="0" indent="0">
              <a:buNone/>
            </a:pPr>
            <a:r>
              <a:rPr lang="en-US" sz="2400" dirty="0"/>
              <a:t>The typedef </a:t>
            </a:r>
            <a:r>
              <a:rPr lang="en-US" sz="2400" b="1" dirty="0">
                <a:solidFill>
                  <a:srgbClr val="C00000"/>
                </a:solidFill>
              </a:rPr>
              <a:t>keyword</a:t>
            </a:r>
            <a:r>
              <a:rPr lang="en-US" sz="2400" dirty="0"/>
              <a:t> in C is used to </a:t>
            </a:r>
            <a:r>
              <a:rPr lang="en-US" sz="2400" b="1" dirty="0"/>
              <a:t>create an </a:t>
            </a:r>
            <a:r>
              <a:rPr lang="en-US" sz="2400" b="1" dirty="0">
                <a:solidFill>
                  <a:srgbClr val="C00000"/>
                </a:solidFill>
              </a:rPr>
              <a:t>alias</a:t>
            </a:r>
            <a:r>
              <a:rPr lang="en-US" sz="2400" b="1" dirty="0"/>
              <a:t> </a:t>
            </a:r>
            <a:r>
              <a:rPr lang="en-US" sz="2400" dirty="0"/>
              <a:t>(</a:t>
            </a:r>
            <a:r>
              <a:rPr lang="en-US" sz="2400" b="1" dirty="0"/>
              <a:t>alternative name</a:t>
            </a:r>
            <a:r>
              <a:rPr lang="en-US" sz="2400" dirty="0"/>
              <a:t>) for a </a:t>
            </a:r>
            <a:r>
              <a:rPr lang="en-US" sz="2400" b="1" dirty="0">
                <a:solidFill>
                  <a:srgbClr val="C00000"/>
                </a:solidFill>
              </a:rPr>
              <a:t>data type</a:t>
            </a:r>
            <a:r>
              <a:rPr lang="en-US" sz="2400" dirty="0"/>
              <a:t>, making the code more </a:t>
            </a:r>
            <a:r>
              <a:rPr lang="en-US" sz="2400" b="1" dirty="0"/>
              <a:t>readable</a:t>
            </a:r>
            <a:r>
              <a:rPr lang="en-US" sz="2400" dirty="0"/>
              <a:t> and </a:t>
            </a:r>
            <a:r>
              <a:rPr lang="en-US" sz="2400" b="1" dirty="0"/>
              <a:t>easier</a:t>
            </a:r>
            <a:r>
              <a:rPr lang="en-US" sz="2400" dirty="0"/>
              <a:t> to maintain.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IN" sz="2400" b="1" dirty="0"/>
          </a:p>
          <a:p>
            <a:r>
              <a:rPr lang="en-US" sz="2400" b="1" dirty="0" err="1"/>
              <a:t>existing_datatype</a:t>
            </a:r>
            <a:r>
              <a:rPr lang="en-US" sz="2400" b="1" dirty="0"/>
              <a:t> →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original</a:t>
            </a:r>
            <a:r>
              <a:rPr lang="en-US" sz="2400" dirty="0"/>
              <a:t> data type.</a:t>
            </a:r>
          </a:p>
          <a:p>
            <a:r>
              <a:rPr lang="en-US" sz="2400" b="1" dirty="0" err="1"/>
              <a:t>new_alias</a:t>
            </a:r>
            <a:r>
              <a:rPr lang="en-US" sz="2400" b="1" dirty="0"/>
              <a:t> →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new name </a:t>
            </a:r>
            <a:r>
              <a:rPr lang="en-US" sz="2400" dirty="0"/>
              <a:t>(alias) for the data type.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2A085-A5CF-6BFB-A1FF-6A5566FBFC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27"/>
          <a:stretch/>
        </p:blipFill>
        <p:spPr>
          <a:xfrm>
            <a:off x="2167266" y="2514599"/>
            <a:ext cx="7230793" cy="91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47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typedef with </a:t>
            </a:r>
            <a:r>
              <a:rPr lang="en-US" sz="2400" b="1" dirty="0">
                <a:solidFill>
                  <a:srgbClr val="C00000"/>
                </a:solidFill>
              </a:rPr>
              <a:t>Basic</a:t>
            </a:r>
            <a:r>
              <a:rPr lang="en-US" sz="2400" b="1" dirty="0"/>
              <a:t> Data Types</a:t>
            </a:r>
          </a:p>
          <a:p>
            <a:pPr marL="0" indent="0">
              <a:buNone/>
            </a:pPr>
            <a:r>
              <a:rPr lang="en-US" sz="2400" dirty="0"/>
              <a:t>We can use typedef to create aliases for standard data types like </a:t>
            </a:r>
            <a:r>
              <a:rPr lang="en-US" sz="2400" b="1" dirty="0">
                <a:solidFill>
                  <a:srgbClr val="C00000"/>
                </a:solidFill>
              </a:rPr>
              <a:t>int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float</a:t>
            </a:r>
            <a:r>
              <a:rPr lang="en-US" sz="2400" dirty="0"/>
              <a:t>, etc.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Example: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06DA60-B838-2736-43BA-D4336513C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523" y="2772200"/>
            <a:ext cx="9466667" cy="3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98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typedef with </a:t>
            </a:r>
            <a:r>
              <a:rPr lang="en-US" sz="2400" b="1" dirty="0">
                <a:solidFill>
                  <a:srgbClr val="C00000"/>
                </a:solidFill>
              </a:rPr>
              <a:t>struct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r>
              <a:rPr lang="en-US" sz="2400" dirty="0"/>
              <a:t>When defining struct, we normally have to use the struct keyword every time. </a:t>
            </a:r>
            <a:r>
              <a:rPr lang="en-US" sz="2400" b="1" dirty="0">
                <a:solidFill>
                  <a:srgbClr val="C00000"/>
                </a:solidFill>
              </a:rPr>
              <a:t>typedef</a:t>
            </a:r>
            <a:r>
              <a:rPr lang="en-US" sz="2400" dirty="0"/>
              <a:t> </a:t>
            </a:r>
            <a:r>
              <a:rPr lang="en-US" sz="2400" b="1" dirty="0"/>
              <a:t>simplifies this.</a:t>
            </a:r>
          </a:p>
          <a:p>
            <a:pPr marL="0" indent="0">
              <a:buNone/>
            </a:pPr>
            <a:r>
              <a:rPr lang="en-US" sz="2400" b="1" dirty="0"/>
              <a:t>Without typedef: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0927E-3782-C5E1-F55E-DC9357B15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609" y="2486486"/>
            <a:ext cx="8352381" cy="3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218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With typedef: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261D1-8B12-E702-B905-EBEE26125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113" y="893999"/>
            <a:ext cx="6895715" cy="527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614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3. typedef with Pointers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F6688-54EE-3672-57D7-19C33769C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028" y="1416743"/>
            <a:ext cx="10069648" cy="43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25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526867"/>
            <a:ext cx="10659110" cy="5584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Union:</a:t>
            </a:r>
          </a:p>
          <a:p>
            <a:r>
              <a:rPr lang="en-US" sz="2400" dirty="0"/>
              <a:t>A </a:t>
            </a:r>
            <a:r>
              <a:rPr lang="en-US" sz="2400" b="1" dirty="0"/>
              <a:t>union</a:t>
            </a:r>
            <a:r>
              <a:rPr lang="en-US" sz="2400" dirty="0"/>
              <a:t> in C is a user-defined data type similar to a </a:t>
            </a:r>
            <a:r>
              <a:rPr lang="en-US" sz="2400" b="1" dirty="0"/>
              <a:t>structure</a:t>
            </a:r>
            <a:r>
              <a:rPr lang="en-US" sz="2400" dirty="0"/>
              <a:t>, but with a key difference: </a:t>
            </a:r>
            <a:r>
              <a:rPr lang="en-US" sz="2400" b="1" dirty="0"/>
              <a:t>all members of a union share the same memory space.</a:t>
            </a:r>
            <a:r>
              <a:rPr lang="en-US" sz="2400" dirty="0"/>
              <a:t> This means that a union can store </a:t>
            </a:r>
            <a:r>
              <a:rPr lang="en-US" sz="2400" b="1" dirty="0">
                <a:solidFill>
                  <a:srgbClr val="C00000"/>
                </a:solidFill>
              </a:rPr>
              <a:t>only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one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value</a:t>
            </a:r>
            <a:r>
              <a:rPr lang="en-US" sz="2400" dirty="0"/>
              <a:t> at a time for all its members. The size of a union is determined by the </a:t>
            </a:r>
            <a:r>
              <a:rPr lang="en-US" sz="2400" b="1" dirty="0">
                <a:solidFill>
                  <a:srgbClr val="C00000"/>
                </a:solidFill>
              </a:rPr>
              <a:t>size of its largest member</a:t>
            </a:r>
            <a:r>
              <a:rPr lang="en-US" sz="2400" dirty="0"/>
              <a:t>.</a:t>
            </a:r>
          </a:p>
          <a:p>
            <a:r>
              <a:rPr lang="en-US" sz="2400" dirty="0"/>
              <a:t>Unions are useful when you want to store different types of data in the same memory location, but only one piece of data is active at a time.</a:t>
            </a:r>
          </a:p>
          <a:p>
            <a:pPr marL="0" indent="0">
              <a:buNone/>
            </a:pPr>
            <a:r>
              <a:rPr lang="en-IN" sz="2400" b="1" dirty="0"/>
              <a:t>Syntax:					Example: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1A9FD-D66A-76F6-7D3F-2C572093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990" y="3776458"/>
            <a:ext cx="4890010" cy="2554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620578-2BEA-D5B2-7488-BDCEA533A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784" y="3776458"/>
            <a:ext cx="3661134" cy="257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85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652E-7AF8-6D38-14F9-F897F510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2F45-A01A-CF4B-64B3-A9538155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94956"/>
            <a:ext cx="10659110" cy="5584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Features of Union: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Shared Memory: </a:t>
            </a:r>
            <a:r>
              <a:rPr lang="en-US" sz="2400" dirty="0"/>
              <a:t>All members share the </a:t>
            </a:r>
            <a:r>
              <a:rPr lang="en-US" sz="2400" b="1" dirty="0">
                <a:solidFill>
                  <a:srgbClr val="C00000"/>
                </a:solidFill>
              </a:rPr>
              <a:t>same memory location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Overwriting: </a:t>
            </a:r>
            <a:r>
              <a:rPr lang="en-US" sz="2400" dirty="0"/>
              <a:t>Writing to one member </a:t>
            </a:r>
            <a:r>
              <a:rPr lang="en-US" sz="2400" b="1" dirty="0">
                <a:solidFill>
                  <a:srgbClr val="C00000"/>
                </a:solidFill>
              </a:rPr>
              <a:t>overwrites</a:t>
            </a:r>
            <a:r>
              <a:rPr lang="en-US" sz="2400" dirty="0"/>
              <a:t> the </a:t>
            </a:r>
            <a:r>
              <a:rPr lang="en-US" sz="2400" b="1" dirty="0"/>
              <a:t>values</a:t>
            </a:r>
            <a:r>
              <a:rPr lang="en-US" sz="2400" dirty="0"/>
              <a:t> </a:t>
            </a:r>
            <a:r>
              <a:rPr lang="en-US" sz="2400" b="1" dirty="0"/>
              <a:t>of</a:t>
            </a:r>
            <a:r>
              <a:rPr lang="en-US" sz="2400" dirty="0"/>
              <a:t> a</a:t>
            </a:r>
            <a:r>
              <a:rPr lang="en-US" sz="2400" b="1" dirty="0"/>
              <a:t>l</a:t>
            </a:r>
            <a:r>
              <a:rPr lang="en-US" sz="2400" dirty="0"/>
              <a:t>l </a:t>
            </a:r>
            <a:r>
              <a:rPr lang="en-US" sz="2400" b="1" dirty="0"/>
              <a:t>other</a:t>
            </a:r>
            <a:r>
              <a:rPr lang="en-US" sz="2400" dirty="0"/>
              <a:t> </a:t>
            </a:r>
            <a:r>
              <a:rPr lang="en-US" sz="2400" b="1" dirty="0"/>
              <a:t>members</a:t>
            </a:r>
            <a:r>
              <a:rPr lang="en-US" sz="2400" dirty="0"/>
              <a:t>.</a:t>
            </a:r>
          </a:p>
          <a:p>
            <a:pPr marL="457200" lvl="1" indent="0">
              <a:buNone/>
            </a:pPr>
            <a:r>
              <a:rPr lang="en-US" sz="2400" dirty="0"/>
              <a:t>When you write to one member of a union, the previous values of all other members are lost because all members of the union share the same memory location. Writing a new value </a:t>
            </a:r>
            <a:r>
              <a:rPr lang="en-US" sz="2400" b="1" dirty="0">
                <a:solidFill>
                  <a:srgbClr val="C00000"/>
                </a:solidFill>
              </a:rPr>
              <a:t>overwrites the shared memory</a:t>
            </a:r>
            <a:r>
              <a:rPr lang="en-US" sz="2400" dirty="0"/>
              <a:t>, making the previous values of other members </a:t>
            </a:r>
            <a:r>
              <a:rPr lang="en-US" sz="2400" b="1" dirty="0"/>
              <a:t>inaccessible</a:t>
            </a:r>
            <a:r>
              <a:rPr lang="en-US" sz="2400" dirty="0"/>
              <a:t> or </a:t>
            </a:r>
            <a:r>
              <a:rPr lang="en-US" sz="2400" b="1" dirty="0"/>
              <a:t>unpredictable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Unpredictable Results: </a:t>
            </a:r>
            <a:r>
              <a:rPr lang="en-US" sz="2400" dirty="0"/>
              <a:t>Accessing a member after another member has been modified results in </a:t>
            </a:r>
            <a:r>
              <a:rPr lang="en-US" sz="2400" b="1" dirty="0">
                <a:solidFill>
                  <a:srgbClr val="C00000"/>
                </a:solidFill>
              </a:rPr>
              <a:t>garbage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rgbClr val="C00000"/>
                </a:solidFill>
              </a:rPr>
              <a:t>undefined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values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33783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611" y="9144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Example: Union for Student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383AD-CF34-B22F-FBFF-643491B4A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85" y="1524238"/>
            <a:ext cx="6171429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9135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2030" y="685800"/>
            <a:ext cx="391432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Output:</a:t>
            </a: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76099-2EB7-3975-F081-EA824A7E3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459" y="1492913"/>
            <a:ext cx="4257143" cy="33714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CF4BF80-FF15-5CFB-ED53-24D4C713DE63}"/>
              </a:ext>
            </a:extLst>
          </p:cNvPr>
          <p:cNvGrpSpPr/>
          <p:nvPr/>
        </p:nvGrpSpPr>
        <p:grpSpPr>
          <a:xfrm>
            <a:off x="0" y="0"/>
            <a:ext cx="7303770" cy="6858000"/>
            <a:chOff x="0" y="0"/>
            <a:chExt cx="730377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F590001-FD48-7588-FFEA-5D285FD0F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7303770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17B031-2590-1F0B-BC4E-34C1367DF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8552" y="6259286"/>
              <a:ext cx="1123810" cy="598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65796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682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Explanation</a:t>
            </a:r>
          </a:p>
          <a:p>
            <a:r>
              <a:rPr lang="en-US" sz="2400" dirty="0"/>
              <a:t>Only </a:t>
            </a:r>
            <a:r>
              <a:rPr lang="en-US" sz="2400" b="1" dirty="0"/>
              <a:t>one member can store </a:t>
            </a:r>
            <a:r>
              <a:rPr lang="en-US" sz="2400" dirty="0"/>
              <a:t>data at a time because all members </a:t>
            </a:r>
            <a:r>
              <a:rPr lang="en-US" sz="2400" b="1" dirty="0">
                <a:solidFill>
                  <a:srgbClr val="C00000"/>
                </a:solidFill>
              </a:rPr>
              <a:t>share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b="1" dirty="0"/>
              <a:t>same memory.</a:t>
            </a:r>
          </a:p>
          <a:p>
            <a:r>
              <a:rPr lang="en-US" sz="2400" dirty="0"/>
              <a:t>Initially, we set </a:t>
            </a:r>
            <a:r>
              <a:rPr lang="en-US" sz="2400" dirty="0" err="1"/>
              <a:t>roll_no</a:t>
            </a:r>
            <a:r>
              <a:rPr lang="en-US" sz="2400" dirty="0"/>
              <a:t> = 101, but when marks = 85.5 is assigned, </a:t>
            </a:r>
            <a:r>
              <a:rPr lang="en-US" sz="2400" b="1" dirty="0" err="1"/>
              <a:t>roll_no</a:t>
            </a:r>
            <a:r>
              <a:rPr lang="en-US" sz="2400" b="1" dirty="0"/>
              <a:t> gets </a:t>
            </a:r>
            <a:r>
              <a:rPr lang="en-US" sz="2400" b="1" dirty="0">
                <a:solidFill>
                  <a:srgbClr val="C00000"/>
                </a:solidFill>
              </a:rPr>
              <a:t>overwritten</a:t>
            </a:r>
            <a:r>
              <a:rPr lang="en-US" sz="2400" b="1" dirty="0"/>
              <a:t>.</a:t>
            </a:r>
          </a:p>
          <a:p>
            <a:r>
              <a:rPr lang="en-US" sz="2400" dirty="0"/>
              <a:t>When we copy the string "Pramod" to name, the previous values (</a:t>
            </a:r>
            <a:r>
              <a:rPr lang="en-US" sz="2400" dirty="0" err="1"/>
              <a:t>roll_no</a:t>
            </a:r>
            <a:r>
              <a:rPr lang="en-US" sz="2400" dirty="0"/>
              <a:t> and marks) become </a:t>
            </a:r>
            <a:r>
              <a:rPr lang="en-US" sz="2400" b="1" dirty="0">
                <a:solidFill>
                  <a:srgbClr val="C00000"/>
                </a:solidFill>
              </a:rPr>
              <a:t>invalid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When to Use Union for Student?</a:t>
            </a:r>
          </a:p>
          <a:p>
            <a:r>
              <a:rPr lang="en-US" sz="2400" dirty="0"/>
              <a:t>If a student record requires </a:t>
            </a:r>
            <a:r>
              <a:rPr lang="en-US" sz="2400" b="1" dirty="0">
                <a:solidFill>
                  <a:srgbClr val="C00000"/>
                </a:solidFill>
              </a:rPr>
              <a:t>either</a:t>
            </a:r>
            <a:r>
              <a:rPr lang="en-US" sz="2400" dirty="0"/>
              <a:t> a </a:t>
            </a:r>
            <a:r>
              <a:rPr lang="en-US" sz="2400" b="1" dirty="0"/>
              <a:t>roll</a:t>
            </a:r>
            <a:r>
              <a:rPr lang="en-US" sz="2400" dirty="0"/>
              <a:t> </a:t>
            </a:r>
            <a:r>
              <a:rPr lang="en-US" sz="2400" b="1" dirty="0"/>
              <a:t>number</a:t>
            </a:r>
            <a:r>
              <a:rPr lang="en-US" sz="2400" dirty="0"/>
              <a:t>, </a:t>
            </a:r>
            <a:r>
              <a:rPr lang="en-US" sz="2400" b="1" dirty="0"/>
              <a:t>marks</a:t>
            </a:r>
            <a:r>
              <a:rPr lang="en-US" sz="2400" dirty="0"/>
              <a:t>, or </a:t>
            </a:r>
            <a:r>
              <a:rPr lang="en-US" sz="2400" b="1" dirty="0"/>
              <a:t>name</a:t>
            </a:r>
            <a:r>
              <a:rPr lang="en-US" sz="2400" dirty="0"/>
              <a:t> at a time, unions help </a:t>
            </a:r>
            <a:r>
              <a:rPr lang="en-US" sz="2400" b="1" dirty="0">
                <a:solidFill>
                  <a:srgbClr val="C00000"/>
                </a:solidFill>
              </a:rPr>
              <a:t>save memory</a:t>
            </a:r>
            <a:r>
              <a:rPr lang="en-US" sz="2400" dirty="0"/>
              <a:t>.</a:t>
            </a:r>
          </a:p>
          <a:p>
            <a:r>
              <a:rPr lang="en-US" sz="2400" dirty="0"/>
              <a:t>If you need to store all values simultaneously, a structure (struct) is a better choice.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736432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Linked List in C:</a:t>
            </a:r>
          </a:p>
          <a:p>
            <a:pPr marL="0" indent="0">
              <a:buNone/>
            </a:pPr>
            <a:r>
              <a:rPr lang="en-US" sz="2800" dirty="0"/>
              <a:t>A linked list is a </a:t>
            </a:r>
            <a:r>
              <a:rPr lang="en-US" sz="2800" b="1" dirty="0">
                <a:solidFill>
                  <a:srgbClr val="C00000"/>
                </a:solidFill>
              </a:rPr>
              <a:t>linear data structure </a:t>
            </a:r>
            <a:r>
              <a:rPr lang="en-US" sz="2800" dirty="0"/>
              <a:t>where </a:t>
            </a:r>
            <a:r>
              <a:rPr lang="en-US" sz="2800" b="1" dirty="0"/>
              <a:t>elements</a:t>
            </a:r>
            <a:r>
              <a:rPr lang="en-US" sz="2800" dirty="0"/>
              <a:t> (</a:t>
            </a:r>
            <a:r>
              <a:rPr lang="en-US" sz="2800" b="1" dirty="0">
                <a:solidFill>
                  <a:srgbClr val="C00000"/>
                </a:solidFill>
              </a:rPr>
              <a:t>nodes</a:t>
            </a:r>
            <a:r>
              <a:rPr lang="en-US" sz="2800" dirty="0"/>
              <a:t>) are stored in memory </a:t>
            </a:r>
            <a:r>
              <a:rPr lang="en-US" sz="2800" b="1" dirty="0">
                <a:solidFill>
                  <a:srgbClr val="002060"/>
                </a:solidFill>
              </a:rPr>
              <a:t>dynamically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002060"/>
                </a:solidFill>
              </a:rPr>
              <a:t>linked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2060"/>
                </a:solidFill>
              </a:rPr>
              <a:t>using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2060"/>
                </a:solidFill>
              </a:rPr>
              <a:t>pointers</a:t>
            </a:r>
            <a:r>
              <a:rPr lang="en-US" sz="2800" dirty="0"/>
              <a:t>. Unlike arrays, linked lists </a:t>
            </a:r>
            <a:r>
              <a:rPr lang="en-US" sz="2800" b="1" dirty="0">
                <a:solidFill>
                  <a:srgbClr val="C00000"/>
                </a:solidFill>
              </a:rPr>
              <a:t>do not require </a:t>
            </a:r>
            <a:r>
              <a:rPr lang="en-US" sz="2800" b="1" dirty="0"/>
              <a:t>contiguous memory locations </a:t>
            </a:r>
            <a:r>
              <a:rPr lang="en-US" sz="2800" dirty="0"/>
              <a:t>and can </a:t>
            </a:r>
            <a:r>
              <a:rPr lang="en-US" sz="2800" b="1" dirty="0">
                <a:solidFill>
                  <a:srgbClr val="C00000"/>
                </a:solidFill>
              </a:rPr>
              <a:t>grow</a:t>
            </a:r>
            <a:r>
              <a:rPr lang="en-US" sz="2800" dirty="0"/>
              <a:t> or </a:t>
            </a:r>
            <a:r>
              <a:rPr lang="en-US" sz="2800" b="1" dirty="0">
                <a:solidFill>
                  <a:srgbClr val="C00000"/>
                </a:solidFill>
              </a:rPr>
              <a:t>shrink</a:t>
            </a:r>
            <a:r>
              <a:rPr lang="en-US" sz="2800" dirty="0"/>
              <a:t> </a:t>
            </a:r>
            <a:r>
              <a:rPr lang="en-US" sz="2800" b="1" dirty="0"/>
              <a:t>dynamically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Note:</a:t>
            </a:r>
          </a:p>
          <a:p>
            <a:pPr marL="0" indent="0">
              <a:buNone/>
            </a:pPr>
            <a:r>
              <a:rPr lang="en-US" sz="2800" dirty="0"/>
              <a:t>A linked list uses </a:t>
            </a:r>
            <a:r>
              <a:rPr lang="en-US" sz="2800" b="1" dirty="0">
                <a:solidFill>
                  <a:srgbClr val="C00000"/>
                </a:solidFill>
              </a:rPr>
              <a:t>non-contiguous memory allocation</a:t>
            </a:r>
            <a:r>
              <a:rPr lang="en-US" sz="2800" dirty="0"/>
              <a:t>, unlike arrays, which store elements in </a:t>
            </a:r>
            <a:r>
              <a:rPr lang="en-US" sz="2800" b="1" dirty="0"/>
              <a:t>contiguous</a:t>
            </a:r>
            <a:r>
              <a:rPr lang="en-US" sz="2800" dirty="0"/>
              <a:t> </a:t>
            </a:r>
            <a:r>
              <a:rPr lang="en-US" sz="2800" b="1" dirty="0"/>
              <a:t>memory</a:t>
            </a:r>
            <a:r>
              <a:rPr lang="en-US" sz="2800" dirty="0"/>
              <a:t> locations. However, despite this, a linked list is still considered a </a:t>
            </a:r>
            <a:r>
              <a:rPr lang="en-US" sz="2800" b="1" dirty="0"/>
              <a:t>linear data structure </a:t>
            </a:r>
            <a:r>
              <a:rPr lang="en-US" sz="2800" dirty="0"/>
              <a:t>because of the way its </a:t>
            </a:r>
            <a:r>
              <a:rPr lang="en-US" sz="2800" b="1" dirty="0"/>
              <a:t>elements are </a:t>
            </a:r>
            <a:r>
              <a:rPr lang="en-US" sz="2800" b="1" dirty="0">
                <a:solidFill>
                  <a:srgbClr val="C00000"/>
                </a:solidFill>
              </a:rPr>
              <a:t>logically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connected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in</a:t>
            </a:r>
            <a:r>
              <a:rPr lang="en-US" sz="2800" dirty="0"/>
              <a:t> a </a:t>
            </a:r>
            <a:r>
              <a:rPr lang="en-US" sz="2800" b="1" dirty="0">
                <a:solidFill>
                  <a:srgbClr val="C00000"/>
                </a:solidFill>
              </a:rPr>
              <a:t>sequence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147441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Array and Linked List:</a:t>
            </a:r>
          </a:p>
          <a:p>
            <a:r>
              <a:rPr lang="en-US" sz="2400" dirty="0"/>
              <a:t>An array is a </a:t>
            </a:r>
            <a:r>
              <a:rPr lang="en-US" sz="2400" b="1" dirty="0">
                <a:solidFill>
                  <a:srgbClr val="C00000"/>
                </a:solidFill>
              </a:rPr>
              <a:t>linear collection </a:t>
            </a:r>
            <a:r>
              <a:rPr lang="en-US" sz="2400" dirty="0"/>
              <a:t>of data elements in which the elements are stored in </a:t>
            </a:r>
            <a:r>
              <a:rPr lang="en-US" sz="2400" b="1" dirty="0">
                <a:solidFill>
                  <a:srgbClr val="C00000"/>
                </a:solidFill>
              </a:rPr>
              <a:t>consecutive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memory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locations</a:t>
            </a:r>
            <a:r>
              <a:rPr lang="en-US" sz="2400" dirty="0"/>
              <a:t>. Its </a:t>
            </a:r>
            <a:r>
              <a:rPr lang="en-US" sz="2400" b="1" dirty="0"/>
              <a:t>size</a:t>
            </a:r>
            <a:r>
              <a:rPr lang="en-US" sz="2400" dirty="0"/>
              <a:t> </a:t>
            </a:r>
            <a:r>
              <a:rPr lang="en-US" sz="2400" b="1" dirty="0"/>
              <a:t>is</a:t>
            </a:r>
            <a:r>
              <a:rPr lang="en-US" sz="2400" dirty="0"/>
              <a:t> </a:t>
            </a:r>
            <a:r>
              <a:rPr lang="en-US" sz="2400" b="1" dirty="0"/>
              <a:t>fixed</a:t>
            </a:r>
            <a:r>
              <a:rPr lang="en-US" sz="2400" dirty="0"/>
              <a:t>.</a:t>
            </a:r>
          </a:p>
          <a:p>
            <a:endParaRPr lang="en-US" sz="800" dirty="0"/>
          </a:p>
          <a:p>
            <a:r>
              <a:rPr lang="en-US" sz="2400" dirty="0"/>
              <a:t>A linked list, on the other hand, </a:t>
            </a:r>
            <a:r>
              <a:rPr lang="en-US" sz="2400" b="1" dirty="0"/>
              <a:t>does not store its elements in consecutive memory locations</a:t>
            </a:r>
            <a:r>
              <a:rPr lang="en-US" sz="2400" dirty="0"/>
              <a:t>, and the user can add </a:t>
            </a:r>
            <a:r>
              <a:rPr lang="en-US" sz="2400" b="1" dirty="0"/>
              <a:t>any number of elements </a:t>
            </a:r>
            <a:r>
              <a:rPr lang="en-US" sz="2400" dirty="0"/>
              <a:t>to it.</a:t>
            </a:r>
          </a:p>
          <a:p>
            <a:endParaRPr lang="en-US" sz="800" dirty="0"/>
          </a:p>
          <a:p>
            <a:r>
              <a:rPr lang="en-US" sz="2400" dirty="0"/>
              <a:t>However, unlike an array, a linked list </a:t>
            </a:r>
            <a:r>
              <a:rPr lang="en-US" sz="2400" b="1" dirty="0">
                <a:solidFill>
                  <a:srgbClr val="C00000"/>
                </a:solidFill>
              </a:rPr>
              <a:t>does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not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allow</a:t>
            </a:r>
            <a:r>
              <a:rPr lang="en-US" sz="2400" b="1" dirty="0"/>
              <a:t> random access to data</a:t>
            </a:r>
            <a:r>
              <a:rPr lang="en-US" sz="2400" dirty="0"/>
              <a:t>. Elements in a linked list can be accessed only in a </a:t>
            </a:r>
            <a:r>
              <a:rPr lang="en-US" sz="2400" b="1" dirty="0"/>
              <a:t>sequential</a:t>
            </a:r>
            <a:r>
              <a:rPr lang="en-US" sz="2400" dirty="0"/>
              <a:t> </a:t>
            </a:r>
            <a:r>
              <a:rPr lang="en-US" sz="2400" b="1" dirty="0"/>
              <a:t>manner</a:t>
            </a:r>
            <a:r>
              <a:rPr lang="en-US" sz="2400" dirty="0"/>
              <a:t>. But, unlike an array, </a:t>
            </a:r>
            <a:r>
              <a:rPr lang="en-US" sz="2400" b="1" dirty="0">
                <a:solidFill>
                  <a:srgbClr val="C00000"/>
                </a:solidFill>
              </a:rPr>
              <a:t>insertions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deletions</a:t>
            </a:r>
            <a:r>
              <a:rPr lang="en-US" sz="2400" dirty="0"/>
              <a:t> can be performed </a:t>
            </a:r>
            <a:r>
              <a:rPr lang="en-US" sz="2400" b="1" dirty="0"/>
              <a:t>at any point </a:t>
            </a:r>
            <a:r>
              <a:rPr lang="en-US" sz="2400" dirty="0"/>
              <a:t>in the list in </a:t>
            </a:r>
            <a:r>
              <a:rPr lang="en-US" sz="2400" b="1" dirty="0">
                <a:solidFill>
                  <a:srgbClr val="C00000"/>
                </a:solidFill>
              </a:rPr>
              <a:t>constant time</a:t>
            </a:r>
            <a:r>
              <a:rPr lang="en-US" sz="2400" dirty="0"/>
              <a:t>, provided that the reference to the node is already available.</a:t>
            </a:r>
          </a:p>
          <a:p>
            <a:endParaRPr lang="en-US" sz="800" dirty="0"/>
          </a:p>
          <a:p>
            <a:r>
              <a:rPr lang="en-US" sz="2400" dirty="0"/>
              <a:t>A linked list can be visualized as a </a:t>
            </a:r>
            <a:r>
              <a:rPr lang="en-US" sz="2400" b="1" dirty="0">
                <a:solidFill>
                  <a:srgbClr val="C00000"/>
                </a:solidFill>
              </a:rPr>
              <a:t>train</a:t>
            </a:r>
            <a:r>
              <a:rPr lang="en-US" sz="2400" dirty="0"/>
              <a:t> or a </a:t>
            </a:r>
            <a:r>
              <a:rPr lang="en-US" sz="2400" b="1" dirty="0">
                <a:solidFill>
                  <a:srgbClr val="C00000"/>
                </a:solidFill>
              </a:rPr>
              <a:t>sequence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of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nodes</a:t>
            </a:r>
            <a:r>
              <a:rPr lang="en-US" sz="2400" dirty="0"/>
              <a:t>, where each node contains one or more data fields and a pointer to the next node.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860984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6C1F3F7-5F59-75DE-46A5-8257086975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151798"/>
              </p:ext>
            </p:extLst>
          </p:nvPr>
        </p:nvGraphicFramePr>
        <p:xfrm>
          <a:off x="0" y="-41204"/>
          <a:ext cx="12192000" cy="69930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97803">
                  <a:extLst>
                    <a:ext uri="{9D8B030D-6E8A-4147-A177-3AD203B41FA5}">
                      <a16:colId xmlns:a16="http://schemas.microsoft.com/office/drawing/2014/main" val="3910496366"/>
                    </a:ext>
                  </a:extLst>
                </a:gridCol>
                <a:gridCol w="4767026">
                  <a:extLst>
                    <a:ext uri="{9D8B030D-6E8A-4147-A177-3AD203B41FA5}">
                      <a16:colId xmlns:a16="http://schemas.microsoft.com/office/drawing/2014/main" val="3085439964"/>
                    </a:ext>
                  </a:extLst>
                </a:gridCol>
                <a:gridCol w="5127171">
                  <a:extLst>
                    <a:ext uri="{9D8B030D-6E8A-4147-A177-3AD203B41FA5}">
                      <a16:colId xmlns:a16="http://schemas.microsoft.com/office/drawing/2014/main" val="1276801134"/>
                    </a:ext>
                  </a:extLst>
                </a:gridCol>
              </a:tblGrid>
              <a:tr h="4439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Feature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Array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Linked List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2005196"/>
                  </a:ext>
                </a:extLst>
              </a:tr>
              <a:tr h="7165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Memory Allocation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Contiguous</a:t>
                      </a:r>
                      <a:r>
                        <a:rPr lang="en-US" sz="2200" kern="100" dirty="0">
                          <a:effectLst/>
                        </a:rPr>
                        <a:t> memory allocation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Non-contiguous</a:t>
                      </a:r>
                      <a:r>
                        <a:rPr lang="en-US" sz="2200" kern="100" dirty="0">
                          <a:effectLst/>
                        </a:rPr>
                        <a:t> memory allocation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8697921"/>
                  </a:ext>
                </a:extLst>
              </a:tr>
              <a:tr h="5705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Size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Fixed</a:t>
                      </a:r>
                      <a:r>
                        <a:rPr lang="en-US" sz="2200" kern="100" dirty="0">
                          <a:effectLst/>
                        </a:rPr>
                        <a:t> at declaration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Dynamic</a:t>
                      </a:r>
                      <a:r>
                        <a:rPr lang="en-US" sz="2200" kern="100" dirty="0">
                          <a:effectLst/>
                        </a:rPr>
                        <a:t>, grows or shrinks as needed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7447760"/>
                  </a:ext>
                </a:extLst>
              </a:tr>
              <a:tr h="3501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Element Access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Random</a:t>
                      </a:r>
                      <a:r>
                        <a:rPr lang="en-US" sz="2200" kern="100" dirty="0">
                          <a:effectLst/>
                        </a:rPr>
                        <a:t> </a:t>
                      </a:r>
                      <a:r>
                        <a:rPr lang="en-US" sz="2200" b="1" kern="100" dirty="0">
                          <a:effectLst/>
                        </a:rPr>
                        <a:t>access</a:t>
                      </a:r>
                      <a:r>
                        <a:rPr lang="en-US" sz="2200" kern="100" dirty="0">
                          <a:effectLst/>
                        </a:rPr>
                        <a:t> via index (O(1))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Sequential</a:t>
                      </a:r>
                      <a:r>
                        <a:rPr lang="en-US" sz="2200" kern="100" dirty="0">
                          <a:effectLst/>
                        </a:rPr>
                        <a:t> </a:t>
                      </a:r>
                      <a:r>
                        <a:rPr lang="en-US" sz="2200" b="1" kern="100" dirty="0">
                          <a:effectLst/>
                        </a:rPr>
                        <a:t>access</a:t>
                      </a:r>
                      <a:r>
                        <a:rPr lang="en-US" sz="2200" kern="100" dirty="0">
                          <a:effectLst/>
                        </a:rPr>
                        <a:t> (O(n))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0136123"/>
                  </a:ext>
                </a:extLst>
              </a:tr>
              <a:tr h="3501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Insertion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</a:rPr>
                        <a:t>Costly (O(n)), </a:t>
                      </a:r>
                      <a:r>
                        <a:rPr lang="en-US" sz="2200" b="1" kern="100" dirty="0">
                          <a:effectLst/>
                        </a:rPr>
                        <a:t>requires shifting</a:t>
                      </a:r>
                      <a:endParaRPr lang="en-US" sz="2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</a:rPr>
                        <a:t>O(1) at head/tail, O(n) in middle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1459607"/>
                  </a:ext>
                </a:extLst>
              </a:tr>
              <a:tr h="3501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Deletion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</a:rPr>
                        <a:t>Costly (O(n)), </a:t>
                      </a:r>
                      <a:r>
                        <a:rPr lang="en-US" sz="2200" b="1" kern="100" dirty="0">
                          <a:effectLst/>
                        </a:rPr>
                        <a:t>requires</a:t>
                      </a:r>
                      <a:r>
                        <a:rPr lang="en-US" sz="2200" kern="100" dirty="0">
                          <a:effectLst/>
                        </a:rPr>
                        <a:t> </a:t>
                      </a:r>
                      <a:r>
                        <a:rPr lang="en-US" sz="2200" b="1" kern="100" dirty="0">
                          <a:effectLst/>
                        </a:rPr>
                        <a:t>shifting</a:t>
                      </a:r>
                      <a:endParaRPr lang="en-US" sz="2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</a:rPr>
                        <a:t>O(1) at head/tail, O(n) in middle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6830060"/>
                  </a:ext>
                </a:extLst>
              </a:tr>
              <a:tr h="7165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Memory Efficiency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</a:rPr>
                        <a:t>Pre-allocated, can lead to </a:t>
                      </a:r>
                      <a:r>
                        <a:rPr lang="en-US" sz="2200" b="1" kern="100" dirty="0">
                          <a:effectLst/>
                        </a:rPr>
                        <a:t>wastage</a:t>
                      </a:r>
                      <a:endParaRPr lang="en-US" sz="2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No</a:t>
                      </a:r>
                      <a:r>
                        <a:rPr lang="en-US" sz="2200" kern="100" dirty="0">
                          <a:effectLst/>
                        </a:rPr>
                        <a:t> </a:t>
                      </a:r>
                      <a:r>
                        <a:rPr lang="en-US" sz="2200" b="1" kern="100" dirty="0">
                          <a:effectLst/>
                        </a:rPr>
                        <a:t>wastage</a:t>
                      </a:r>
                      <a:r>
                        <a:rPr lang="en-US" sz="2200" kern="100" dirty="0">
                          <a:effectLst/>
                        </a:rPr>
                        <a:t>, but </a:t>
                      </a:r>
                      <a:r>
                        <a:rPr lang="en-US" sz="2200" b="1" kern="100" dirty="0">
                          <a:solidFill>
                            <a:srgbClr val="C00000"/>
                          </a:solidFill>
                          <a:effectLst/>
                        </a:rPr>
                        <a:t>extra memory </a:t>
                      </a:r>
                      <a:r>
                        <a:rPr lang="en-US" sz="2200" kern="100" dirty="0">
                          <a:effectLst/>
                        </a:rPr>
                        <a:t>for pointers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8981120"/>
                  </a:ext>
                </a:extLst>
              </a:tr>
              <a:tr h="5705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Cache Friendliness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</a:rPr>
                        <a:t>High (due to contiguous storage)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Low (scattered memory locations)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8381990"/>
                  </a:ext>
                </a:extLst>
              </a:tr>
              <a:tr h="35015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Data Storage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Stores only data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Stores data + pointer(s)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0482099"/>
                  </a:ext>
                </a:extLst>
              </a:tr>
              <a:tr h="7165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Traversal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</a:rPr>
                        <a:t>Can be done in both forward and </a:t>
                      </a:r>
                      <a:r>
                        <a:rPr lang="en-US" sz="2200" b="1" kern="100" dirty="0">
                          <a:effectLst/>
                        </a:rPr>
                        <a:t>reverse</a:t>
                      </a:r>
                      <a:r>
                        <a:rPr lang="en-US" sz="2200" kern="100" dirty="0">
                          <a:effectLst/>
                        </a:rPr>
                        <a:t> easily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Forward in singly linked, both ways in doubly linked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7298557"/>
                  </a:ext>
                </a:extLst>
              </a:tr>
              <a:tr h="5705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Types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One-dimensional</a:t>
                      </a:r>
                      <a:r>
                        <a:rPr lang="en-US" sz="2200" kern="100" dirty="0">
                          <a:effectLst/>
                        </a:rPr>
                        <a:t>, </a:t>
                      </a:r>
                      <a:r>
                        <a:rPr lang="en-US" sz="2200" b="1" kern="100" dirty="0">
                          <a:effectLst/>
                        </a:rPr>
                        <a:t>Multi-dimensional</a:t>
                      </a:r>
                      <a:endParaRPr lang="en-US" sz="2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Singly</a:t>
                      </a:r>
                      <a:r>
                        <a:rPr lang="en-US" sz="2200" kern="100" dirty="0">
                          <a:effectLst/>
                        </a:rPr>
                        <a:t>, </a:t>
                      </a:r>
                      <a:r>
                        <a:rPr lang="en-US" sz="2200" b="1" kern="100" dirty="0">
                          <a:effectLst/>
                        </a:rPr>
                        <a:t>Doubly</a:t>
                      </a:r>
                      <a:r>
                        <a:rPr lang="en-US" sz="2200" kern="100" dirty="0">
                          <a:effectLst/>
                        </a:rPr>
                        <a:t>, </a:t>
                      </a:r>
                      <a:r>
                        <a:rPr lang="en-US" sz="2200" b="1" kern="100" dirty="0">
                          <a:effectLst/>
                        </a:rPr>
                        <a:t>Circular</a:t>
                      </a:r>
                      <a:r>
                        <a:rPr lang="en-US" sz="2200" kern="100" dirty="0">
                          <a:effectLst/>
                        </a:rPr>
                        <a:t> Linked Lists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244467"/>
                  </a:ext>
                </a:extLst>
              </a:tr>
              <a:tr h="5705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Overhead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No extra space required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kern="100" dirty="0">
                          <a:effectLst/>
                        </a:rPr>
                        <a:t>Extra</a:t>
                      </a:r>
                      <a:r>
                        <a:rPr lang="en-US" sz="2200" kern="100" dirty="0">
                          <a:effectLst/>
                        </a:rPr>
                        <a:t> </a:t>
                      </a:r>
                      <a:r>
                        <a:rPr lang="en-US" sz="2200" b="1" kern="100" dirty="0">
                          <a:effectLst/>
                        </a:rPr>
                        <a:t>memory</a:t>
                      </a:r>
                      <a:r>
                        <a:rPr lang="en-US" sz="2200" kern="100" dirty="0">
                          <a:effectLst/>
                        </a:rPr>
                        <a:t> needed for pointers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3566185"/>
                  </a:ext>
                </a:extLst>
              </a:tr>
              <a:tr h="71651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</a:rPr>
                        <a:t>Best Use Case</a:t>
                      </a:r>
                      <a:endParaRPr lang="en-US" sz="2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</a:rPr>
                        <a:t>When </a:t>
                      </a:r>
                      <a:r>
                        <a:rPr lang="en-US" sz="2200" b="1" kern="100" dirty="0">
                          <a:effectLst/>
                        </a:rPr>
                        <a:t>fast</a:t>
                      </a:r>
                      <a:r>
                        <a:rPr lang="en-US" sz="2200" kern="100" dirty="0">
                          <a:effectLst/>
                        </a:rPr>
                        <a:t> </a:t>
                      </a:r>
                      <a:r>
                        <a:rPr lang="en-US" sz="2200" b="1" kern="100" dirty="0">
                          <a:effectLst/>
                        </a:rPr>
                        <a:t>access</a:t>
                      </a:r>
                      <a:r>
                        <a:rPr lang="en-US" sz="2200" kern="100" dirty="0">
                          <a:effectLst/>
                        </a:rPr>
                        <a:t> and </a:t>
                      </a:r>
                      <a:r>
                        <a:rPr lang="en-US" sz="2200" b="1" kern="100" dirty="0">
                          <a:effectLst/>
                        </a:rPr>
                        <a:t>fixed</a:t>
                      </a:r>
                      <a:r>
                        <a:rPr lang="en-US" sz="2200" kern="100" dirty="0">
                          <a:effectLst/>
                        </a:rPr>
                        <a:t> </a:t>
                      </a:r>
                      <a:r>
                        <a:rPr lang="en-US" sz="2200" b="1" kern="100" dirty="0">
                          <a:effectLst/>
                        </a:rPr>
                        <a:t>size</a:t>
                      </a:r>
                      <a:r>
                        <a:rPr lang="en-US" sz="2200" kern="100" dirty="0">
                          <a:effectLst/>
                        </a:rPr>
                        <a:t> are needed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</a:rPr>
                        <a:t>When </a:t>
                      </a:r>
                      <a:r>
                        <a:rPr lang="en-US" sz="2200" b="1" kern="100" dirty="0">
                          <a:effectLst/>
                        </a:rPr>
                        <a:t>frequent</a:t>
                      </a:r>
                      <a:r>
                        <a:rPr lang="en-US" sz="2200" kern="100" dirty="0">
                          <a:effectLst/>
                        </a:rPr>
                        <a:t> </a:t>
                      </a:r>
                      <a:r>
                        <a:rPr lang="en-US" sz="2200" b="1" kern="100" dirty="0">
                          <a:effectLst/>
                        </a:rPr>
                        <a:t>insertions</a:t>
                      </a:r>
                      <a:r>
                        <a:rPr lang="en-US" sz="2200" kern="100" dirty="0">
                          <a:effectLst/>
                        </a:rPr>
                        <a:t>/</a:t>
                      </a:r>
                      <a:r>
                        <a:rPr lang="en-US" sz="2200" b="1" kern="100" dirty="0">
                          <a:effectLst/>
                        </a:rPr>
                        <a:t>deletions</a:t>
                      </a:r>
                      <a:r>
                        <a:rPr lang="en-US" sz="2200" kern="100" dirty="0">
                          <a:effectLst/>
                        </a:rPr>
                        <a:t> are needed</a:t>
                      </a:r>
                      <a:endParaRPr lang="en-US" sz="2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119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8190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26" y="957943"/>
            <a:ext cx="10659110" cy="4767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Types of Linked Lists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Singly Linked List</a:t>
            </a:r>
            <a:r>
              <a:rPr lang="en-US" sz="3600" dirty="0"/>
              <a:t> - Each node points to the next node.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Doubly Linked List - </a:t>
            </a:r>
            <a:r>
              <a:rPr lang="en-US" sz="3600" dirty="0"/>
              <a:t>Each node has pointers to both the next and previous nodes.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Circular Linked List - </a:t>
            </a:r>
            <a:r>
              <a:rPr lang="en-US" sz="3600" dirty="0"/>
              <a:t>The last node links back to the first node.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876672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6738-043C-7B74-566B-9BBCC8DC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887DB-8D4C-EC52-EF86-7EDB599CE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26" y="957943"/>
            <a:ext cx="10659110" cy="476794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b="1" dirty="0"/>
              <a:t>Singly Linked List</a:t>
            </a:r>
            <a:r>
              <a:rPr lang="en-US" sz="3200" dirty="0"/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IN" sz="3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AB0A29-FD6B-987D-D4FE-D44DC49BAEA6}"/>
              </a:ext>
            </a:extLst>
          </p:cNvPr>
          <p:cNvGrpSpPr/>
          <p:nvPr/>
        </p:nvGrpSpPr>
        <p:grpSpPr>
          <a:xfrm>
            <a:off x="674008" y="1640342"/>
            <a:ext cx="11039745" cy="4259715"/>
            <a:chOff x="777240" y="1299142"/>
            <a:chExt cx="11039745" cy="425971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84F271D-E254-8F32-3AD2-DF8932261CC2}"/>
                </a:ext>
              </a:extLst>
            </p:cNvPr>
            <p:cNvGrpSpPr/>
            <p:nvPr/>
          </p:nvGrpSpPr>
          <p:grpSpPr>
            <a:xfrm>
              <a:off x="777240" y="1299142"/>
              <a:ext cx="10697851" cy="4259715"/>
              <a:chOff x="777240" y="1299142"/>
              <a:chExt cx="10697851" cy="4259715"/>
            </a:xfrm>
          </p:grpSpPr>
          <p:pic>
            <p:nvPicPr>
              <p:cNvPr id="7" name="Picture 4" descr="Singly Linked List vs Doubly Linked List - Tpoint Tech">
                <a:extLst>
                  <a:ext uri="{FF2B5EF4-FFF2-40B4-BE49-F238E27FC236}">
                    <a16:creationId xmlns:a16="http://schemas.microsoft.com/office/drawing/2014/main" id="{1FDB8363-1B09-0E3D-F286-2970E896F0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240" y="1299142"/>
                <a:ext cx="10697851" cy="42597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411C737-45FC-36DA-013D-A2D23AB2C0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5890" y="2894258"/>
                <a:ext cx="552381" cy="285714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69C2C7-D5BF-B02A-EDDF-CFCCD977FC52}"/>
                </a:ext>
              </a:extLst>
            </p:cNvPr>
            <p:cNvSpPr txBox="1"/>
            <p:nvPr/>
          </p:nvSpPr>
          <p:spPr>
            <a:xfrm>
              <a:off x="10619556" y="2852449"/>
              <a:ext cx="1197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NULL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096616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73CE-6850-A672-C4BC-9A10D61BA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4E1DF-23B9-EFEA-6330-F458D32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26" y="957943"/>
            <a:ext cx="10659110" cy="47679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2. Doubly Linked List 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E5520-A9F9-7E86-9228-E8F447056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7" y="2102624"/>
            <a:ext cx="11103429" cy="265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941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F966E-F4D4-B6C6-9227-5A66A54D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C5496-3D8A-53E5-379A-1C40BBDA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26" y="957943"/>
            <a:ext cx="10659110" cy="47679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3. Circular Linked List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E4787-588E-9594-6830-60C37006F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172" y="2154885"/>
            <a:ext cx="10085714" cy="3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945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26" y="664029"/>
            <a:ext cx="10659110" cy="5290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</a:rPr>
              <a:t>Singly Linked List:</a:t>
            </a:r>
          </a:p>
          <a:p>
            <a:pPr marL="0" indent="0">
              <a:buNone/>
            </a:pPr>
            <a:r>
              <a:rPr lang="en-US" sz="2800" dirty="0"/>
              <a:t>A Singly Linked List is a type of linked list where each node has </a:t>
            </a:r>
            <a:r>
              <a:rPr lang="en-US" sz="2800" b="1" dirty="0">
                <a:solidFill>
                  <a:srgbClr val="C00000"/>
                </a:solidFill>
              </a:rPr>
              <a:t>two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parts</a:t>
            </a:r>
            <a:r>
              <a:rPr lang="en-US" sz="28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Data</a:t>
            </a:r>
            <a:r>
              <a:rPr lang="en-US" sz="2800" dirty="0"/>
              <a:t> (stores the </a:t>
            </a:r>
            <a:r>
              <a:rPr lang="en-US" sz="2800" b="1" dirty="0">
                <a:solidFill>
                  <a:srgbClr val="C00000"/>
                </a:solidFill>
              </a:rPr>
              <a:t>actual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value</a:t>
            </a:r>
            <a:r>
              <a:rPr lang="en-US" sz="28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Pointer</a:t>
            </a:r>
            <a:r>
              <a:rPr lang="en-US" sz="2800" dirty="0"/>
              <a:t> (next) (stores the </a:t>
            </a:r>
            <a:r>
              <a:rPr lang="en-US" sz="2800" b="1" dirty="0">
                <a:solidFill>
                  <a:srgbClr val="C00000"/>
                </a:solidFill>
              </a:rPr>
              <a:t>address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of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the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next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node</a:t>
            </a:r>
            <a:r>
              <a:rPr lang="en-US" sz="2800" dirty="0"/>
              <a:t>).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Unlike arrays, singly linked lists are </a:t>
            </a:r>
            <a:r>
              <a:rPr lang="en-US" sz="2800" b="1" dirty="0">
                <a:solidFill>
                  <a:srgbClr val="C00000"/>
                </a:solidFill>
              </a:rPr>
              <a:t>dynamically allocated</a:t>
            </a:r>
            <a:r>
              <a:rPr lang="en-US" sz="2800" dirty="0"/>
              <a:t>, allowing </a:t>
            </a:r>
            <a:r>
              <a:rPr lang="en-US" sz="2800" b="1" dirty="0"/>
              <a:t>flexibility</a:t>
            </a:r>
            <a:r>
              <a:rPr lang="en-US" sz="2800" dirty="0"/>
              <a:t> in </a:t>
            </a:r>
            <a:r>
              <a:rPr lang="en-US" sz="2800" b="1" dirty="0"/>
              <a:t>adding</a:t>
            </a:r>
            <a:r>
              <a:rPr lang="en-US" sz="2800" dirty="0"/>
              <a:t> or </a:t>
            </a:r>
            <a:r>
              <a:rPr lang="en-US" sz="2800" b="1" dirty="0"/>
              <a:t>removing</a:t>
            </a:r>
            <a:r>
              <a:rPr lang="en-US" sz="2800" dirty="0"/>
              <a:t> elements.</a:t>
            </a:r>
          </a:p>
          <a:p>
            <a:r>
              <a:rPr lang="en-US" sz="2800" dirty="0"/>
              <a:t>Since in a linked list, every node contains a </a:t>
            </a:r>
            <a:r>
              <a:rPr lang="en-US" sz="2800" b="1" dirty="0"/>
              <a:t>pointer</a:t>
            </a:r>
            <a:r>
              <a:rPr lang="en-US" sz="2800" dirty="0"/>
              <a:t> </a:t>
            </a:r>
            <a:r>
              <a:rPr lang="en-US" sz="2800" b="1" dirty="0"/>
              <a:t>to</a:t>
            </a:r>
            <a:r>
              <a:rPr lang="en-US" sz="2800" dirty="0"/>
              <a:t> </a:t>
            </a:r>
            <a:r>
              <a:rPr lang="en-US" sz="2800" b="1" dirty="0"/>
              <a:t>another</a:t>
            </a:r>
            <a:r>
              <a:rPr lang="en-US" sz="2800" dirty="0"/>
              <a:t> </a:t>
            </a:r>
            <a:r>
              <a:rPr lang="en-US" sz="2800" b="1" dirty="0"/>
              <a:t>node</a:t>
            </a:r>
            <a:r>
              <a:rPr lang="en-US" sz="2800" dirty="0"/>
              <a:t> which is of the </a:t>
            </a:r>
            <a:r>
              <a:rPr lang="en-US" sz="2800" b="1" dirty="0"/>
              <a:t>same</a:t>
            </a:r>
            <a:r>
              <a:rPr lang="en-US" sz="2800" dirty="0"/>
              <a:t> </a:t>
            </a:r>
            <a:r>
              <a:rPr lang="en-US" sz="2800" b="1" dirty="0"/>
              <a:t>type</a:t>
            </a:r>
            <a:r>
              <a:rPr lang="en-US" sz="2800" dirty="0"/>
              <a:t>, it is also called a </a:t>
            </a:r>
            <a:r>
              <a:rPr lang="en-US" sz="2800" b="1" dirty="0">
                <a:solidFill>
                  <a:srgbClr val="C00000"/>
                </a:solidFill>
              </a:rPr>
              <a:t>self-referential data type.</a:t>
            </a:r>
            <a:endParaRPr lang="en-IN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754771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Structure of a Node in a Singly Linked List</a:t>
            </a:r>
          </a:p>
          <a:p>
            <a:pPr marL="0" indent="0">
              <a:buNone/>
            </a:pPr>
            <a:r>
              <a:rPr lang="en-US" sz="2400" dirty="0"/>
              <a:t>In C, we define a node using </a:t>
            </a:r>
            <a:r>
              <a:rPr lang="en-US" sz="2400" b="1" dirty="0">
                <a:solidFill>
                  <a:srgbClr val="C00000"/>
                </a:solidFill>
              </a:rPr>
              <a:t>struct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data field </a:t>
            </a:r>
            <a:r>
              <a:rPr lang="en-US" sz="2400" b="1" dirty="0"/>
              <a:t>stores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value</a:t>
            </a:r>
            <a:r>
              <a:rPr lang="en-US" sz="2400" dirty="0"/>
              <a:t> of the node.</a:t>
            </a:r>
          </a:p>
          <a:p>
            <a:r>
              <a:rPr lang="en-US" sz="2400" dirty="0"/>
              <a:t>The next pointer </a:t>
            </a:r>
            <a:r>
              <a:rPr lang="en-US" sz="2400" b="1" dirty="0"/>
              <a:t>stores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address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of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next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node</a:t>
            </a:r>
            <a:r>
              <a:rPr lang="en-US" sz="2400" dirty="0"/>
              <a:t>. (</a:t>
            </a:r>
            <a:r>
              <a:rPr lang="en-US" sz="2400" b="1" dirty="0">
                <a:solidFill>
                  <a:srgbClr val="C00000"/>
                </a:solidFill>
              </a:rPr>
              <a:t>Self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Referential</a:t>
            </a:r>
            <a:r>
              <a:rPr lang="en-US" sz="2400" dirty="0"/>
              <a:t> Structure)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FA297-C0EC-05B7-3846-015FE311A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788" y="1864980"/>
            <a:ext cx="9720013" cy="255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3118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7F00CB-F72B-7986-9B82-1FAB67317933}"/>
              </a:ext>
            </a:extLst>
          </p:cNvPr>
          <p:cNvGrpSpPr/>
          <p:nvPr/>
        </p:nvGrpSpPr>
        <p:grpSpPr>
          <a:xfrm>
            <a:off x="777240" y="1299142"/>
            <a:ext cx="11039745" cy="4259715"/>
            <a:chOff x="777240" y="1299142"/>
            <a:chExt cx="11039745" cy="425971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6EFDEC-98B6-7944-5C36-EB70693DAD8B}"/>
                </a:ext>
              </a:extLst>
            </p:cNvPr>
            <p:cNvGrpSpPr/>
            <p:nvPr/>
          </p:nvGrpSpPr>
          <p:grpSpPr>
            <a:xfrm>
              <a:off x="777240" y="1299142"/>
              <a:ext cx="10697851" cy="4259715"/>
              <a:chOff x="777240" y="1299142"/>
              <a:chExt cx="10697851" cy="4259715"/>
            </a:xfrm>
          </p:grpSpPr>
          <p:pic>
            <p:nvPicPr>
              <p:cNvPr id="2052" name="Picture 4" descr="Singly Linked List vs Doubly Linked List - Tpoint Tech">
                <a:extLst>
                  <a:ext uri="{FF2B5EF4-FFF2-40B4-BE49-F238E27FC236}">
                    <a16:creationId xmlns:a16="http://schemas.microsoft.com/office/drawing/2014/main" id="{C7E52E4F-BB2E-C2EA-CE36-66B6DF6568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240" y="1299142"/>
                <a:ext cx="10697851" cy="42597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26434C2-41A6-04C5-5FD7-F139B18E97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5890" y="2894258"/>
                <a:ext cx="552381" cy="285714"/>
              </a:xfrm>
              <a:prstGeom prst="rect">
                <a:avLst/>
              </a:prstGeom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4CBACB-4CA7-C1D9-02D5-21C0E4C04775}"/>
                </a:ext>
              </a:extLst>
            </p:cNvPr>
            <p:cNvSpPr txBox="1"/>
            <p:nvPr/>
          </p:nvSpPr>
          <p:spPr>
            <a:xfrm>
              <a:off x="10619556" y="2852449"/>
              <a:ext cx="1197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NULL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365704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925285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Operations</a:t>
            </a:r>
            <a:r>
              <a:rPr lang="en-US" sz="2800" b="1" dirty="0"/>
              <a:t> in a Singly Linked List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Insertion</a:t>
            </a:r>
          </a:p>
          <a:p>
            <a:pPr lvl="1"/>
            <a:r>
              <a:rPr lang="en-US" sz="2800" dirty="0"/>
              <a:t>At the </a:t>
            </a:r>
            <a:r>
              <a:rPr lang="en-US" sz="2800" b="1" dirty="0">
                <a:solidFill>
                  <a:srgbClr val="002060"/>
                </a:solidFill>
              </a:rPr>
              <a:t>beginning</a:t>
            </a:r>
          </a:p>
          <a:p>
            <a:pPr lvl="1"/>
            <a:r>
              <a:rPr lang="en-US" sz="2800" dirty="0"/>
              <a:t>At the </a:t>
            </a:r>
            <a:r>
              <a:rPr lang="en-US" sz="2800" b="1" dirty="0">
                <a:solidFill>
                  <a:srgbClr val="002060"/>
                </a:solidFill>
              </a:rPr>
              <a:t>end</a:t>
            </a:r>
          </a:p>
          <a:p>
            <a:pPr lvl="1"/>
            <a:r>
              <a:rPr lang="en-US" sz="2800" dirty="0"/>
              <a:t>At a </a:t>
            </a:r>
            <a:r>
              <a:rPr lang="en-US" sz="2800" b="1" dirty="0">
                <a:solidFill>
                  <a:srgbClr val="002060"/>
                </a:solidFill>
              </a:rPr>
              <a:t>specific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2060"/>
                </a:solidFill>
              </a:rPr>
              <a:t>position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Deletion</a:t>
            </a:r>
          </a:p>
          <a:p>
            <a:pPr lvl="1"/>
            <a:r>
              <a:rPr lang="en-US" sz="2800" dirty="0"/>
              <a:t>At the </a:t>
            </a:r>
            <a:r>
              <a:rPr lang="en-US" sz="2800" b="1" dirty="0">
                <a:solidFill>
                  <a:srgbClr val="002060"/>
                </a:solidFill>
              </a:rPr>
              <a:t>beginning</a:t>
            </a:r>
          </a:p>
          <a:p>
            <a:pPr lvl="1"/>
            <a:r>
              <a:rPr lang="en-US" sz="2800" dirty="0"/>
              <a:t>At the </a:t>
            </a:r>
            <a:r>
              <a:rPr lang="en-US" sz="2800" b="1" dirty="0">
                <a:solidFill>
                  <a:srgbClr val="002060"/>
                </a:solidFill>
              </a:rPr>
              <a:t>end</a:t>
            </a:r>
          </a:p>
          <a:p>
            <a:pPr lvl="1"/>
            <a:r>
              <a:rPr lang="en-US" sz="2800" dirty="0"/>
              <a:t>A </a:t>
            </a:r>
            <a:r>
              <a:rPr lang="en-US" sz="2800" b="1" dirty="0">
                <a:solidFill>
                  <a:srgbClr val="002060"/>
                </a:solidFill>
              </a:rPr>
              <a:t>specific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2060"/>
                </a:solidFill>
              </a:rPr>
              <a:t>node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Traversal </a:t>
            </a:r>
            <a:r>
              <a:rPr lang="en-US" sz="2800" dirty="0"/>
              <a:t>(Displaying the list)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4E6CB-BA2B-8327-4B61-72747B8F8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581" y="3067095"/>
            <a:ext cx="4752381" cy="723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6838A2-DC46-D6EA-743F-4F67794CBD0E}"/>
              </a:ext>
            </a:extLst>
          </p:cNvPr>
          <p:cNvSpPr txBox="1"/>
          <p:nvPr/>
        </p:nvSpPr>
        <p:spPr>
          <a:xfrm>
            <a:off x="6096000" y="181152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Before Starting any Operation Create </a:t>
            </a:r>
            <a:r>
              <a:rPr lang="en-US" sz="2800" b="1" dirty="0">
                <a:solidFill>
                  <a:srgbClr val="C00000"/>
                </a:solidFill>
              </a:rPr>
              <a:t>Head</a:t>
            </a:r>
            <a:r>
              <a:rPr lang="en-US" sz="2800" b="1" dirty="0"/>
              <a:t> Pointer First as a </a:t>
            </a:r>
            <a:r>
              <a:rPr lang="en-US" sz="2800" b="1" dirty="0">
                <a:solidFill>
                  <a:srgbClr val="C00000"/>
                </a:solidFill>
              </a:rPr>
              <a:t>Global Pointer</a:t>
            </a:r>
            <a:r>
              <a:rPr lang="en-US" sz="2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18593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685800"/>
            <a:ext cx="11055350" cy="5491163"/>
          </a:xfrm>
        </p:spPr>
        <p:txBody>
          <a:bodyPr>
            <a:normAutofit/>
          </a:bodyPr>
          <a:lstStyle/>
          <a:p>
            <a:pPr marL="914400" lvl="1" indent="-457200">
              <a:buAutoNum type="arabicPeriod"/>
            </a:pPr>
            <a:r>
              <a:rPr lang="en-US" sz="2400" b="1" dirty="0"/>
              <a:t>Insertion At the </a:t>
            </a:r>
            <a:r>
              <a:rPr lang="en-US" sz="2400" b="1" dirty="0">
                <a:solidFill>
                  <a:srgbClr val="002060"/>
                </a:solidFill>
              </a:rPr>
              <a:t>Beginning: </a:t>
            </a:r>
            <a:r>
              <a:rPr lang="en-US" sz="2400" dirty="0"/>
              <a:t>A new node is inserted </a:t>
            </a:r>
            <a:r>
              <a:rPr lang="en-US" sz="2400" b="1" dirty="0">
                <a:solidFill>
                  <a:srgbClr val="C00000"/>
                </a:solidFill>
              </a:rPr>
              <a:t>before</a:t>
            </a:r>
            <a:r>
              <a:rPr lang="en-US" sz="2400" dirty="0"/>
              <a:t> the head node.  </a:t>
            </a:r>
          </a:p>
          <a:p>
            <a:pPr marL="457200" lvl="1" indent="0">
              <a:buNone/>
            </a:pPr>
            <a:endParaRPr lang="en-US" sz="2400" b="1" dirty="0"/>
          </a:p>
          <a:p>
            <a:pPr marL="457200" lvl="1" indent="0">
              <a:buNone/>
            </a:pPr>
            <a:r>
              <a:rPr lang="en-US" sz="2400" b="1" dirty="0"/>
              <a:t>Steps for Insertion at the Beginning in a Singly Linked List</a:t>
            </a:r>
          </a:p>
          <a:p>
            <a:pPr marL="457200" lvl="1" indent="0">
              <a:buNone/>
            </a:pPr>
            <a:r>
              <a:rPr lang="en-US" sz="2400" b="1" dirty="0"/>
              <a:t>Step-1: </a:t>
            </a:r>
            <a:r>
              <a:rPr lang="en-US" sz="2400" b="1" dirty="0">
                <a:solidFill>
                  <a:srgbClr val="C00000"/>
                </a:solidFill>
              </a:rPr>
              <a:t>Create</a:t>
            </a:r>
            <a:r>
              <a:rPr lang="en-US" sz="2400" dirty="0"/>
              <a:t> a New Node</a:t>
            </a:r>
          </a:p>
          <a:p>
            <a:pPr lvl="2"/>
            <a:r>
              <a:rPr lang="en-US" sz="2200" dirty="0"/>
              <a:t>Allocate memory for a new node.</a:t>
            </a:r>
          </a:p>
          <a:p>
            <a:pPr lvl="2"/>
            <a:r>
              <a:rPr lang="en-US" sz="2200" dirty="0"/>
              <a:t>Assign the data to the new node.</a:t>
            </a:r>
          </a:p>
          <a:p>
            <a:pPr lvl="2"/>
            <a:endParaRPr lang="en-US" sz="2200" dirty="0"/>
          </a:p>
          <a:p>
            <a:pPr marL="457200" lvl="1" indent="0">
              <a:buNone/>
            </a:pPr>
            <a:r>
              <a:rPr lang="en-US" sz="2400" b="1" dirty="0"/>
              <a:t>Step-2: </a:t>
            </a:r>
            <a:r>
              <a:rPr lang="en-US" sz="2400" b="1" dirty="0">
                <a:solidFill>
                  <a:srgbClr val="C00000"/>
                </a:solidFill>
              </a:rPr>
              <a:t>Set</a:t>
            </a:r>
            <a:r>
              <a:rPr lang="en-US" sz="2400" dirty="0"/>
              <a:t> the next Pointer of the New Node</a:t>
            </a:r>
          </a:p>
          <a:p>
            <a:pPr lvl="2"/>
            <a:r>
              <a:rPr lang="en-US" sz="2200" dirty="0"/>
              <a:t>Make the next of the new node point to the current head node.</a:t>
            </a:r>
          </a:p>
          <a:p>
            <a:pPr lvl="2"/>
            <a:endParaRPr lang="en-US" sz="2200" dirty="0"/>
          </a:p>
          <a:p>
            <a:pPr marL="457200" lvl="1" indent="0">
              <a:buNone/>
            </a:pPr>
            <a:r>
              <a:rPr lang="en-US" sz="2400" b="1" dirty="0"/>
              <a:t>Step-3: </a:t>
            </a:r>
            <a:r>
              <a:rPr lang="en-US" sz="2400" b="1" dirty="0">
                <a:solidFill>
                  <a:srgbClr val="C00000"/>
                </a:solidFill>
              </a:rPr>
              <a:t>Update</a:t>
            </a:r>
            <a:r>
              <a:rPr lang="en-US" sz="2400" dirty="0"/>
              <a:t> the Head Pointer</a:t>
            </a:r>
          </a:p>
          <a:p>
            <a:pPr lvl="2"/>
            <a:r>
              <a:rPr lang="en-US" sz="2200" dirty="0"/>
              <a:t>Change the head pointer to point to the new node.</a:t>
            </a:r>
          </a:p>
        </p:txBody>
      </p:sp>
    </p:spTree>
    <p:extLst>
      <p:ext uri="{BB962C8B-B14F-4D97-AF65-F5344CB8AC3E}">
        <p14:creationId xmlns:p14="http://schemas.microsoft.com/office/powerpoint/2010/main" val="41051418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pic>
        <p:nvPicPr>
          <p:cNvPr id="2" name="Image 118">
            <a:extLst>
              <a:ext uri="{FF2B5EF4-FFF2-40B4-BE49-F238E27FC236}">
                <a16:creationId xmlns:a16="http://schemas.microsoft.com/office/drawing/2014/main" id="{307D3EE9-C697-4C30-33DC-9A5B37C7C73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5451" y="1349828"/>
            <a:ext cx="9485720" cy="494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089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011" y="463323"/>
            <a:ext cx="4208417" cy="1132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Program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18C5E-0289-E6DB-6AFA-B35C4ED65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859" y="1029380"/>
            <a:ext cx="9028571" cy="5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245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2. </a:t>
            </a:r>
            <a:r>
              <a:rPr lang="en-US" sz="2800" b="1" dirty="0"/>
              <a:t>Insertion At the </a:t>
            </a:r>
            <a:r>
              <a:rPr lang="en-US" sz="2800" b="1" dirty="0">
                <a:solidFill>
                  <a:srgbClr val="002060"/>
                </a:solidFill>
              </a:rPr>
              <a:t>End: </a:t>
            </a:r>
          </a:p>
          <a:p>
            <a:pPr marL="0" indent="0">
              <a:buNone/>
            </a:pPr>
            <a:r>
              <a:rPr lang="en-US" sz="2400" b="1" dirty="0"/>
              <a:t>Steps for Insertion at the End</a:t>
            </a:r>
          </a:p>
          <a:p>
            <a:pPr marL="0" indent="0">
              <a:buNone/>
            </a:pPr>
            <a:r>
              <a:rPr lang="en-US" sz="2400" b="1" dirty="0"/>
              <a:t>Step-1: </a:t>
            </a:r>
            <a:r>
              <a:rPr lang="en-US" sz="2400" b="1" dirty="0">
                <a:solidFill>
                  <a:srgbClr val="C00000"/>
                </a:solidFill>
              </a:rPr>
              <a:t>Create</a:t>
            </a:r>
            <a:r>
              <a:rPr lang="en-US" sz="2400" dirty="0"/>
              <a:t> a new node</a:t>
            </a:r>
          </a:p>
          <a:p>
            <a:pPr lvl="1"/>
            <a:r>
              <a:rPr lang="en-US" sz="2200" dirty="0"/>
              <a:t>Allocate memory for a new node using malloc().</a:t>
            </a:r>
          </a:p>
          <a:p>
            <a:pPr lvl="1"/>
            <a:r>
              <a:rPr lang="en-US" sz="2200" dirty="0"/>
              <a:t>Assign the given value to the new node's data.</a:t>
            </a:r>
          </a:p>
          <a:p>
            <a:pPr lvl="1"/>
            <a:r>
              <a:rPr lang="en-US" sz="2200" dirty="0"/>
              <a:t>Set the new node’s next pointer to NULL (since it will be the last node).</a:t>
            </a:r>
          </a:p>
          <a:p>
            <a:pPr marL="0" indent="0">
              <a:buNone/>
            </a:pPr>
            <a:r>
              <a:rPr lang="en-US" sz="2400" b="1" dirty="0"/>
              <a:t>Step-2: </a:t>
            </a:r>
            <a:r>
              <a:rPr lang="en-US" sz="2400" dirty="0"/>
              <a:t>Check if the </a:t>
            </a:r>
            <a:r>
              <a:rPr lang="en-US" sz="2400" b="1" dirty="0">
                <a:solidFill>
                  <a:srgbClr val="C00000"/>
                </a:solidFill>
              </a:rPr>
              <a:t>list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is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empty</a:t>
            </a:r>
          </a:p>
          <a:p>
            <a:pPr lvl="1"/>
            <a:r>
              <a:rPr lang="en-US" sz="2200" dirty="0"/>
              <a:t>If head == NULL, set head to the new node and return.</a:t>
            </a:r>
          </a:p>
          <a:p>
            <a:pPr marL="0" indent="0">
              <a:buNone/>
            </a:pPr>
            <a:r>
              <a:rPr lang="en-US" sz="2400" b="1" dirty="0"/>
              <a:t>Step-3: </a:t>
            </a:r>
            <a:r>
              <a:rPr lang="en-US" sz="2400" b="1" dirty="0">
                <a:solidFill>
                  <a:srgbClr val="C00000"/>
                </a:solidFill>
              </a:rPr>
              <a:t>Traverse</a:t>
            </a:r>
            <a:r>
              <a:rPr lang="en-US" sz="2400" dirty="0"/>
              <a:t> to the last node</a:t>
            </a:r>
          </a:p>
          <a:p>
            <a:pPr lvl="1"/>
            <a:r>
              <a:rPr lang="en-US" sz="2200" dirty="0"/>
              <a:t>Use a temporary pointer to iterate through the list until the last node is found (temp-&gt;next == NULL).</a:t>
            </a:r>
          </a:p>
          <a:p>
            <a:pPr marL="0" indent="0">
              <a:buNone/>
            </a:pPr>
            <a:r>
              <a:rPr lang="en-US" sz="2400" b="1" dirty="0"/>
              <a:t>Step-4: </a:t>
            </a:r>
            <a:r>
              <a:rPr lang="en-US" sz="2400" b="1" dirty="0">
                <a:solidFill>
                  <a:srgbClr val="C00000"/>
                </a:solidFill>
              </a:rPr>
              <a:t>Update</a:t>
            </a:r>
            <a:r>
              <a:rPr lang="en-US" sz="2400" dirty="0"/>
              <a:t> the last node’s next pointer</a:t>
            </a:r>
          </a:p>
          <a:p>
            <a:pPr lvl="1"/>
            <a:r>
              <a:rPr lang="en-US" sz="2200" dirty="0"/>
              <a:t>Set temp-&gt;next to the new node.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9890533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pic>
        <p:nvPicPr>
          <p:cNvPr id="2" name="Image 155">
            <a:extLst>
              <a:ext uri="{FF2B5EF4-FFF2-40B4-BE49-F238E27FC236}">
                <a16:creationId xmlns:a16="http://schemas.microsoft.com/office/drawing/2014/main" id="{D2C39C01-0BB7-B2D2-0049-E9C15DF3088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52524" y="1405255"/>
            <a:ext cx="9908541" cy="487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116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1"/>
            <a:ext cx="3108960" cy="1132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Program Example:</a:t>
            </a:r>
          </a:p>
        </p:txBody>
      </p:sp>
      <p:pic>
        <p:nvPicPr>
          <p:cNvPr id="4" name="Picture 3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4EC4F26B-F81C-3F9E-FD0E-EBEE02DDA1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" t="3650" r="3258" b="3968"/>
          <a:stretch/>
        </p:blipFill>
        <p:spPr>
          <a:xfrm>
            <a:off x="4096733" y="0"/>
            <a:ext cx="8095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784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48343"/>
            <a:ext cx="10659110" cy="60524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b="1" dirty="0"/>
              <a:t>3. </a:t>
            </a:r>
            <a:r>
              <a:rPr lang="en-US" sz="2400" b="1" dirty="0"/>
              <a:t>Insertion at a </a:t>
            </a:r>
            <a:r>
              <a:rPr lang="en-US" sz="2400" b="1" dirty="0">
                <a:solidFill>
                  <a:srgbClr val="002060"/>
                </a:solidFill>
              </a:rPr>
              <a:t>Specific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Position</a:t>
            </a:r>
            <a:r>
              <a:rPr lang="en-US" sz="2400" dirty="0"/>
              <a:t> (</a:t>
            </a:r>
            <a:r>
              <a:rPr lang="en-US" sz="2400" b="1" dirty="0"/>
              <a:t>Middle</a:t>
            </a:r>
            <a:r>
              <a:rPr lang="en-US" sz="2400" dirty="0"/>
              <a:t>): Inserting a node in the middle of a linked list means inserting it at a </a:t>
            </a:r>
            <a:r>
              <a:rPr lang="en-US" sz="2400" b="1" dirty="0">
                <a:solidFill>
                  <a:srgbClr val="C00000"/>
                </a:solidFill>
              </a:rPr>
              <a:t>given position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Steps for Insertion at a Specific Position</a:t>
            </a:r>
          </a:p>
          <a:p>
            <a:pPr marL="0" indent="0">
              <a:buNone/>
            </a:pPr>
            <a:r>
              <a:rPr lang="en-US" sz="2400" b="1" dirty="0"/>
              <a:t>Step-1: </a:t>
            </a:r>
            <a:r>
              <a:rPr lang="en-US" sz="2400" b="1" dirty="0">
                <a:solidFill>
                  <a:srgbClr val="C00000"/>
                </a:solidFill>
              </a:rPr>
              <a:t>Create</a:t>
            </a:r>
            <a:r>
              <a:rPr lang="en-US" sz="2400" dirty="0"/>
              <a:t> a new node</a:t>
            </a:r>
          </a:p>
          <a:p>
            <a:pPr lvl="1"/>
            <a:r>
              <a:rPr lang="en-US" sz="2200" dirty="0"/>
              <a:t>Allocate memory for a new node using malloc().</a:t>
            </a:r>
          </a:p>
          <a:p>
            <a:pPr lvl="1"/>
            <a:r>
              <a:rPr lang="en-US" sz="2200" dirty="0"/>
              <a:t>Assign the given value to the new node's data.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Step-2: </a:t>
            </a:r>
            <a:r>
              <a:rPr lang="en-US" sz="2400" dirty="0"/>
              <a:t>Handle </a:t>
            </a:r>
            <a:r>
              <a:rPr lang="en-US" sz="2400" b="1" dirty="0">
                <a:solidFill>
                  <a:srgbClr val="C00000"/>
                </a:solidFill>
              </a:rPr>
              <a:t>Special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Case</a:t>
            </a:r>
            <a:r>
              <a:rPr lang="en-US" sz="2400" dirty="0"/>
              <a:t> (Position = 1 → Insert at Beginning)</a:t>
            </a:r>
          </a:p>
          <a:p>
            <a:pPr lvl="1"/>
            <a:r>
              <a:rPr lang="en-US" sz="2200" dirty="0"/>
              <a:t>If the position is 1, use the insertion at the beginning method.</a:t>
            </a:r>
          </a:p>
          <a:p>
            <a:pPr lvl="1"/>
            <a:endParaRPr lang="en-US" sz="2200" dirty="0"/>
          </a:p>
          <a:p>
            <a:pPr marL="0" indent="0">
              <a:buNone/>
            </a:pPr>
            <a:r>
              <a:rPr lang="en-US" sz="2400" b="1" dirty="0"/>
              <a:t>Step-3: </a:t>
            </a:r>
            <a:r>
              <a:rPr lang="en-US" sz="2400" b="1" dirty="0">
                <a:solidFill>
                  <a:srgbClr val="C00000"/>
                </a:solidFill>
              </a:rPr>
              <a:t>Traverse</a:t>
            </a:r>
            <a:r>
              <a:rPr lang="en-US" sz="2400" dirty="0"/>
              <a:t> to the (</a:t>
            </a:r>
            <a:r>
              <a:rPr lang="en-US" sz="2400" b="1" dirty="0"/>
              <a:t>position - 1</a:t>
            </a:r>
            <a:r>
              <a:rPr lang="en-US" sz="2400" dirty="0"/>
              <a:t>)</a:t>
            </a:r>
            <a:r>
              <a:rPr lang="en-US" sz="2400" dirty="0" err="1"/>
              <a:t>th</a:t>
            </a:r>
            <a:r>
              <a:rPr lang="en-US" sz="2400" dirty="0"/>
              <a:t> Node</a:t>
            </a:r>
          </a:p>
          <a:p>
            <a:pPr lvl="1"/>
            <a:r>
              <a:rPr lang="en-US" sz="2200" dirty="0"/>
              <a:t>Use a temporary pointer to move to the node just before the desired position.</a:t>
            </a:r>
          </a:p>
          <a:p>
            <a:pPr lvl="1"/>
            <a:r>
              <a:rPr lang="en-US" sz="2200" dirty="0"/>
              <a:t>Stop when the current position reaches (pos-1).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Step-4: </a:t>
            </a:r>
            <a:r>
              <a:rPr lang="en-US" sz="2400" dirty="0"/>
              <a:t>Check for </a:t>
            </a:r>
            <a:r>
              <a:rPr lang="en-US" sz="2400" b="1" dirty="0">
                <a:solidFill>
                  <a:srgbClr val="C00000"/>
                </a:solidFill>
              </a:rPr>
              <a:t>Invalid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Position</a:t>
            </a:r>
          </a:p>
          <a:p>
            <a:pPr lvl="1"/>
            <a:r>
              <a:rPr lang="en-US" sz="2200" dirty="0"/>
              <a:t>If the list is shorter than the required position, print an error message.</a:t>
            </a:r>
          </a:p>
          <a:p>
            <a:pPr marL="0" indent="0">
              <a:buNone/>
            </a:pPr>
            <a:r>
              <a:rPr lang="en-US" sz="2400" b="1" dirty="0"/>
              <a:t>Step-5: </a:t>
            </a:r>
            <a:r>
              <a:rPr lang="en-US" sz="2400" b="1" dirty="0">
                <a:solidFill>
                  <a:srgbClr val="C00000"/>
                </a:solidFill>
              </a:rPr>
              <a:t>Insert</a:t>
            </a:r>
            <a:r>
              <a:rPr lang="en-US" sz="2400" dirty="0"/>
              <a:t> the New Node</a:t>
            </a:r>
          </a:p>
          <a:p>
            <a:pPr lvl="1"/>
            <a:r>
              <a:rPr lang="en-US" sz="2200" dirty="0"/>
              <a:t>Set the next pointer of the new node to point to the current (pos)</a:t>
            </a:r>
            <a:r>
              <a:rPr lang="en-US" sz="2200" dirty="0" err="1"/>
              <a:t>th</a:t>
            </a:r>
            <a:r>
              <a:rPr lang="en-US" sz="2200" dirty="0"/>
              <a:t> node.</a:t>
            </a:r>
          </a:p>
          <a:p>
            <a:pPr lvl="1"/>
            <a:r>
              <a:rPr lang="en-US" sz="2200" dirty="0"/>
              <a:t>Update the (pos-1)</a:t>
            </a:r>
            <a:r>
              <a:rPr lang="en-US" sz="2200" dirty="0" err="1"/>
              <a:t>th</a:t>
            </a:r>
            <a:r>
              <a:rPr lang="en-US" sz="2200" dirty="0"/>
              <a:t> node’s next to point to the new node.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22725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1"/>
            <a:ext cx="1965960" cy="1055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pic>
        <p:nvPicPr>
          <p:cNvPr id="2" name="Image 156">
            <a:extLst>
              <a:ext uri="{FF2B5EF4-FFF2-40B4-BE49-F238E27FC236}">
                <a16:creationId xmlns:a16="http://schemas.microsoft.com/office/drawing/2014/main" id="{113235B6-6F7A-D2ED-79B6-95A65D171F0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09446" y="-1"/>
            <a:ext cx="9182554" cy="674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0792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355" y="1001486"/>
            <a:ext cx="4306389" cy="2427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Program Example:</a:t>
            </a: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74F4B64-BAB1-CA4C-2DD3-44F7841ED2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9" t="5107" r="3129" b="5997"/>
          <a:stretch/>
        </p:blipFill>
        <p:spPr>
          <a:xfrm>
            <a:off x="5268685" y="0"/>
            <a:ext cx="6923315" cy="6826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23C859-7642-A6D1-0C2A-E50C11A22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7" y="2786143"/>
            <a:ext cx="5229828" cy="55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440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620" y="2449287"/>
            <a:ext cx="5318760" cy="1077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/>
              <a:t>2. Deleting a Node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9770385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81297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400" b="1" dirty="0"/>
              <a:t>Deletion </a:t>
            </a:r>
            <a:r>
              <a:rPr lang="en-US" sz="2400" dirty="0"/>
              <a:t>At the </a:t>
            </a:r>
            <a:r>
              <a:rPr lang="en-US" sz="2400" b="1" dirty="0">
                <a:solidFill>
                  <a:srgbClr val="002060"/>
                </a:solidFill>
              </a:rPr>
              <a:t>beginning: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	</a:t>
            </a:r>
            <a:r>
              <a:rPr lang="en-US" sz="2400" dirty="0"/>
              <a:t>Deleting a node from the </a:t>
            </a:r>
            <a:r>
              <a:rPr lang="en-US" sz="2400" b="1" dirty="0"/>
              <a:t>beginning</a:t>
            </a:r>
            <a:r>
              <a:rPr lang="en-US" sz="2400" dirty="0"/>
              <a:t> of a singly linked list means </a:t>
            </a:r>
            <a:r>
              <a:rPr lang="en-US" sz="2400" b="1" dirty="0">
                <a:solidFill>
                  <a:srgbClr val="C00000"/>
                </a:solidFill>
              </a:rPr>
              <a:t>removing the head node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updating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head</a:t>
            </a:r>
            <a:r>
              <a:rPr lang="en-US" sz="2400" dirty="0"/>
              <a:t> to the </a:t>
            </a:r>
            <a:r>
              <a:rPr lang="en-US" sz="2400" b="1" dirty="0">
                <a:solidFill>
                  <a:srgbClr val="C00000"/>
                </a:solidFill>
              </a:rPr>
              <a:t>next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node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400" b="1" dirty="0"/>
              <a:t>Steps for Deletion at the Beginning</a:t>
            </a:r>
          </a:p>
          <a:p>
            <a:pPr marL="0" indent="0">
              <a:buNone/>
            </a:pPr>
            <a:r>
              <a:rPr lang="en-US" sz="2400" b="1" dirty="0"/>
              <a:t>Step-1: </a:t>
            </a:r>
            <a:r>
              <a:rPr lang="en-US" sz="2400" dirty="0"/>
              <a:t>Check if the </a:t>
            </a:r>
            <a:r>
              <a:rPr lang="en-US" sz="2400" b="1" dirty="0">
                <a:solidFill>
                  <a:srgbClr val="C00000"/>
                </a:solidFill>
              </a:rPr>
              <a:t>list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C00000"/>
                </a:solidFill>
              </a:rPr>
              <a:t>empty</a:t>
            </a:r>
          </a:p>
          <a:p>
            <a:pPr lvl="1"/>
            <a:r>
              <a:rPr lang="en-US" sz="2400" dirty="0"/>
              <a:t>If head == NULL, print an error message (no deletion possible).</a:t>
            </a:r>
          </a:p>
          <a:p>
            <a:pPr marL="0" indent="0">
              <a:buNone/>
            </a:pPr>
            <a:r>
              <a:rPr lang="en-US" sz="2400" b="1" dirty="0"/>
              <a:t>Step-2: </a:t>
            </a:r>
            <a:r>
              <a:rPr lang="en-US" sz="2400" dirty="0"/>
              <a:t>Store the current head node in a </a:t>
            </a:r>
            <a:r>
              <a:rPr lang="en-US" sz="2400" b="1" dirty="0">
                <a:solidFill>
                  <a:srgbClr val="C00000"/>
                </a:solidFill>
              </a:rPr>
              <a:t>temporary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pointer</a:t>
            </a:r>
          </a:p>
          <a:p>
            <a:pPr lvl="1"/>
            <a:r>
              <a:rPr lang="en-US" sz="2400" dirty="0"/>
              <a:t>This will help in freeing memory after updating head.</a:t>
            </a:r>
          </a:p>
          <a:p>
            <a:pPr marL="0" indent="0">
              <a:buNone/>
            </a:pPr>
            <a:r>
              <a:rPr lang="en-US" sz="2400" b="1" dirty="0"/>
              <a:t>Step-3: </a:t>
            </a:r>
            <a:r>
              <a:rPr lang="en-US" sz="2400" b="1" dirty="0">
                <a:solidFill>
                  <a:srgbClr val="C00000"/>
                </a:solidFill>
              </a:rPr>
              <a:t>Update</a:t>
            </a:r>
            <a:r>
              <a:rPr lang="en-US" sz="2400" dirty="0"/>
              <a:t> the head pointer</a:t>
            </a:r>
          </a:p>
          <a:p>
            <a:pPr lvl="1"/>
            <a:r>
              <a:rPr lang="en-US" sz="2400" dirty="0"/>
              <a:t>Move head to the next node (head = head-&gt;next).</a:t>
            </a:r>
          </a:p>
          <a:p>
            <a:pPr marL="0" indent="0">
              <a:buNone/>
            </a:pPr>
            <a:r>
              <a:rPr lang="en-US" sz="2400" b="1" dirty="0"/>
              <a:t>Step-4: </a:t>
            </a:r>
            <a:r>
              <a:rPr lang="en-US" sz="2400" b="1" dirty="0">
                <a:solidFill>
                  <a:srgbClr val="C00000"/>
                </a:solidFill>
              </a:rPr>
              <a:t>Free</a:t>
            </a:r>
            <a:r>
              <a:rPr lang="en-US" sz="2400" dirty="0"/>
              <a:t> memory of the deleted node</a:t>
            </a:r>
          </a:p>
          <a:p>
            <a:pPr lvl="1"/>
            <a:r>
              <a:rPr lang="en-US" sz="2400" dirty="0"/>
              <a:t>Use free(temp) to deallocate memory and prevent memory leaks.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625737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pic>
        <p:nvPicPr>
          <p:cNvPr id="2" name="Image 157">
            <a:extLst>
              <a:ext uri="{FF2B5EF4-FFF2-40B4-BE49-F238E27FC236}">
                <a16:creationId xmlns:a16="http://schemas.microsoft.com/office/drawing/2014/main" id="{57997E48-1B82-3552-0EE7-D173465A442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77257" y="1551576"/>
            <a:ext cx="8879114" cy="34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882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2597331" cy="1502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Program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7ADD28-0904-98B9-CB53-C465AB325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637" y="0"/>
            <a:ext cx="7570363" cy="687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93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Deletion At the </a:t>
            </a:r>
            <a:r>
              <a:rPr lang="en-US" sz="2400" b="1" dirty="0">
                <a:solidFill>
                  <a:srgbClr val="002060"/>
                </a:solidFill>
              </a:rPr>
              <a:t>End: </a:t>
            </a:r>
          </a:p>
          <a:p>
            <a:pPr marL="0" indent="0">
              <a:buNone/>
            </a:pPr>
            <a:r>
              <a:rPr lang="en-US" sz="2400" dirty="0"/>
              <a:t>Deleting a node from the end of a singly linked list means </a:t>
            </a:r>
            <a:r>
              <a:rPr lang="en-US" sz="2400" b="1" dirty="0">
                <a:solidFill>
                  <a:srgbClr val="C00000"/>
                </a:solidFill>
              </a:rPr>
              <a:t>removing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last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node</a:t>
            </a:r>
            <a:r>
              <a:rPr lang="en-US" sz="2400" dirty="0"/>
              <a:t> and </a:t>
            </a:r>
            <a:r>
              <a:rPr lang="en-US" sz="2400" b="1" dirty="0"/>
              <a:t>updating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second-last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node's</a:t>
            </a:r>
            <a:r>
              <a:rPr lang="en-US" sz="2400" dirty="0"/>
              <a:t> next </a:t>
            </a:r>
            <a:r>
              <a:rPr lang="en-US" sz="2400" b="1" dirty="0"/>
              <a:t>pointer</a:t>
            </a:r>
            <a:r>
              <a:rPr lang="en-US" sz="2400" dirty="0"/>
              <a:t> to </a:t>
            </a:r>
            <a:r>
              <a:rPr lang="en-US" sz="2400" b="1" dirty="0">
                <a:solidFill>
                  <a:srgbClr val="C00000"/>
                </a:solidFill>
              </a:rPr>
              <a:t>NULL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Steps for Deletion at the End</a:t>
            </a:r>
          </a:p>
          <a:p>
            <a:pPr marL="0" indent="0">
              <a:buNone/>
            </a:pPr>
            <a:r>
              <a:rPr lang="en-US" sz="2400" b="1" dirty="0"/>
              <a:t>Step-1: </a:t>
            </a:r>
            <a:r>
              <a:rPr lang="en-US" sz="2400" b="1" dirty="0">
                <a:solidFill>
                  <a:srgbClr val="C00000"/>
                </a:solidFill>
              </a:rPr>
              <a:t>Check</a:t>
            </a:r>
            <a:r>
              <a:rPr lang="en-US" sz="2400" dirty="0"/>
              <a:t> if the list is empty</a:t>
            </a:r>
          </a:p>
          <a:p>
            <a:pPr lvl="1"/>
            <a:r>
              <a:rPr lang="en-US" sz="2200" dirty="0"/>
              <a:t>If head == NULL, print an error message (no deletion possible).</a:t>
            </a:r>
          </a:p>
          <a:p>
            <a:pPr marL="0" indent="0">
              <a:buNone/>
            </a:pPr>
            <a:r>
              <a:rPr lang="en-US" sz="2400" b="1" dirty="0"/>
              <a:t>Step-2: </a:t>
            </a:r>
            <a:r>
              <a:rPr lang="en-US" sz="2400" b="1" dirty="0">
                <a:solidFill>
                  <a:srgbClr val="C00000"/>
                </a:solidFill>
              </a:rPr>
              <a:t>Check</a:t>
            </a:r>
            <a:r>
              <a:rPr lang="en-US" sz="2400" dirty="0"/>
              <a:t> if there is only one node</a:t>
            </a:r>
          </a:p>
          <a:p>
            <a:pPr lvl="1"/>
            <a:r>
              <a:rPr lang="en-US" sz="2200" dirty="0"/>
              <a:t>If head-&gt;next == NULL, free the head node and set head = NULL.</a:t>
            </a:r>
          </a:p>
          <a:p>
            <a:pPr marL="0" indent="0">
              <a:buNone/>
            </a:pPr>
            <a:r>
              <a:rPr lang="en-US" sz="2400" b="1" dirty="0"/>
              <a:t>Step-3: </a:t>
            </a:r>
            <a:r>
              <a:rPr lang="en-US" sz="2400" b="1" dirty="0">
                <a:solidFill>
                  <a:srgbClr val="C00000"/>
                </a:solidFill>
              </a:rPr>
              <a:t>Traverse</a:t>
            </a:r>
            <a:r>
              <a:rPr lang="en-US" sz="2400" dirty="0"/>
              <a:t> to the second-last node</a:t>
            </a:r>
          </a:p>
          <a:p>
            <a:pPr lvl="1"/>
            <a:r>
              <a:rPr lang="en-US" sz="2200" dirty="0"/>
              <a:t>Use a temporary pointer (temp) to iterate until temp-&gt;next-&gt;next == NULL.</a:t>
            </a:r>
          </a:p>
          <a:p>
            <a:pPr marL="0" indent="0">
              <a:buNone/>
            </a:pPr>
            <a:r>
              <a:rPr lang="en-US" sz="2400" b="1" dirty="0"/>
              <a:t>Step-4: </a:t>
            </a:r>
            <a:r>
              <a:rPr lang="en-US" sz="2400" b="1" dirty="0">
                <a:solidFill>
                  <a:srgbClr val="C00000"/>
                </a:solidFill>
              </a:rPr>
              <a:t>Free</a:t>
            </a:r>
            <a:r>
              <a:rPr lang="en-US" sz="2400" dirty="0"/>
              <a:t> memory of the last node</a:t>
            </a:r>
          </a:p>
          <a:p>
            <a:pPr lvl="1"/>
            <a:r>
              <a:rPr lang="en-US" sz="2200" dirty="0"/>
              <a:t>Store the last node in another pointer, free its memory, and set temp-&gt;next = NULL.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5917841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pic>
        <p:nvPicPr>
          <p:cNvPr id="2" name="Image 158">
            <a:extLst>
              <a:ext uri="{FF2B5EF4-FFF2-40B4-BE49-F238E27FC236}">
                <a16:creationId xmlns:a16="http://schemas.microsoft.com/office/drawing/2014/main" id="{AE23DBA7-A200-81A2-2A8C-84325E04D21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59922" y="1275987"/>
            <a:ext cx="8650877" cy="489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910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983" y="1055915"/>
            <a:ext cx="3522617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Program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43787-2DB1-7C8C-C158-586F47F24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222" y="0"/>
            <a:ext cx="7010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314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71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Deletion a Specific Node</a:t>
            </a:r>
            <a:r>
              <a:rPr lang="en-US" sz="2400" b="1" dirty="0">
                <a:solidFill>
                  <a:srgbClr val="002060"/>
                </a:solidFill>
              </a:rPr>
              <a:t>: 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Steps for Deletion at a Specific Position</a:t>
            </a:r>
          </a:p>
          <a:p>
            <a:pPr marL="0" indent="0">
              <a:buNone/>
            </a:pPr>
            <a:r>
              <a:rPr lang="en-US" sz="2400" b="1" dirty="0"/>
              <a:t>Step-1: </a:t>
            </a:r>
            <a:r>
              <a:rPr lang="en-US" sz="2400" dirty="0"/>
              <a:t>Check if the list is </a:t>
            </a:r>
            <a:r>
              <a:rPr lang="en-US" sz="2400" b="1" dirty="0">
                <a:solidFill>
                  <a:srgbClr val="C00000"/>
                </a:solidFill>
              </a:rPr>
              <a:t>empty</a:t>
            </a:r>
          </a:p>
          <a:p>
            <a:pPr lvl="1"/>
            <a:r>
              <a:rPr lang="en-US" sz="2200" dirty="0"/>
              <a:t>If head == NULL, print an error message (no deletion possible).</a:t>
            </a:r>
          </a:p>
          <a:p>
            <a:pPr marL="0" indent="0">
              <a:buNone/>
            </a:pPr>
            <a:r>
              <a:rPr lang="en-US" sz="2400" b="1" dirty="0"/>
              <a:t>Step-2: </a:t>
            </a:r>
            <a:r>
              <a:rPr lang="en-US" sz="2400" dirty="0"/>
              <a:t>Check if the </a:t>
            </a:r>
            <a:r>
              <a:rPr lang="en-US" sz="2400" b="1" dirty="0">
                <a:solidFill>
                  <a:srgbClr val="C00000"/>
                </a:solidFill>
              </a:rPr>
              <a:t>first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node</a:t>
            </a:r>
            <a:r>
              <a:rPr lang="en-US" sz="2400" dirty="0"/>
              <a:t> (head) needs to be deleted</a:t>
            </a:r>
          </a:p>
          <a:p>
            <a:pPr lvl="1"/>
            <a:r>
              <a:rPr lang="en-US" sz="2200" dirty="0"/>
              <a:t>If position == 1, update head = head-&gt;next and free the old head.</a:t>
            </a:r>
          </a:p>
          <a:p>
            <a:pPr marL="0" indent="0">
              <a:buNone/>
            </a:pPr>
            <a:r>
              <a:rPr lang="en-US" sz="2400" b="1" dirty="0"/>
              <a:t>Step-3: </a:t>
            </a:r>
            <a:r>
              <a:rPr lang="en-US" sz="2400" dirty="0"/>
              <a:t>Find the </a:t>
            </a:r>
            <a:r>
              <a:rPr lang="en-US" sz="2400" b="1" dirty="0">
                <a:solidFill>
                  <a:srgbClr val="C00000"/>
                </a:solidFill>
              </a:rPr>
              <a:t>node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before</a:t>
            </a:r>
            <a:r>
              <a:rPr lang="en-US" sz="2400" dirty="0"/>
              <a:t> the one to delete</a:t>
            </a:r>
          </a:p>
          <a:p>
            <a:pPr lvl="1"/>
            <a:r>
              <a:rPr lang="en-US" sz="2200" dirty="0"/>
              <a:t>Traverse the list using a temporary pointer (temp).</a:t>
            </a:r>
          </a:p>
          <a:p>
            <a:pPr lvl="1"/>
            <a:r>
              <a:rPr lang="en-US" sz="2200" dirty="0"/>
              <a:t>Stop at (position - 1)</a:t>
            </a:r>
            <a:r>
              <a:rPr lang="en-US" sz="2200" dirty="0" err="1"/>
              <a:t>th</a:t>
            </a:r>
            <a:r>
              <a:rPr lang="en-US" sz="2200" dirty="0"/>
              <a:t> node (the node before the one to be deleted).</a:t>
            </a:r>
          </a:p>
          <a:p>
            <a:pPr marL="0" indent="0">
              <a:buNone/>
            </a:pPr>
            <a:r>
              <a:rPr lang="en-US" sz="2400" b="1" dirty="0"/>
              <a:t>Step-4: </a:t>
            </a:r>
            <a:r>
              <a:rPr lang="en-US" sz="2400" dirty="0"/>
              <a:t>Check if the </a:t>
            </a:r>
            <a:r>
              <a:rPr lang="en-US" sz="2400" b="1" dirty="0">
                <a:solidFill>
                  <a:srgbClr val="C00000"/>
                </a:solidFill>
              </a:rPr>
              <a:t>position</a:t>
            </a:r>
            <a:r>
              <a:rPr lang="en-US" sz="2400" dirty="0"/>
              <a:t> is valid</a:t>
            </a:r>
          </a:p>
          <a:p>
            <a:pPr lvl="1"/>
            <a:r>
              <a:rPr lang="en-US" sz="2200" dirty="0"/>
              <a:t>If temp == NULL or temp-&gt;next == NULL, print an error (position out of range).</a:t>
            </a:r>
          </a:p>
          <a:p>
            <a:pPr marL="0" indent="0">
              <a:buNone/>
            </a:pPr>
            <a:r>
              <a:rPr lang="en-US" sz="2400" b="1" dirty="0"/>
              <a:t>Step-5: </a:t>
            </a:r>
            <a:r>
              <a:rPr lang="en-US" sz="2400" b="1" dirty="0">
                <a:solidFill>
                  <a:srgbClr val="C00000"/>
                </a:solidFill>
              </a:rPr>
              <a:t>Delete</a:t>
            </a:r>
            <a:r>
              <a:rPr lang="en-US" sz="2400" dirty="0"/>
              <a:t> the node</a:t>
            </a:r>
          </a:p>
          <a:p>
            <a:pPr lvl="1"/>
            <a:r>
              <a:rPr lang="en-US" sz="2200" dirty="0"/>
              <a:t>Store the node to be deleted in another pointer, update temp-&gt;next = temp-&gt;next-&gt;next, and free memory.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9009465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pic>
        <p:nvPicPr>
          <p:cNvPr id="2" name="Image 159">
            <a:extLst>
              <a:ext uri="{FF2B5EF4-FFF2-40B4-BE49-F238E27FC236}">
                <a16:creationId xmlns:a16="http://schemas.microsoft.com/office/drawing/2014/main" id="{41CAAC9E-2F06-EAB8-9156-B9E835145121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86953" y="157321"/>
            <a:ext cx="8511133" cy="654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991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411" y="979714"/>
            <a:ext cx="2847703" cy="129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Program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E01C20-FEDC-EC3C-D2A5-4B1E46C22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338" y="0"/>
            <a:ext cx="8999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4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3. Traversal (Displaying the list):</a:t>
            </a:r>
          </a:p>
          <a:p>
            <a:pPr marL="0" indent="0">
              <a:buNone/>
            </a:pPr>
            <a:r>
              <a:rPr lang="en-US" sz="2400" dirty="0"/>
              <a:t>Traversal in a singly linked list means </a:t>
            </a:r>
            <a:r>
              <a:rPr lang="en-US" sz="2400" b="1" dirty="0">
                <a:solidFill>
                  <a:srgbClr val="C00000"/>
                </a:solidFill>
              </a:rPr>
              <a:t>visiting each node one by one </a:t>
            </a:r>
            <a:r>
              <a:rPr lang="en-US" sz="2400" dirty="0"/>
              <a:t>and processing its data (e.g., printing it).</a:t>
            </a:r>
          </a:p>
          <a:p>
            <a:pPr marL="0" indent="0">
              <a:buNone/>
            </a:pPr>
            <a:r>
              <a:rPr lang="en-US" sz="2400" b="1" dirty="0"/>
              <a:t>Steps for Traversal</a:t>
            </a:r>
          </a:p>
          <a:p>
            <a:pPr marL="0" indent="0">
              <a:buNone/>
            </a:pPr>
            <a:r>
              <a:rPr lang="en-US" sz="2400" b="1" dirty="0"/>
              <a:t>Step-1: </a:t>
            </a:r>
            <a:r>
              <a:rPr lang="en-US" sz="2400" dirty="0"/>
              <a:t>Check if the list </a:t>
            </a:r>
            <a:r>
              <a:rPr lang="en-US" sz="2400" b="1" dirty="0">
                <a:solidFill>
                  <a:srgbClr val="C00000"/>
                </a:solidFill>
              </a:rPr>
              <a:t>is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empty</a:t>
            </a:r>
          </a:p>
          <a:p>
            <a:pPr lvl="1"/>
            <a:r>
              <a:rPr lang="en-US" sz="2400" dirty="0"/>
              <a:t>If head == NULL, print "List is empty!"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Step-2: </a:t>
            </a:r>
            <a:r>
              <a:rPr lang="en-US" sz="2400" dirty="0"/>
              <a:t>Use a </a:t>
            </a:r>
            <a:r>
              <a:rPr lang="en-US" sz="2400" b="1" dirty="0">
                <a:solidFill>
                  <a:srgbClr val="C00000"/>
                </a:solidFill>
              </a:rPr>
              <a:t>temporary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pointer</a:t>
            </a:r>
            <a:r>
              <a:rPr lang="en-US" sz="2400" dirty="0"/>
              <a:t> to traverse</a:t>
            </a:r>
          </a:p>
          <a:p>
            <a:pPr lvl="1"/>
            <a:r>
              <a:rPr lang="en-US" sz="2400" dirty="0"/>
              <a:t>Start from head and move to next until NULL is reached.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Step-3: </a:t>
            </a:r>
            <a:r>
              <a:rPr lang="en-US" sz="2400" b="1" dirty="0">
                <a:solidFill>
                  <a:srgbClr val="C00000"/>
                </a:solidFill>
              </a:rPr>
              <a:t>Print</a:t>
            </a:r>
            <a:r>
              <a:rPr lang="en-US" sz="2400" dirty="0"/>
              <a:t> each node’s data</a:t>
            </a:r>
          </a:p>
          <a:p>
            <a:pPr lvl="1"/>
            <a:r>
              <a:rPr lang="en-US" sz="2400" dirty="0"/>
              <a:t>Access temp-&gt;data and move temp = temp-&gt;next.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643175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011" y="1023258"/>
            <a:ext cx="3664131" cy="2939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DD9CA-D253-EB5B-2DD0-49CDCB649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171" y="0"/>
            <a:ext cx="7301829" cy="68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122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Advantages of Singly Linked List</a:t>
            </a:r>
          </a:p>
          <a:p>
            <a:pPr marL="0" indent="0">
              <a:buNone/>
            </a:pPr>
            <a:r>
              <a:rPr lang="en-US" sz="3200" b="1" dirty="0"/>
              <a:t>✔ Dynamic Size → </a:t>
            </a:r>
            <a:r>
              <a:rPr lang="en-US" sz="3200" dirty="0"/>
              <a:t>Can grow or shrink as needed.</a:t>
            </a:r>
          </a:p>
          <a:p>
            <a:pPr marL="0" indent="0">
              <a:buNone/>
            </a:pPr>
            <a:r>
              <a:rPr lang="en-US" sz="3200" b="1" dirty="0"/>
              <a:t>✔ Efficient Insertions/Deletions → </a:t>
            </a:r>
            <a:r>
              <a:rPr lang="en-US" sz="3200" dirty="0"/>
              <a:t>No need for shifting elements like arrays.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Disadvantages</a:t>
            </a:r>
          </a:p>
          <a:p>
            <a:pPr marL="0" indent="0">
              <a:buNone/>
            </a:pPr>
            <a:r>
              <a:rPr lang="en-US" sz="3200" b="1" dirty="0"/>
              <a:t>❌ Sequential Access → </a:t>
            </a:r>
            <a:r>
              <a:rPr lang="en-US" sz="3200" dirty="0"/>
              <a:t>No random access like arrays.</a:t>
            </a:r>
          </a:p>
          <a:p>
            <a:pPr marL="0" indent="0">
              <a:buNone/>
            </a:pPr>
            <a:r>
              <a:rPr lang="en-US" sz="3200" b="1" dirty="0"/>
              <a:t>❌ Extra Memory Overhead → </a:t>
            </a:r>
            <a:r>
              <a:rPr lang="en-US" sz="3200" dirty="0"/>
              <a:t>Each node requires additional memory for the pointer.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4471529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34" y="683418"/>
            <a:ext cx="10826931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Storage classes and Visibility:</a:t>
            </a:r>
          </a:p>
          <a:p>
            <a:pPr marL="0" indent="0">
              <a:buNone/>
            </a:pPr>
            <a:r>
              <a:rPr lang="en-US" sz="2800" dirty="0"/>
              <a:t>In C, storage classes define the </a:t>
            </a:r>
            <a:r>
              <a:rPr lang="en-US" sz="2800" b="1" dirty="0">
                <a:solidFill>
                  <a:srgbClr val="C00000"/>
                </a:solidFill>
              </a:rPr>
              <a:t>lifetime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C00000"/>
                </a:solidFill>
              </a:rPr>
              <a:t>scope</a:t>
            </a:r>
            <a:r>
              <a:rPr lang="en-US" sz="2800" dirty="0"/>
              <a:t>, and </a:t>
            </a:r>
            <a:r>
              <a:rPr lang="en-US" sz="2800" b="1" dirty="0">
                <a:solidFill>
                  <a:srgbClr val="C00000"/>
                </a:solidFill>
              </a:rPr>
              <a:t>visibility</a:t>
            </a:r>
            <a:r>
              <a:rPr lang="en-US" sz="2800" dirty="0"/>
              <a:t> of </a:t>
            </a:r>
            <a:r>
              <a:rPr lang="en-US" sz="2800" b="1" dirty="0"/>
              <a:t>variables</a:t>
            </a:r>
            <a:r>
              <a:rPr lang="en-US" sz="2800" dirty="0"/>
              <a:t>. </a:t>
            </a:r>
          </a:p>
          <a:p>
            <a:pPr marL="0" indent="0">
              <a:buNone/>
            </a:pPr>
            <a:r>
              <a:rPr lang="en-US" sz="2800" dirty="0"/>
              <a:t>They specify </a:t>
            </a:r>
            <a:r>
              <a:rPr lang="en-US" sz="2800" b="1" dirty="0">
                <a:solidFill>
                  <a:srgbClr val="002060"/>
                </a:solidFill>
              </a:rPr>
              <a:t>where a variable is stored</a:t>
            </a:r>
            <a:r>
              <a:rPr lang="en-US" sz="2800" dirty="0"/>
              <a:t>,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how long its value is retained</a:t>
            </a:r>
            <a:r>
              <a:rPr lang="en-US" sz="2800" dirty="0"/>
              <a:t>, and </a:t>
            </a:r>
            <a:r>
              <a:rPr lang="en-US" sz="2800" b="1" dirty="0">
                <a:solidFill>
                  <a:srgbClr val="002060"/>
                </a:solidFill>
              </a:rPr>
              <a:t>how it can be accessed</a:t>
            </a:r>
            <a:r>
              <a:rPr lang="en-US" sz="2800" dirty="0"/>
              <a:t> which help us to </a:t>
            </a:r>
            <a:r>
              <a:rPr lang="en-US" sz="2800" b="1" dirty="0">
                <a:solidFill>
                  <a:srgbClr val="C00000"/>
                </a:solidFill>
              </a:rPr>
              <a:t>trace</a:t>
            </a:r>
            <a:r>
              <a:rPr lang="en-US" sz="2800" dirty="0"/>
              <a:t> the </a:t>
            </a:r>
            <a:r>
              <a:rPr lang="en-US" sz="2800" b="1" dirty="0"/>
              <a:t>existence</a:t>
            </a:r>
            <a:r>
              <a:rPr lang="en-US" sz="2800" dirty="0"/>
              <a:t> </a:t>
            </a:r>
            <a:r>
              <a:rPr lang="en-US" sz="2800" b="1" dirty="0"/>
              <a:t>of</a:t>
            </a:r>
            <a:r>
              <a:rPr lang="en-US" sz="2800" dirty="0"/>
              <a:t> a </a:t>
            </a:r>
            <a:r>
              <a:rPr lang="en-US" sz="2800" b="1" dirty="0"/>
              <a:t>particular</a:t>
            </a:r>
            <a:r>
              <a:rPr lang="en-US" sz="2800" dirty="0"/>
              <a:t> </a:t>
            </a:r>
            <a:r>
              <a:rPr lang="en-US" sz="2800" b="1" dirty="0"/>
              <a:t>variable</a:t>
            </a:r>
            <a:r>
              <a:rPr lang="en-US" sz="2800" dirty="0"/>
              <a:t> during the runtime of a program.</a:t>
            </a:r>
          </a:p>
          <a:p>
            <a:pPr marL="0" indent="0">
              <a:buNone/>
            </a:pPr>
            <a:r>
              <a:rPr lang="en-US" sz="2800" b="1" dirty="0"/>
              <a:t>In C, there are </a:t>
            </a:r>
            <a:r>
              <a:rPr lang="en-US" sz="2800" b="1" dirty="0">
                <a:solidFill>
                  <a:srgbClr val="C00000"/>
                </a:solidFill>
              </a:rPr>
              <a:t>4</a:t>
            </a:r>
            <a:r>
              <a:rPr lang="en-US" sz="2800" b="1" dirty="0"/>
              <a:t> primary storage classes: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Automatic (</a:t>
            </a:r>
            <a:r>
              <a:rPr lang="en-IN" sz="2800" b="1" dirty="0">
                <a:solidFill>
                  <a:srgbClr val="C00000"/>
                </a:solidFill>
              </a:rPr>
              <a:t>auto</a:t>
            </a:r>
            <a:r>
              <a:rPr lang="en-IN" sz="28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Register (</a:t>
            </a:r>
            <a:r>
              <a:rPr lang="en-IN" sz="2800" b="1" dirty="0">
                <a:solidFill>
                  <a:srgbClr val="C00000"/>
                </a:solidFill>
              </a:rPr>
              <a:t>register</a:t>
            </a:r>
            <a:r>
              <a:rPr lang="en-IN" sz="28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Static (</a:t>
            </a:r>
            <a:r>
              <a:rPr lang="en-IN" sz="2800" b="1" dirty="0">
                <a:solidFill>
                  <a:srgbClr val="C00000"/>
                </a:solidFill>
              </a:rPr>
              <a:t>static</a:t>
            </a:r>
            <a:r>
              <a:rPr lang="en-IN" sz="28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External (</a:t>
            </a:r>
            <a:r>
              <a:rPr lang="en-IN" sz="2800" b="1" dirty="0">
                <a:solidFill>
                  <a:srgbClr val="C00000"/>
                </a:solidFill>
              </a:rPr>
              <a:t>extern</a:t>
            </a:r>
            <a:r>
              <a:rPr lang="en-IN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8EEE6-3D4B-414D-FD67-890EFF295F6F}"/>
              </a:ext>
            </a:extLst>
          </p:cNvPr>
          <p:cNvSpPr txBox="1"/>
          <p:nvPr/>
        </p:nvSpPr>
        <p:spPr>
          <a:xfrm>
            <a:off x="4985657" y="5402722"/>
            <a:ext cx="66108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Note: </a:t>
            </a:r>
            <a:r>
              <a:rPr lang="en-US" sz="2400" dirty="0"/>
              <a:t>Each storage class has </a:t>
            </a:r>
            <a:r>
              <a:rPr lang="en-US" sz="2400" b="1" dirty="0"/>
              <a:t>different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visibility</a:t>
            </a:r>
            <a:r>
              <a:rPr lang="en-US" sz="2400" dirty="0"/>
              <a:t> (scope) and </a:t>
            </a:r>
            <a:r>
              <a:rPr lang="en-US" sz="2400" b="1" dirty="0">
                <a:solidFill>
                  <a:srgbClr val="C00000"/>
                </a:solidFill>
              </a:rPr>
              <a:t>lifetime</a:t>
            </a:r>
            <a:r>
              <a:rPr lang="en-US" sz="2400" dirty="0"/>
              <a:t> (how long the variable exists in memory).</a:t>
            </a:r>
          </a:p>
        </p:txBody>
      </p:sp>
    </p:spTree>
    <p:extLst>
      <p:ext uri="{BB962C8B-B14F-4D97-AF65-F5344CB8AC3E}">
        <p14:creationId xmlns:p14="http://schemas.microsoft.com/office/powerpoint/2010/main" val="16032933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754" y="957943"/>
            <a:ext cx="10659110" cy="4909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1. Automatic Storage Class (auto)</a:t>
            </a:r>
          </a:p>
          <a:p>
            <a:pPr marL="0" indent="0">
              <a:buNone/>
            </a:pPr>
            <a:r>
              <a:rPr lang="en-US" sz="2800" b="1" dirty="0"/>
              <a:t>Characteristics: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Default</a:t>
            </a:r>
            <a:r>
              <a:rPr lang="en-US" sz="2800" dirty="0"/>
              <a:t> </a:t>
            </a:r>
            <a:r>
              <a:rPr lang="en-US" sz="2800" b="1" dirty="0"/>
              <a:t>storage class </a:t>
            </a:r>
            <a:r>
              <a:rPr lang="en-US" sz="2800" dirty="0"/>
              <a:t>for </a:t>
            </a:r>
            <a:r>
              <a:rPr lang="en-US" sz="2800" b="1" dirty="0">
                <a:solidFill>
                  <a:srgbClr val="C00000"/>
                </a:solidFill>
              </a:rPr>
              <a:t>local variables</a:t>
            </a:r>
            <a:r>
              <a:rPr lang="en-US" sz="2800" dirty="0"/>
              <a:t>.</a:t>
            </a:r>
          </a:p>
          <a:p>
            <a:r>
              <a:rPr lang="en-US" sz="2800" dirty="0"/>
              <a:t>The variable is </a:t>
            </a:r>
            <a:r>
              <a:rPr lang="en-US" sz="2800" b="1" dirty="0"/>
              <a:t>created</a:t>
            </a:r>
            <a:r>
              <a:rPr lang="en-US" sz="2800" dirty="0"/>
              <a:t> when the </a:t>
            </a:r>
            <a:r>
              <a:rPr lang="en-US" sz="2800" b="1" dirty="0">
                <a:solidFill>
                  <a:srgbClr val="C00000"/>
                </a:solidFill>
              </a:rPr>
              <a:t>function is called </a:t>
            </a:r>
            <a:r>
              <a:rPr lang="en-US" sz="2800" dirty="0"/>
              <a:t>and </a:t>
            </a:r>
            <a:r>
              <a:rPr lang="en-US" sz="2800" b="1" dirty="0"/>
              <a:t>destroyed</a:t>
            </a:r>
            <a:r>
              <a:rPr lang="en-US" sz="2800" dirty="0"/>
              <a:t> when the </a:t>
            </a:r>
            <a:r>
              <a:rPr lang="en-US" sz="2800" b="1" dirty="0">
                <a:solidFill>
                  <a:srgbClr val="C00000"/>
                </a:solidFill>
              </a:rPr>
              <a:t>function exits</a:t>
            </a:r>
            <a:r>
              <a:rPr lang="en-US" sz="2800" dirty="0"/>
              <a:t>.</a:t>
            </a:r>
          </a:p>
          <a:p>
            <a:r>
              <a:rPr lang="en-US" sz="2800" b="1" dirty="0"/>
              <a:t>Stored in: </a:t>
            </a:r>
            <a:r>
              <a:rPr lang="en-US" sz="2800" b="1" dirty="0">
                <a:solidFill>
                  <a:srgbClr val="C00000"/>
                </a:solidFill>
              </a:rPr>
              <a:t>Stack</a:t>
            </a:r>
            <a:r>
              <a:rPr lang="en-US" sz="2800" dirty="0"/>
              <a:t> memory.</a:t>
            </a:r>
          </a:p>
          <a:p>
            <a:r>
              <a:rPr lang="en-US" sz="2800" b="1" dirty="0"/>
              <a:t>Scope: </a:t>
            </a:r>
            <a:r>
              <a:rPr lang="en-US" sz="2800" b="1" dirty="0">
                <a:solidFill>
                  <a:srgbClr val="C00000"/>
                </a:solidFill>
              </a:rPr>
              <a:t>Block</a:t>
            </a:r>
            <a:r>
              <a:rPr lang="en-US" sz="2800" dirty="0"/>
              <a:t> (local to the function where it is declared).</a:t>
            </a:r>
          </a:p>
          <a:p>
            <a:r>
              <a:rPr lang="en-US" sz="2800" b="1" dirty="0"/>
              <a:t>Lifetime: Limited</a:t>
            </a:r>
            <a:r>
              <a:rPr lang="en-US" sz="2800" dirty="0"/>
              <a:t> to the </a:t>
            </a:r>
            <a:r>
              <a:rPr lang="en-US" sz="2800" b="1" dirty="0">
                <a:solidFill>
                  <a:srgbClr val="C00000"/>
                </a:solidFill>
              </a:rPr>
              <a:t>function execution</a:t>
            </a:r>
            <a:r>
              <a:rPr lang="en-US" sz="2800" dirty="0"/>
              <a:t>.</a:t>
            </a:r>
          </a:p>
          <a:p>
            <a:r>
              <a:rPr lang="en-US" sz="2800" b="1" dirty="0"/>
              <a:t>Default value: </a:t>
            </a:r>
            <a:r>
              <a:rPr lang="en-US" sz="2800" b="1" dirty="0">
                <a:solidFill>
                  <a:srgbClr val="C00000"/>
                </a:solidFill>
              </a:rPr>
              <a:t>Garbage</a:t>
            </a:r>
            <a:r>
              <a:rPr lang="en-US" sz="2800" dirty="0"/>
              <a:t> (uninitialized value).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5881819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5278E5-46FB-EE03-BFCE-1360D1D1F1F9}"/>
              </a:ext>
            </a:extLst>
          </p:cNvPr>
          <p:cNvGrpSpPr/>
          <p:nvPr/>
        </p:nvGrpSpPr>
        <p:grpSpPr>
          <a:xfrm>
            <a:off x="777240" y="1151800"/>
            <a:ext cx="8740601" cy="5098684"/>
            <a:chOff x="2918000" y="879658"/>
            <a:chExt cx="8740601" cy="50986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C38866-9B0B-27F0-E252-0F3127465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8000" y="879658"/>
              <a:ext cx="8740601" cy="509868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A1CB544-5756-E7EA-F45C-E03C1896F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10781" y="961370"/>
              <a:ext cx="2047820" cy="98033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416AA19-9CC8-B054-6F04-E6F41687046A}"/>
              </a:ext>
            </a:extLst>
          </p:cNvPr>
          <p:cNvSpPr txBox="1"/>
          <p:nvPr/>
        </p:nvSpPr>
        <p:spPr>
          <a:xfrm>
            <a:off x="9517841" y="1723681"/>
            <a:ext cx="26741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 is </a:t>
            </a:r>
            <a:r>
              <a:rPr lang="en-US" sz="2400" b="1" dirty="0">
                <a:solidFill>
                  <a:srgbClr val="C00000"/>
                </a:solidFill>
              </a:rPr>
              <a:t>optional</a:t>
            </a:r>
            <a:r>
              <a:rPr lang="en-US" sz="2400" dirty="0"/>
              <a:t>; writing int x = 10; is the same as auto int x = 10;.</a:t>
            </a:r>
          </a:p>
        </p:txBody>
      </p:sp>
    </p:spTree>
    <p:extLst>
      <p:ext uri="{BB962C8B-B14F-4D97-AF65-F5344CB8AC3E}">
        <p14:creationId xmlns:p14="http://schemas.microsoft.com/office/powerpoint/2010/main" val="36794737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088572"/>
            <a:ext cx="10659110" cy="4909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2. Register Storage Class (register)</a:t>
            </a:r>
          </a:p>
          <a:p>
            <a:pPr marL="0" indent="0">
              <a:buNone/>
            </a:pPr>
            <a:r>
              <a:rPr lang="en-US" sz="2800" b="1" dirty="0"/>
              <a:t>Characteristics:</a:t>
            </a:r>
          </a:p>
          <a:p>
            <a:r>
              <a:rPr lang="en-US" sz="2800" dirty="0"/>
              <a:t>Used for </a:t>
            </a:r>
            <a:r>
              <a:rPr lang="en-US" sz="2800" b="1" dirty="0">
                <a:solidFill>
                  <a:srgbClr val="C00000"/>
                </a:solidFill>
              </a:rPr>
              <a:t>fast access variables</a:t>
            </a:r>
            <a:r>
              <a:rPr lang="en-US" sz="2800" dirty="0"/>
              <a:t>, often </a:t>
            </a:r>
            <a:r>
              <a:rPr lang="en-US" sz="2800" b="1" dirty="0">
                <a:solidFill>
                  <a:srgbClr val="C00000"/>
                </a:solidFill>
              </a:rPr>
              <a:t>stored in CPU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registers</a:t>
            </a:r>
            <a:r>
              <a:rPr lang="en-US" sz="2800" dirty="0"/>
              <a:t> instead of RAM.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Faster access </a:t>
            </a:r>
            <a:r>
              <a:rPr lang="en-US" sz="2800" dirty="0"/>
              <a:t>than normal local variables.</a:t>
            </a:r>
          </a:p>
          <a:p>
            <a:r>
              <a:rPr lang="en-US" sz="2800" b="1" dirty="0"/>
              <a:t>Scope: </a:t>
            </a:r>
            <a:r>
              <a:rPr lang="en-US" sz="2800" b="1" dirty="0">
                <a:solidFill>
                  <a:srgbClr val="C00000"/>
                </a:solidFill>
              </a:rPr>
              <a:t>Local</a:t>
            </a:r>
            <a:r>
              <a:rPr lang="en-US" sz="2800" dirty="0"/>
              <a:t> to the function/block.</a:t>
            </a:r>
          </a:p>
          <a:p>
            <a:r>
              <a:rPr lang="en-US" sz="2800" b="1" dirty="0"/>
              <a:t>Lifetime: </a:t>
            </a:r>
            <a:r>
              <a:rPr lang="en-US" sz="2800" dirty="0"/>
              <a:t>Limited to function execution.</a:t>
            </a:r>
          </a:p>
          <a:p>
            <a:r>
              <a:rPr lang="en-US" sz="2800" b="1" dirty="0"/>
              <a:t>No memory address </a:t>
            </a:r>
            <a:r>
              <a:rPr lang="en-US" sz="2800" dirty="0"/>
              <a:t>(&amp; operator cannot be used).</a:t>
            </a:r>
          </a:p>
          <a:p>
            <a:r>
              <a:rPr lang="en-US" sz="2800" b="1" dirty="0"/>
              <a:t>Default value: </a:t>
            </a:r>
            <a:r>
              <a:rPr lang="en-US" sz="2800" dirty="0"/>
              <a:t>Garbage.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870761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US" sz="2400" b="1" dirty="0"/>
              <a:t>🔹 Note: </a:t>
            </a:r>
            <a:r>
              <a:rPr lang="en-US" sz="2400" dirty="0"/>
              <a:t>If there are </a:t>
            </a:r>
            <a:r>
              <a:rPr lang="en-US" sz="2400" b="1" dirty="0">
                <a:solidFill>
                  <a:srgbClr val="C00000"/>
                </a:solidFill>
              </a:rPr>
              <a:t>no free registers</a:t>
            </a:r>
            <a:r>
              <a:rPr lang="en-US" sz="2400" dirty="0"/>
              <a:t>, the compiler will store the variable in </a:t>
            </a:r>
            <a:r>
              <a:rPr lang="en-US" sz="2400" b="1" dirty="0">
                <a:solidFill>
                  <a:srgbClr val="C00000"/>
                </a:solidFill>
              </a:rPr>
              <a:t>RAM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A571C5-2134-3F2D-101F-7F2605370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09" y="1339838"/>
            <a:ext cx="9628571" cy="3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491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3. Static Storage Class (static)</a:t>
            </a:r>
          </a:p>
          <a:p>
            <a:pPr marL="0" indent="0">
              <a:buNone/>
            </a:pPr>
            <a:r>
              <a:rPr lang="en-US" sz="2800" b="1" dirty="0"/>
              <a:t>Characteristics: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Retains</a:t>
            </a:r>
            <a:r>
              <a:rPr lang="en-US" sz="2800" dirty="0"/>
              <a:t> its value </a:t>
            </a:r>
            <a:r>
              <a:rPr lang="en-US" sz="2800" b="1" dirty="0"/>
              <a:t>even after function exits</a:t>
            </a:r>
            <a:r>
              <a:rPr lang="en-US" sz="2800" dirty="0"/>
              <a:t>.</a:t>
            </a:r>
          </a:p>
          <a:p>
            <a:r>
              <a:rPr lang="en-US" sz="2800" b="1" dirty="0"/>
              <a:t>Scope: </a:t>
            </a:r>
            <a:r>
              <a:rPr lang="en-US" sz="2800" b="1" dirty="0">
                <a:solidFill>
                  <a:srgbClr val="C00000"/>
                </a:solidFill>
              </a:rPr>
              <a:t>Local to function </a:t>
            </a:r>
            <a:r>
              <a:rPr lang="en-US" sz="2800" dirty="0"/>
              <a:t>(if declared inside function), </a:t>
            </a:r>
            <a:r>
              <a:rPr lang="en-US" sz="2800" b="1" dirty="0">
                <a:solidFill>
                  <a:srgbClr val="C00000"/>
                </a:solidFill>
              </a:rPr>
              <a:t>global</a:t>
            </a:r>
            <a:r>
              <a:rPr lang="en-US" sz="2800" dirty="0"/>
              <a:t> (if outside any function).</a:t>
            </a:r>
          </a:p>
          <a:p>
            <a:r>
              <a:rPr lang="en-US" sz="2800" b="1" dirty="0"/>
              <a:t>Lifetime: </a:t>
            </a:r>
            <a:r>
              <a:rPr lang="en-US" sz="2800" b="1" dirty="0">
                <a:solidFill>
                  <a:srgbClr val="C00000"/>
                </a:solidFill>
              </a:rPr>
              <a:t>Entire program </a:t>
            </a:r>
            <a:r>
              <a:rPr lang="en-US" sz="2800" dirty="0"/>
              <a:t>execution.</a:t>
            </a:r>
          </a:p>
          <a:p>
            <a:r>
              <a:rPr lang="en-US" sz="2800" b="1" dirty="0"/>
              <a:t>Stored in: </a:t>
            </a:r>
            <a:r>
              <a:rPr lang="en-US" sz="2800" dirty="0"/>
              <a:t>Data segment of memory.</a:t>
            </a:r>
          </a:p>
          <a:p>
            <a:r>
              <a:rPr lang="en-US" sz="2800" b="1" dirty="0"/>
              <a:t>Default value: </a:t>
            </a:r>
            <a:r>
              <a:rPr lang="en-US" sz="2800" dirty="0"/>
              <a:t>0 (if uninitialized).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8099326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84141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 (Static in a Function):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7F764-7BCF-EF07-3800-AB4F9CCA1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190" y="751436"/>
            <a:ext cx="8600000" cy="5495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7265D7-8D55-9F94-887F-E8D33FA6A117}"/>
              </a:ext>
            </a:extLst>
          </p:cNvPr>
          <p:cNvSpPr txBox="1"/>
          <p:nvPr/>
        </p:nvSpPr>
        <p:spPr>
          <a:xfrm>
            <a:off x="152400" y="1560063"/>
            <a:ext cx="33087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🔹 Unlike auto, static variables retain their values </a:t>
            </a:r>
            <a:r>
              <a:rPr lang="en-US" sz="2400" b="1" dirty="0"/>
              <a:t>across</a:t>
            </a:r>
            <a:r>
              <a:rPr lang="en-US" sz="2400" dirty="0"/>
              <a:t> </a:t>
            </a:r>
            <a:r>
              <a:rPr lang="en-US" sz="2400" b="1" dirty="0"/>
              <a:t>multiple</a:t>
            </a:r>
            <a:r>
              <a:rPr lang="en-US" sz="2400" dirty="0"/>
              <a:t> </a:t>
            </a:r>
            <a:r>
              <a:rPr lang="en-US" sz="2400" b="1" dirty="0"/>
              <a:t>function</a:t>
            </a:r>
            <a:r>
              <a:rPr lang="en-US" sz="2400" dirty="0"/>
              <a:t> </a:t>
            </a:r>
            <a:r>
              <a:rPr lang="en-US" sz="2400" b="1" dirty="0"/>
              <a:t>calls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340269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4. External Storage Class (extern)</a:t>
            </a:r>
          </a:p>
          <a:p>
            <a:pPr marL="0" indent="0">
              <a:buNone/>
            </a:pPr>
            <a:r>
              <a:rPr lang="en-US" sz="2800" b="1" dirty="0"/>
              <a:t>Characteristics:</a:t>
            </a:r>
          </a:p>
          <a:p>
            <a:r>
              <a:rPr lang="en-US" sz="2800" dirty="0"/>
              <a:t>Used to </a:t>
            </a:r>
            <a:r>
              <a:rPr lang="en-US" sz="2800" b="1" dirty="0"/>
              <a:t>share</a:t>
            </a:r>
            <a:r>
              <a:rPr lang="en-US" sz="2800" dirty="0"/>
              <a:t> </a:t>
            </a:r>
            <a:r>
              <a:rPr lang="en-US" sz="2800" b="1" dirty="0"/>
              <a:t>variables</a:t>
            </a:r>
            <a:r>
              <a:rPr lang="en-US" sz="2800" dirty="0"/>
              <a:t> between </a:t>
            </a:r>
            <a:r>
              <a:rPr lang="en-US" sz="2800" b="1" dirty="0">
                <a:solidFill>
                  <a:srgbClr val="C00000"/>
                </a:solidFill>
              </a:rPr>
              <a:t>multiple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files</a:t>
            </a:r>
            <a:r>
              <a:rPr lang="en-US" sz="2800" dirty="0"/>
              <a:t>.</a:t>
            </a:r>
          </a:p>
          <a:p>
            <a:r>
              <a:rPr lang="en-US" sz="2800" b="1" dirty="0"/>
              <a:t>Scope: </a:t>
            </a:r>
            <a:r>
              <a:rPr lang="en-US" sz="2800" b="1" dirty="0">
                <a:solidFill>
                  <a:srgbClr val="C00000"/>
                </a:solidFill>
              </a:rPr>
              <a:t>Global</a:t>
            </a:r>
            <a:r>
              <a:rPr lang="en-US" sz="2800" dirty="0"/>
              <a:t> (accessible across multiple files).</a:t>
            </a:r>
          </a:p>
          <a:p>
            <a:r>
              <a:rPr lang="en-US" sz="2800" b="1" dirty="0"/>
              <a:t>Lifetime</a:t>
            </a:r>
            <a:r>
              <a:rPr lang="en-US" sz="2800" dirty="0"/>
              <a:t>: Entire program execution.</a:t>
            </a:r>
          </a:p>
          <a:p>
            <a:r>
              <a:rPr lang="en-US" sz="2800" b="1" dirty="0"/>
              <a:t>Stored</a:t>
            </a:r>
            <a:r>
              <a:rPr lang="en-US" sz="2800" dirty="0"/>
              <a:t> in: Data segment.</a:t>
            </a:r>
          </a:p>
          <a:p>
            <a:r>
              <a:rPr lang="en-US" sz="2800" b="1" dirty="0"/>
              <a:t>Default value</a:t>
            </a:r>
            <a:r>
              <a:rPr lang="en-US" sz="2800" dirty="0"/>
              <a:t>: 0 (if uninitialized).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413674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26572"/>
            <a:ext cx="10659110" cy="60306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Example (extern Variable in Multiple Files):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File 1 (</a:t>
            </a:r>
            <a:r>
              <a:rPr lang="en-IN" sz="2400" b="1" dirty="0" err="1"/>
              <a:t>main.c</a:t>
            </a:r>
            <a:r>
              <a:rPr lang="en-IN" sz="2400" b="1" dirty="0"/>
              <a:t>): 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r>
              <a:rPr lang="en-US" sz="2400" b="1" dirty="0"/>
              <a:t>extern int x; → </a:t>
            </a:r>
            <a:r>
              <a:rPr lang="en-US" sz="2400" dirty="0"/>
              <a:t>This declares x </a:t>
            </a:r>
            <a:r>
              <a:rPr lang="en-US" sz="2400" b="1" dirty="0"/>
              <a:t>without defining </a:t>
            </a:r>
            <a:r>
              <a:rPr lang="en-US" sz="2400" dirty="0"/>
              <a:t>it. It tells the compiler that </a:t>
            </a:r>
            <a:r>
              <a:rPr lang="en-US" sz="2400" b="1" dirty="0">
                <a:solidFill>
                  <a:srgbClr val="C00000"/>
                </a:solidFill>
              </a:rPr>
              <a:t>x is defined elsewhere.</a:t>
            </a:r>
          </a:p>
          <a:p>
            <a:r>
              <a:rPr lang="en-US" sz="2400" dirty="0"/>
              <a:t>When </a:t>
            </a:r>
            <a:r>
              <a:rPr lang="en-US" sz="2400" dirty="0" err="1"/>
              <a:t>printf</a:t>
            </a:r>
            <a:r>
              <a:rPr lang="en-US" sz="2400" dirty="0"/>
              <a:t>("Value of x: %d\n", x); is executed, it will fetch the value of </a:t>
            </a:r>
            <a:r>
              <a:rPr lang="en-US" sz="2400" b="1" dirty="0"/>
              <a:t>x from another file.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B6F64E-4BD0-D717-4A32-D2FCCDE27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953" y="1088095"/>
            <a:ext cx="8580952" cy="3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706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File 2 (</a:t>
            </a:r>
            <a:r>
              <a:rPr lang="en-IN" sz="2400" b="1" dirty="0" err="1"/>
              <a:t>external.c</a:t>
            </a:r>
            <a:r>
              <a:rPr lang="en-IN" sz="2400" b="1" dirty="0"/>
              <a:t>):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US" sz="2400" dirty="0"/>
              <a:t>🔹 extern is used to declare a </a:t>
            </a:r>
            <a:r>
              <a:rPr lang="en-US" sz="2400" b="1" dirty="0">
                <a:solidFill>
                  <a:srgbClr val="C00000"/>
                </a:solidFill>
              </a:rPr>
              <a:t>global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variable</a:t>
            </a:r>
            <a:r>
              <a:rPr lang="en-US" sz="2400" dirty="0"/>
              <a:t> in another file without creating a new copy.</a:t>
            </a:r>
          </a:p>
          <a:p>
            <a:r>
              <a:rPr lang="en-US" sz="2400" dirty="0"/>
              <a:t>This file </a:t>
            </a:r>
            <a:r>
              <a:rPr lang="en-US" sz="2400" b="1" dirty="0">
                <a:solidFill>
                  <a:srgbClr val="C00000"/>
                </a:solidFill>
              </a:rPr>
              <a:t>defines x</a:t>
            </a:r>
            <a:r>
              <a:rPr lang="en-US" sz="2400" dirty="0"/>
              <a:t> and assigns it a value of </a:t>
            </a:r>
            <a:r>
              <a:rPr lang="en-US" sz="2400" b="1" dirty="0"/>
              <a:t>100</a:t>
            </a:r>
            <a:r>
              <a:rPr lang="en-US" sz="2400" dirty="0"/>
              <a:t>.</a:t>
            </a:r>
          </a:p>
          <a:p>
            <a:r>
              <a:rPr lang="en-US" sz="2400" dirty="0"/>
              <a:t>Since x is a </a:t>
            </a:r>
            <a:r>
              <a:rPr lang="en-US" sz="2400" b="1" dirty="0">
                <a:solidFill>
                  <a:srgbClr val="C00000"/>
                </a:solidFill>
              </a:rPr>
              <a:t>global variable</a:t>
            </a:r>
            <a:r>
              <a:rPr lang="en-US" sz="2400" dirty="0"/>
              <a:t>, it is </a:t>
            </a:r>
            <a:r>
              <a:rPr lang="en-US" sz="2400" b="1" dirty="0"/>
              <a:t>accessible in other </a:t>
            </a:r>
            <a:r>
              <a:rPr lang="en-US" sz="2400" dirty="0"/>
              <a:t>files where it is declared using extern.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315C51-87CC-FA16-D182-9A70A444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29" y="1510495"/>
            <a:ext cx="6223988" cy="191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33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910A-FDC6-56F3-F00D-B2BEDA95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2A3B-2E89-6087-E3F9-86AF35F73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934" y="463205"/>
            <a:ext cx="10795465" cy="690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Comparison of Storage Classes: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9A8E84-7F3F-0E55-6E05-A1F9DDA6349C}"/>
              </a:ext>
            </a:extLst>
          </p:cNvPr>
          <p:cNvGraphicFramePr>
            <a:graphicFrameLocks noGrp="1"/>
          </p:cNvGraphicFramePr>
          <p:nvPr/>
        </p:nvGraphicFramePr>
        <p:xfrm>
          <a:off x="822005" y="1029131"/>
          <a:ext cx="10324964" cy="51103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0195">
                  <a:extLst>
                    <a:ext uri="{9D8B030D-6E8A-4147-A177-3AD203B41FA5}">
                      <a16:colId xmlns:a16="http://schemas.microsoft.com/office/drawing/2014/main" val="1891016569"/>
                    </a:ext>
                  </a:extLst>
                </a:gridCol>
                <a:gridCol w="1900671">
                  <a:extLst>
                    <a:ext uri="{9D8B030D-6E8A-4147-A177-3AD203B41FA5}">
                      <a16:colId xmlns:a16="http://schemas.microsoft.com/office/drawing/2014/main" val="2849065393"/>
                    </a:ext>
                  </a:extLst>
                </a:gridCol>
                <a:gridCol w="1720433">
                  <a:extLst>
                    <a:ext uri="{9D8B030D-6E8A-4147-A177-3AD203B41FA5}">
                      <a16:colId xmlns:a16="http://schemas.microsoft.com/office/drawing/2014/main" val="2612885997"/>
                    </a:ext>
                  </a:extLst>
                </a:gridCol>
                <a:gridCol w="1876182">
                  <a:extLst>
                    <a:ext uri="{9D8B030D-6E8A-4147-A177-3AD203B41FA5}">
                      <a16:colId xmlns:a16="http://schemas.microsoft.com/office/drawing/2014/main" val="2004812719"/>
                    </a:ext>
                  </a:extLst>
                </a:gridCol>
                <a:gridCol w="1565867">
                  <a:extLst>
                    <a:ext uri="{9D8B030D-6E8A-4147-A177-3AD203B41FA5}">
                      <a16:colId xmlns:a16="http://schemas.microsoft.com/office/drawing/2014/main" val="2318784039"/>
                    </a:ext>
                  </a:extLst>
                </a:gridCol>
                <a:gridCol w="1721616">
                  <a:extLst>
                    <a:ext uri="{9D8B030D-6E8A-4147-A177-3AD203B41FA5}">
                      <a16:colId xmlns:a16="http://schemas.microsoft.com/office/drawing/2014/main" val="1619391366"/>
                    </a:ext>
                  </a:extLst>
                </a:gridCol>
              </a:tblGrid>
              <a:tr h="849997"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Storage Class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Scope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Lifetime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Memory Location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Default Value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Visibility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0966968"/>
                  </a:ext>
                </a:extLst>
              </a:tr>
              <a:tr h="849997"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auto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Local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Function execution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Stack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Garbage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Local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1256315"/>
                  </a:ext>
                </a:extLst>
              </a:tr>
              <a:tr h="849997"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register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Local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Function execution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CPU register (if available)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Garbage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Local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6007985"/>
                  </a:ext>
                </a:extLst>
              </a:tr>
              <a:tr h="1699994"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static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Local (if inside function), Global (if outside function)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Entire program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Data segment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Local (if inside function), Global (if outside)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1630145"/>
                  </a:ext>
                </a:extLst>
              </a:tr>
              <a:tr h="424998"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extern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Global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Entire program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Data segment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2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Global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559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3470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910A-FDC6-56F3-F00D-B2BEDA95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2A3B-2E89-6087-E3F9-86AF35F73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049" y="1366719"/>
            <a:ext cx="10795465" cy="3194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Module-4: STRUCTURES AND UNION </a:t>
            </a:r>
            <a:r>
              <a:rPr lang="en-IN" sz="3200" b="1" dirty="0">
                <a:solidFill>
                  <a:srgbClr val="C0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200" b="1" dirty="0"/>
              <a:t>Structure: Nested structures</a:t>
            </a:r>
            <a:r>
              <a:rPr lang="en-US" sz="3200" dirty="0"/>
              <a:t>, </a:t>
            </a:r>
            <a:r>
              <a:rPr lang="en-US" sz="3200" b="1" dirty="0"/>
              <a:t>Pointer and Structures</a:t>
            </a:r>
            <a:r>
              <a:rPr lang="en-US" sz="3200" dirty="0"/>
              <a:t>, </a:t>
            </a:r>
            <a:r>
              <a:rPr lang="en-US" sz="3200" b="1" dirty="0"/>
              <a:t>Array of structures</a:t>
            </a:r>
            <a:r>
              <a:rPr lang="en-US" sz="3200" dirty="0"/>
              <a:t>, </a:t>
            </a:r>
            <a:r>
              <a:rPr lang="en-US" sz="3200" b="1" dirty="0"/>
              <a:t>Self referential structures </a:t>
            </a:r>
          </a:p>
          <a:p>
            <a:pPr marL="0" indent="0">
              <a:buNone/>
            </a:pPr>
            <a:r>
              <a:rPr lang="en-US" sz="3200" b="1" dirty="0"/>
              <a:t>Dynamic memory allocation - Singly linked list </a:t>
            </a:r>
            <a:r>
              <a:rPr lang="en-US" sz="3200" dirty="0"/>
              <a:t>- </a:t>
            </a:r>
            <a:r>
              <a:rPr lang="en-US" sz="3200" b="1" dirty="0"/>
              <a:t>typedef</a:t>
            </a:r>
            <a:r>
              <a:rPr lang="en-US" sz="3200" dirty="0"/>
              <a:t> - </a:t>
            </a:r>
            <a:r>
              <a:rPr lang="en-US" sz="3200" b="1" dirty="0"/>
              <a:t>Union -Storage classes and Visibility.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3136470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3BE0-BD17-EB37-61D7-744D6289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6227-6D4A-9861-8B8A-BFFEB6E42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685800"/>
            <a:ext cx="10659110" cy="54911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07725394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4803</Words>
  <Application>Microsoft Office PowerPoint</Application>
  <PresentationFormat>Widescreen</PresentationFormat>
  <Paragraphs>580</Paragraphs>
  <Slides>101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9" baseType="lpstr">
      <vt:lpstr>Aptos</vt:lpstr>
      <vt:lpstr>Arial</vt:lpstr>
      <vt:lpstr>Calibri</vt:lpstr>
      <vt:lpstr>Gill Sans Nova</vt:lpstr>
      <vt:lpstr>Nunito</vt:lpstr>
      <vt:lpstr>Times New Roman</vt:lpstr>
      <vt:lpstr>Wingdings</vt:lpstr>
      <vt:lpstr>ConfettiVTI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PRAMOD NAIK</dc:creator>
  <cp:lastModifiedBy>Pramod Naik</cp:lastModifiedBy>
  <cp:revision>231</cp:revision>
  <dcterms:created xsi:type="dcterms:W3CDTF">2024-11-25T17:19:06Z</dcterms:created>
  <dcterms:modified xsi:type="dcterms:W3CDTF">2026-02-09T05:07:50Z</dcterms:modified>
</cp:coreProperties>
</file>