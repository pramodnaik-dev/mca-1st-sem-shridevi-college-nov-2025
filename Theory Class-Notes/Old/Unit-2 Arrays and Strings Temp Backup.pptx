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63"/>
  </p:notesMasterIdLst>
  <p:sldIdLst>
    <p:sldId id="419" r:id="rId2"/>
    <p:sldId id="475" r:id="rId3"/>
    <p:sldId id="476" r:id="rId4"/>
    <p:sldId id="477" r:id="rId5"/>
    <p:sldId id="421" r:id="rId6"/>
    <p:sldId id="422" r:id="rId7"/>
    <p:sldId id="423" r:id="rId8"/>
    <p:sldId id="424" r:id="rId9"/>
    <p:sldId id="479" r:id="rId10"/>
    <p:sldId id="480" r:id="rId11"/>
    <p:sldId id="481" r:id="rId12"/>
    <p:sldId id="482" r:id="rId13"/>
    <p:sldId id="483" r:id="rId14"/>
    <p:sldId id="484" r:id="rId15"/>
    <p:sldId id="478" r:id="rId16"/>
    <p:sldId id="485" r:id="rId17"/>
    <p:sldId id="486" r:id="rId18"/>
    <p:sldId id="487" r:id="rId19"/>
    <p:sldId id="488" r:id="rId20"/>
    <p:sldId id="489" r:id="rId21"/>
    <p:sldId id="494" r:id="rId22"/>
    <p:sldId id="495" r:id="rId23"/>
    <p:sldId id="496" r:id="rId24"/>
    <p:sldId id="497" r:id="rId25"/>
    <p:sldId id="498" r:id="rId26"/>
    <p:sldId id="499" r:id="rId27"/>
    <p:sldId id="500" r:id="rId28"/>
    <p:sldId id="501" r:id="rId29"/>
    <p:sldId id="502" r:id="rId30"/>
    <p:sldId id="503" r:id="rId31"/>
    <p:sldId id="490" r:id="rId32"/>
    <p:sldId id="491" r:id="rId33"/>
    <p:sldId id="492" r:id="rId34"/>
    <p:sldId id="505" r:id="rId35"/>
    <p:sldId id="506" r:id="rId36"/>
    <p:sldId id="507" r:id="rId37"/>
    <p:sldId id="508" r:id="rId38"/>
    <p:sldId id="509" r:id="rId39"/>
    <p:sldId id="510" r:id="rId40"/>
    <p:sldId id="511" r:id="rId41"/>
    <p:sldId id="512" r:id="rId42"/>
    <p:sldId id="513" r:id="rId43"/>
    <p:sldId id="514" r:id="rId44"/>
    <p:sldId id="515" r:id="rId45"/>
    <p:sldId id="516" r:id="rId46"/>
    <p:sldId id="517" r:id="rId47"/>
    <p:sldId id="518" r:id="rId48"/>
    <p:sldId id="519" r:id="rId49"/>
    <p:sldId id="521" r:id="rId50"/>
    <p:sldId id="522" r:id="rId51"/>
    <p:sldId id="520" r:id="rId52"/>
    <p:sldId id="523" r:id="rId53"/>
    <p:sldId id="524" r:id="rId54"/>
    <p:sldId id="525" r:id="rId55"/>
    <p:sldId id="526" r:id="rId56"/>
    <p:sldId id="493" r:id="rId57"/>
    <p:sldId id="527" r:id="rId58"/>
    <p:sldId id="528" r:id="rId59"/>
    <p:sldId id="529" r:id="rId60"/>
    <p:sldId id="530" r:id="rId61"/>
    <p:sldId id="531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1/25/2025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4AB3-E7DC-A7CE-9D14-5BDEF322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E5A9B-B287-0C94-62E0-A71FF1423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059" y="1602006"/>
            <a:ext cx="10732404" cy="3495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Module-2: ARRAYS AND STRINGS </a:t>
            </a:r>
            <a:r>
              <a:rPr lang="en-IN" sz="36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b="1" dirty="0"/>
              <a:t>Introduction to Arrays: </a:t>
            </a:r>
            <a:r>
              <a:rPr lang="en-US" sz="3600" dirty="0"/>
              <a:t>Declaration, Initialization, One dimensional array, Two dimensional arrays.</a:t>
            </a:r>
          </a:p>
          <a:p>
            <a:pPr marL="0" indent="0">
              <a:buNone/>
            </a:pPr>
            <a:r>
              <a:rPr lang="en-US" sz="3600" b="1" dirty="0"/>
              <a:t>String operations: </a:t>
            </a:r>
            <a:r>
              <a:rPr lang="en-US" sz="3600" dirty="0"/>
              <a:t>length, compare, concatenate, copy</a:t>
            </a:r>
          </a:p>
          <a:p>
            <a:pPr marL="0" indent="0">
              <a:buNone/>
            </a:pPr>
            <a:r>
              <a:rPr lang="en-US" sz="3600" b="1" dirty="0"/>
              <a:t>Searching and Sorting:</a:t>
            </a:r>
            <a:r>
              <a:rPr lang="en-US" sz="3600" dirty="0"/>
              <a:t> Selection sort, linear and binary search.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2052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889294"/>
            <a:ext cx="10659110" cy="5079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Introduction to Arrays:</a:t>
            </a:r>
            <a:endParaRPr lang="en-IN" sz="3200" dirty="0"/>
          </a:p>
          <a:p>
            <a:pPr marL="0" indent="0">
              <a:buNone/>
            </a:pPr>
            <a:r>
              <a:rPr lang="en-US" sz="2400" dirty="0"/>
              <a:t>In C, an </a:t>
            </a:r>
            <a:r>
              <a:rPr lang="en-US" sz="2400" b="1" dirty="0"/>
              <a:t>array</a:t>
            </a:r>
            <a:r>
              <a:rPr lang="en-US" sz="2400" dirty="0"/>
              <a:t> is a </a:t>
            </a:r>
            <a:r>
              <a:rPr lang="en-US" sz="2400" b="1" dirty="0"/>
              <a:t>collection of elements </a:t>
            </a:r>
            <a:r>
              <a:rPr lang="en-US" sz="2400" dirty="0"/>
              <a:t>of the </a:t>
            </a:r>
            <a:r>
              <a:rPr lang="en-US" sz="2400" b="1" dirty="0">
                <a:solidFill>
                  <a:srgbClr val="C00000"/>
                </a:solidFill>
              </a:rPr>
              <a:t>same data type </a:t>
            </a:r>
            <a:r>
              <a:rPr lang="en-US" sz="2400" dirty="0"/>
              <a:t>stored in </a:t>
            </a:r>
            <a:r>
              <a:rPr lang="en-US" sz="2400" b="1" dirty="0"/>
              <a:t>contiguous memory locations</a:t>
            </a:r>
            <a:r>
              <a:rPr lang="en-US" sz="2400" dirty="0"/>
              <a:t>. Arrays allow you to store multiple values in a </a:t>
            </a:r>
            <a:r>
              <a:rPr lang="en-US" sz="2400" b="1" dirty="0">
                <a:solidFill>
                  <a:srgbClr val="C00000"/>
                </a:solidFill>
              </a:rPr>
              <a:t>single variable name</a:t>
            </a:r>
            <a:r>
              <a:rPr lang="en-US" sz="2400" dirty="0"/>
              <a:t>, making it easier to work with related data.</a:t>
            </a: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Key Characteristics of Arrays: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Fixed Size: </a:t>
            </a:r>
            <a:r>
              <a:rPr lang="en-US" sz="2400" dirty="0"/>
              <a:t>The size of an array is defined at the </a:t>
            </a:r>
            <a:r>
              <a:rPr lang="en-US" sz="2400" b="1" dirty="0">
                <a:solidFill>
                  <a:srgbClr val="C00000"/>
                </a:solidFill>
              </a:rPr>
              <a:t>time of its declaration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cannot be changed during runtime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Homogeneous Elements: </a:t>
            </a:r>
            <a:r>
              <a:rPr lang="en-US" sz="2400" dirty="0"/>
              <a:t>All elements in an array must be of the </a:t>
            </a:r>
            <a:r>
              <a:rPr lang="en-US" sz="2400" b="1" dirty="0">
                <a:solidFill>
                  <a:srgbClr val="C00000"/>
                </a:solidFill>
              </a:rPr>
              <a:t>same data type </a:t>
            </a:r>
            <a:r>
              <a:rPr lang="en-US" sz="2400" dirty="0"/>
              <a:t>(e.g., all integers, all floats, etc.).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Contiguous Memory:  </a:t>
            </a:r>
            <a:r>
              <a:rPr lang="en-US" sz="2400" dirty="0"/>
              <a:t>Array elements are stored in </a:t>
            </a:r>
            <a:r>
              <a:rPr lang="en-US" sz="2400" b="1" dirty="0">
                <a:solidFill>
                  <a:srgbClr val="C00000"/>
                </a:solidFill>
              </a:rPr>
              <a:t>adjacent memory locations</a:t>
            </a:r>
            <a:r>
              <a:rPr lang="en-US" sz="2400" dirty="0"/>
              <a:t>.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Indexing: </a:t>
            </a:r>
            <a:r>
              <a:rPr lang="en-US" sz="2400" dirty="0"/>
              <a:t>Array elements are accessed using </a:t>
            </a:r>
            <a:r>
              <a:rPr lang="en-US" sz="2400" b="1" dirty="0">
                <a:solidFill>
                  <a:srgbClr val="C00000"/>
                </a:solidFill>
              </a:rPr>
              <a:t>indices</a:t>
            </a:r>
            <a:r>
              <a:rPr lang="en-US" sz="2400" dirty="0"/>
              <a:t>, starting from </a:t>
            </a:r>
            <a:r>
              <a:rPr lang="en-US" sz="2400" b="1" dirty="0">
                <a:solidFill>
                  <a:srgbClr val="C00000"/>
                </a:solidFill>
              </a:rPr>
              <a:t>0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22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92183"/>
            <a:ext cx="10659110" cy="558478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Syntax of Array Declaration: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 err="1"/>
              <a:t>data_type</a:t>
            </a:r>
            <a:r>
              <a:rPr lang="en-US" b="1" dirty="0"/>
              <a:t>:</a:t>
            </a:r>
            <a:r>
              <a:rPr lang="en-US" dirty="0"/>
              <a:t> The type of elements stored in the array (e.g., int, float, char).</a:t>
            </a:r>
          </a:p>
          <a:p>
            <a:r>
              <a:rPr lang="en-US" b="1" dirty="0" err="1"/>
              <a:t>array_name</a:t>
            </a:r>
            <a:r>
              <a:rPr lang="en-US" b="1" dirty="0"/>
              <a:t>: </a:t>
            </a:r>
            <a:r>
              <a:rPr lang="en-US" dirty="0"/>
              <a:t>The name of the array.</a:t>
            </a:r>
          </a:p>
          <a:p>
            <a:r>
              <a:rPr lang="en-US" b="1" dirty="0"/>
              <a:t>size</a:t>
            </a:r>
            <a:r>
              <a:rPr lang="en-US" dirty="0"/>
              <a:t>: The number of elements the array can hold.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b="1" dirty="0"/>
              <a:t>Example-1: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Example-2: </a:t>
            </a:r>
            <a:r>
              <a:rPr lang="en-US" dirty="0"/>
              <a:t>initialize an array while declaring it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048BE-509C-0849-EC1B-A72E12DA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066" y="1299513"/>
            <a:ext cx="4266101" cy="638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BFABE-04A3-3033-18D1-C16CB073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066" y="4030507"/>
            <a:ext cx="5609524" cy="552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1DC8E-7F34-4829-710E-C234DE0DF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066" y="5345028"/>
            <a:ext cx="4849804" cy="7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8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92183"/>
            <a:ext cx="10659110" cy="558478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Accessing Array Elements:</a:t>
            </a:r>
          </a:p>
          <a:p>
            <a:pPr marL="0" indent="0">
              <a:buNone/>
            </a:pPr>
            <a:r>
              <a:rPr lang="en-US" sz="2400" dirty="0"/>
              <a:t>Array elements are accessed </a:t>
            </a:r>
            <a:r>
              <a:rPr lang="en-US" sz="2400" b="1" dirty="0">
                <a:solidFill>
                  <a:srgbClr val="C00000"/>
                </a:solidFill>
              </a:rPr>
              <a:t>using their index </a:t>
            </a:r>
            <a:r>
              <a:rPr lang="en-US" sz="2400" dirty="0"/>
              <a:t>in square brackets (</a:t>
            </a:r>
            <a:r>
              <a:rPr lang="en-US" sz="2400" b="1" dirty="0">
                <a:solidFill>
                  <a:srgbClr val="C00000"/>
                </a:solidFill>
              </a:rPr>
              <a:t>[]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r>
              <a:rPr lang="en-IN" sz="2400" b="1" dirty="0"/>
              <a:t>Syntax: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33704-25B6-0796-6338-EFA0F0A4D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142" y="1977024"/>
            <a:ext cx="4109858" cy="786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81C3E-5BB4-213D-9098-7A348ACB7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147" y="3768775"/>
            <a:ext cx="8450746" cy="140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0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78EB0-ADCA-03E9-E79E-F1D06688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0E6-2E0D-2737-2360-668AB2F9D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Initializing an Array: </a:t>
            </a:r>
            <a:r>
              <a:rPr lang="en-US" sz="2400" dirty="0"/>
              <a:t>An array can be initialized </a:t>
            </a:r>
            <a:r>
              <a:rPr lang="en-US" sz="2400" b="1" dirty="0">
                <a:solidFill>
                  <a:srgbClr val="C00000"/>
                </a:solidFill>
              </a:rPr>
              <a:t>during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after</a:t>
            </a:r>
            <a:r>
              <a:rPr lang="en-US" sz="2400" dirty="0"/>
              <a:t> </a:t>
            </a:r>
            <a:r>
              <a:rPr lang="en-US" sz="2400" b="1" dirty="0"/>
              <a:t>declaration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During Declaration:</a:t>
            </a:r>
            <a:endParaRPr lang="en-IN" sz="24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883B50-A92D-2277-37EE-756332F3CED0}"/>
              </a:ext>
            </a:extLst>
          </p:cNvPr>
          <p:cNvGrpSpPr/>
          <p:nvPr/>
        </p:nvGrpSpPr>
        <p:grpSpPr>
          <a:xfrm>
            <a:off x="894546" y="1831568"/>
            <a:ext cx="10197296" cy="3640260"/>
            <a:chOff x="755650" y="1808418"/>
            <a:chExt cx="10197296" cy="364026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E995981-CC82-0332-38EF-8FE90B55C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650" y="1808418"/>
              <a:ext cx="10197296" cy="36402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1F5F1B-8E1C-3EEA-526D-1A5C1F5AC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949124" y="4000556"/>
              <a:ext cx="9620724" cy="35238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646BDC-FE83-9BAB-251A-19E6E4F05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949124" y="2034790"/>
              <a:ext cx="9620724" cy="352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13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D7E0-6C20-3BB0-D6A2-CD6AFC239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DEEDC-8B09-866E-7CFF-4198C6B65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88120"/>
            <a:ext cx="10659110" cy="655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After Declaration: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33110-D207-C485-3E7C-060BEDA30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571" y="1820682"/>
            <a:ext cx="4171429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5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80AA-D669-86EF-A13F-ACA4B410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7D05-6363-029C-6B45-98604F1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D41A1D-E589-FD14-6C39-47CBDE497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76" y="1309503"/>
            <a:ext cx="9095238" cy="4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31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9D19-95AF-B036-9657-6D1BA3D0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FD19-BBBA-5310-30F4-F4CB7607C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1023257"/>
            <a:ext cx="10659110" cy="5007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Types of Arrays in C:</a:t>
            </a:r>
          </a:p>
          <a:p>
            <a:pPr marL="0" indent="0">
              <a:buNone/>
            </a:pPr>
            <a:r>
              <a:rPr lang="en-US" sz="2400" dirty="0"/>
              <a:t>In C programming, arrays are classified </a:t>
            </a:r>
            <a:r>
              <a:rPr lang="en-US" sz="2400" b="1" dirty="0"/>
              <a:t>based on the number of </a:t>
            </a:r>
            <a:r>
              <a:rPr lang="en-US" sz="2400" b="1" dirty="0">
                <a:solidFill>
                  <a:srgbClr val="C00000"/>
                </a:solidFill>
              </a:rPr>
              <a:t>dimensions</a:t>
            </a:r>
            <a:r>
              <a:rPr lang="en-US" sz="2400" b="1" dirty="0"/>
              <a:t> </a:t>
            </a:r>
            <a:r>
              <a:rPr lang="en-US" sz="2400" dirty="0"/>
              <a:t>they have. These dimensions determine how the data is </a:t>
            </a:r>
            <a:r>
              <a:rPr lang="en-US" sz="2400" b="1" dirty="0"/>
              <a:t>organized</a:t>
            </a:r>
            <a:r>
              <a:rPr lang="en-US" sz="2400" dirty="0"/>
              <a:t> and </a:t>
            </a:r>
            <a:r>
              <a:rPr lang="en-US" sz="2400" b="1" dirty="0"/>
              <a:t>accessed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b="1" dirty="0"/>
              <a:t>The 3 main types of arrays in C are:</a:t>
            </a:r>
          </a:p>
          <a:p>
            <a:pPr marL="457200" indent="-457200">
              <a:buAutoNum type="arabicPeriod"/>
            </a:pPr>
            <a:r>
              <a:rPr lang="en-US" sz="2400" b="1" dirty="0"/>
              <a:t>One</a:t>
            </a:r>
            <a:r>
              <a:rPr lang="en-US" sz="2400" dirty="0"/>
              <a:t>-Dimensional Array (Requires </a:t>
            </a:r>
            <a:r>
              <a:rPr lang="en-US" sz="2400" b="1" dirty="0">
                <a:solidFill>
                  <a:srgbClr val="C00000"/>
                </a:solidFill>
              </a:rPr>
              <a:t>one index </a:t>
            </a:r>
            <a:r>
              <a:rPr lang="en-US" sz="2400" dirty="0"/>
              <a:t>to access elements)</a:t>
            </a:r>
          </a:p>
          <a:p>
            <a:pPr marL="457200" indent="-457200">
              <a:buAutoNum type="arabicPeriod"/>
            </a:pPr>
            <a:r>
              <a:rPr lang="en-US" sz="2400" b="1" dirty="0"/>
              <a:t>Two</a:t>
            </a:r>
            <a:r>
              <a:rPr lang="en-US" sz="2400" dirty="0"/>
              <a:t>-Dimensional Array (Requires </a:t>
            </a:r>
            <a:r>
              <a:rPr lang="en-US" sz="2400" b="1" dirty="0">
                <a:solidFill>
                  <a:srgbClr val="C00000"/>
                </a:solidFill>
              </a:rPr>
              <a:t>two indices </a:t>
            </a:r>
            <a:r>
              <a:rPr lang="en-US" sz="2400" dirty="0"/>
              <a:t>to access elements)</a:t>
            </a:r>
          </a:p>
          <a:p>
            <a:pPr marL="457200" indent="-457200">
              <a:buAutoNum type="arabicPeriod"/>
            </a:pPr>
            <a:r>
              <a:rPr lang="en-US" sz="2400" b="1" dirty="0"/>
              <a:t>Three or Multi</a:t>
            </a:r>
            <a:r>
              <a:rPr lang="en-US" sz="2400" dirty="0"/>
              <a:t>-Dimensional Array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Note: </a:t>
            </a:r>
            <a:r>
              <a:rPr lang="en-US" sz="2400" dirty="0"/>
              <a:t>In the context of arrays in C, </a:t>
            </a:r>
            <a:r>
              <a:rPr lang="en-US" sz="2400" b="1" dirty="0">
                <a:solidFill>
                  <a:srgbClr val="C00000"/>
                </a:solidFill>
              </a:rPr>
              <a:t>dimensions</a:t>
            </a:r>
            <a:r>
              <a:rPr lang="en-US" sz="2400" dirty="0"/>
              <a:t> refer to the </a:t>
            </a:r>
            <a:r>
              <a:rPr lang="en-US" sz="2400" b="1" dirty="0"/>
              <a:t>levels of indexing </a:t>
            </a:r>
            <a:r>
              <a:rPr lang="en-US" sz="2400" dirty="0"/>
              <a:t>or the </a:t>
            </a:r>
            <a:r>
              <a:rPr lang="en-US" sz="2400" b="1" dirty="0">
                <a:solidFill>
                  <a:srgbClr val="C00000"/>
                </a:solidFill>
              </a:rPr>
              <a:t>number of indices </a:t>
            </a:r>
            <a:r>
              <a:rPr lang="en-US" sz="2400" dirty="0"/>
              <a:t>required to </a:t>
            </a:r>
            <a:r>
              <a:rPr lang="en-US" sz="2400" b="1" dirty="0"/>
              <a:t>uniquely access each element in the array</a:t>
            </a:r>
            <a:r>
              <a:rPr lang="en-US" sz="2400" dirty="0"/>
              <a:t>. Each dimension adds a layer of organization to the data, allowing arrays to represent more complex structures like tables (2D) or cubes (3D).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539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BA65-8477-647A-4DA4-647A8F82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06A3E-5F43-078B-4604-A28B23370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solidFill>
                  <a:srgbClr val="0070C0"/>
                </a:solidFill>
              </a:rPr>
              <a:t>One</a:t>
            </a:r>
            <a:r>
              <a:rPr lang="en-US" sz="2800" b="1" dirty="0"/>
              <a:t>-Dimensional Array:</a:t>
            </a:r>
          </a:p>
          <a:p>
            <a:r>
              <a:rPr lang="en-US" sz="2400" dirty="0"/>
              <a:t>A one-dimensional array is a </a:t>
            </a:r>
            <a:r>
              <a:rPr lang="en-US" sz="2400" b="1" dirty="0">
                <a:solidFill>
                  <a:srgbClr val="C00000"/>
                </a:solidFill>
              </a:rPr>
              <a:t>linear collection of elements</a:t>
            </a:r>
            <a:r>
              <a:rPr lang="en-US" sz="2400" dirty="0"/>
              <a:t>, all of the </a:t>
            </a:r>
            <a:r>
              <a:rPr lang="en-US" sz="2400" b="1" dirty="0"/>
              <a:t>same data type</a:t>
            </a:r>
            <a:r>
              <a:rPr lang="en-US" sz="2400" dirty="0"/>
              <a:t>. It can be visualized as a </a:t>
            </a:r>
            <a:r>
              <a:rPr lang="en-US" sz="2400" b="1" dirty="0">
                <a:solidFill>
                  <a:srgbClr val="C00000"/>
                </a:solidFill>
              </a:rPr>
              <a:t>list</a:t>
            </a:r>
            <a:r>
              <a:rPr lang="en-US" sz="2400" dirty="0"/>
              <a:t>.</a:t>
            </a:r>
          </a:p>
          <a:p>
            <a:r>
              <a:rPr lang="en-US" sz="2400" dirty="0"/>
              <a:t>Requires </a:t>
            </a:r>
            <a:r>
              <a:rPr lang="en-US" sz="2400" b="1" dirty="0">
                <a:solidFill>
                  <a:srgbClr val="C00000"/>
                </a:solidFill>
              </a:rPr>
              <a:t>one index</a:t>
            </a:r>
            <a:r>
              <a:rPr lang="en-US" sz="2400" dirty="0"/>
              <a:t> to access elements.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AA2AF-681E-71E2-B680-99EA78D3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200" y="2884752"/>
            <a:ext cx="4776856" cy="674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4312CF-7B90-53BB-AC47-1068463F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199" y="4457438"/>
            <a:ext cx="6329523" cy="67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43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9266-1144-B4E2-E985-4BC2FE62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220D1-E7A2-F2FB-51A6-530B47FB5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AF81B-5CD7-6432-6532-BDF813057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01" y="1558894"/>
            <a:ext cx="10028788" cy="354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2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2EC5-239D-D07E-76E3-8AAEC128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9E490-E6FD-869B-DFD9-B8424CAF8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Two-Dimensional Array: ( Array of more than one One-Dimensional Array)</a:t>
            </a:r>
          </a:p>
          <a:p>
            <a:r>
              <a:rPr lang="en-US" sz="2400" dirty="0"/>
              <a:t>A two-dimensional array is a </a:t>
            </a:r>
            <a:r>
              <a:rPr lang="en-US" sz="2400" b="1" dirty="0"/>
              <a:t>collection of elements arranged in </a:t>
            </a:r>
            <a:r>
              <a:rPr lang="en-US" sz="2400" b="1" dirty="0">
                <a:solidFill>
                  <a:srgbClr val="C00000"/>
                </a:solidFill>
              </a:rPr>
              <a:t>rows</a:t>
            </a:r>
            <a:r>
              <a:rPr lang="en-US" sz="2400" b="1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columns</a:t>
            </a:r>
            <a:r>
              <a:rPr lang="en-US" sz="2400" dirty="0"/>
              <a:t>, like a </a:t>
            </a:r>
            <a:r>
              <a:rPr lang="en-US" sz="2400" b="1" dirty="0">
                <a:solidFill>
                  <a:srgbClr val="C00000"/>
                </a:solidFill>
              </a:rPr>
              <a:t>table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matrix</a:t>
            </a:r>
            <a:r>
              <a:rPr lang="en-US" sz="2400" dirty="0"/>
              <a:t>. </a:t>
            </a:r>
          </a:p>
          <a:p>
            <a:r>
              <a:rPr lang="en-US" sz="2400" dirty="0"/>
              <a:t>It is essentially an </a:t>
            </a:r>
            <a:r>
              <a:rPr lang="en-US" sz="2400" b="1" dirty="0">
                <a:solidFill>
                  <a:srgbClr val="C00000"/>
                </a:solidFill>
              </a:rPr>
              <a:t>array of </a:t>
            </a:r>
            <a:r>
              <a:rPr lang="en-US" sz="2400" dirty="0"/>
              <a:t>more than one One-Dimensional arrays.</a:t>
            </a:r>
          </a:p>
          <a:p>
            <a:r>
              <a:rPr lang="en-US" sz="2400" dirty="0"/>
              <a:t>Requires </a:t>
            </a:r>
            <a:r>
              <a:rPr lang="en-US" sz="2400" b="1" dirty="0">
                <a:solidFill>
                  <a:srgbClr val="C00000"/>
                </a:solidFill>
              </a:rPr>
              <a:t>two indices </a:t>
            </a:r>
            <a:r>
              <a:rPr lang="en-US" sz="2400" dirty="0"/>
              <a:t>to access elements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3331A-52C5-7687-2A15-142EAE44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82" y="3057571"/>
            <a:ext cx="6209524" cy="7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2BF30A-F66D-743A-CA6A-1575FFB95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342" y="4302714"/>
            <a:ext cx="3971429" cy="2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ADC9FD-1DA4-8C44-FBBF-58C992236635}"/>
              </a:ext>
            </a:extLst>
          </p:cNvPr>
          <p:cNvSpPr txBox="1"/>
          <p:nvPr/>
        </p:nvSpPr>
        <p:spPr>
          <a:xfrm>
            <a:off x="7127875" y="4302714"/>
            <a:ext cx="41846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Accessed using </a:t>
            </a:r>
            <a:r>
              <a:rPr lang="en-US" sz="2400" b="1" dirty="0">
                <a:solidFill>
                  <a:srgbClr val="C00000"/>
                </a:solidFill>
              </a:rPr>
              <a:t>two indices </a:t>
            </a:r>
            <a:r>
              <a:rPr lang="en-US" sz="2400" dirty="0"/>
              <a:t>(</a:t>
            </a:r>
            <a:r>
              <a:rPr lang="en-US" sz="2400" dirty="0" err="1"/>
              <a:t>array_name</a:t>
            </a:r>
            <a:r>
              <a:rPr lang="en-US" sz="2400" dirty="0"/>
              <a:t>[</a:t>
            </a:r>
            <a:r>
              <a:rPr lang="en-US" sz="2400" b="1" dirty="0"/>
              <a:t>row</a:t>
            </a:r>
            <a:r>
              <a:rPr lang="en-US" sz="2400" dirty="0"/>
              <a:t>][</a:t>
            </a:r>
            <a:r>
              <a:rPr lang="en-US" sz="2400" b="1" dirty="0"/>
              <a:t>column</a:t>
            </a:r>
            <a:r>
              <a:rPr lang="en-US" sz="2400" dirty="0"/>
              <a:t>]).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first index </a:t>
            </a:r>
            <a:r>
              <a:rPr lang="en-IN" sz="2400" dirty="0"/>
              <a:t>represents the </a:t>
            </a:r>
            <a:r>
              <a:rPr lang="en-IN" sz="2400" b="1" dirty="0">
                <a:solidFill>
                  <a:srgbClr val="C00000"/>
                </a:solidFill>
              </a:rPr>
              <a:t>row</a:t>
            </a:r>
            <a:r>
              <a:rPr lang="en-IN" sz="2400" dirty="0"/>
              <a:t>, and the </a:t>
            </a:r>
            <a:r>
              <a:rPr lang="en-IN" sz="2400" b="1" dirty="0"/>
              <a:t>second</a:t>
            </a:r>
            <a:r>
              <a:rPr lang="en-IN" sz="2400" dirty="0"/>
              <a:t> represents the </a:t>
            </a:r>
            <a:r>
              <a:rPr lang="en-IN" sz="2400" b="1" dirty="0">
                <a:solidFill>
                  <a:srgbClr val="C00000"/>
                </a:solidFill>
              </a:rPr>
              <a:t>column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0880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4378-FFA5-955B-AC9A-D74C5F69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7DD8-7C4A-81DE-FCAD-C3E5D209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F0491-5C66-1D5C-9CAC-C8D91D03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90" y="1324271"/>
            <a:ext cx="10299219" cy="41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45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2BC1-D5BB-D5C9-8D4E-2C5065F1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89F7-101F-D952-4DB2-BB06A1A04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Multi-Dimensional Array:</a:t>
            </a:r>
          </a:p>
          <a:p>
            <a:pPr marL="0" indent="0">
              <a:buNone/>
            </a:pPr>
            <a:r>
              <a:rPr lang="en-US" sz="2400" dirty="0"/>
              <a:t>A multi-dimensional array </a:t>
            </a:r>
            <a:r>
              <a:rPr lang="en-US" sz="2400" b="1" dirty="0">
                <a:solidFill>
                  <a:srgbClr val="C00000"/>
                </a:solidFill>
              </a:rPr>
              <a:t>extends</a:t>
            </a:r>
            <a:r>
              <a:rPr lang="en-US" sz="2400" dirty="0"/>
              <a:t> the concept of a </a:t>
            </a:r>
            <a:r>
              <a:rPr lang="en-US" sz="2400" b="1" dirty="0"/>
              <a:t>two-dimensional array to more than two dimensions </a:t>
            </a:r>
            <a:r>
              <a:rPr lang="en-US" sz="2400" dirty="0"/>
              <a:t>(e.g., 3D, 4D).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Characteristics:</a:t>
            </a:r>
          </a:p>
          <a:p>
            <a:pPr lvl="1"/>
            <a:r>
              <a:rPr lang="en-US" sz="2200" dirty="0"/>
              <a:t>Accessed using </a:t>
            </a:r>
            <a:r>
              <a:rPr lang="en-US" sz="2200" b="1" dirty="0">
                <a:solidFill>
                  <a:srgbClr val="C00000"/>
                </a:solidFill>
              </a:rPr>
              <a:t>multiple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indices</a:t>
            </a:r>
            <a:r>
              <a:rPr lang="en-US" sz="2200" dirty="0"/>
              <a:t> (</a:t>
            </a:r>
            <a:r>
              <a:rPr lang="en-US" sz="2200" dirty="0" err="1"/>
              <a:t>array_name</a:t>
            </a:r>
            <a:r>
              <a:rPr lang="en-US" sz="2200" dirty="0"/>
              <a:t>[index1][index2][index3]...).</a:t>
            </a:r>
          </a:p>
          <a:p>
            <a:pPr lvl="1"/>
            <a:r>
              <a:rPr lang="en-US" sz="2200" dirty="0"/>
              <a:t>Each additional dimension </a:t>
            </a:r>
            <a:r>
              <a:rPr lang="en-US" sz="2200" b="1" dirty="0">
                <a:solidFill>
                  <a:srgbClr val="C00000"/>
                </a:solidFill>
              </a:rPr>
              <a:t>increases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the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complexity</a:t>
            </a:r>
            <a:r>
              <a:rPr lang="en-US" sz="2200" dirty="0"/>
              <a:t> of indexing and storage.</a:t>
            </a: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B181C-7457-F5EE-82C5-BE159737E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610" y="2232982"/>
            <a:ext cx="8060362" cy="772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1B32B8-143F-D1E8-C802-1BA67023F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66" y="3712776"/>
            <a:ext cx="5709746" cy="77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93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4C81-5128-4194-FF5E-6E574C0B6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01BA3-E8CB-A60B-3A73-CFD853952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29D47-F235-9445-78B2-B0251A1CC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" y="1348656"/>
            <a:ext cx="10450286" cy="41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82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75D0-B8D9-FAAF-7401-DD601E90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67BF-1F23-C5FD-40D4-D8326E628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846" y="1077686"/>
            <a:ext cx="10659110" cy="3015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Limitations of Arrays: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Fixed size: </a:t>
            </a:r>
            <a:r>
              <a:rPr lang="en-US" sz="2800" b="1" dirty="0">
                <a:solidFill>
                  <a:srgbClr val="C00000"/>
                </a:solidFill>
              </a:rPr>
              <a:t>Cannot resize </a:t>
            </a:r>
            <a:r>
              <a:rPr lang="en-US" sz="2800" dirty="0"/>
              <a:t>during runtime.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Homogeneous data: </a:t>
            </a:r>
            <a:r>
              <a:rPr lang="en-US" sz="2800" dirty="0"/>
              <a:t>Only </a:t>
            </a:r>
            <a:r>
              <a:rPr lang="en-US" sz="2800" b="1" dirty="0">
                <a:solidFill>
                  <a:srgbClr val="C00000"/>
                </a:solidFill>
              </a:rPr>
              <a:t>one data type </a:t>
            </a:r>
            <a:r>
              <a:rPr lang="en-US" sz="2800" dirty="0"/>
              <a:t>allowed.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Static memory allocation </a:t>
            </a:r>
            <a:r>
              <a:rPr lang="en-US" sz="2800" dirty="0"/>
              <a:t>may lead to </a:t>
            </a:r>
            <a:r>
              <a:rPr lang="en-US" sz="2800" b="1" dirty="0"/>
              <a:t>wastage</a:t>
            </a:r>
            <a:r>
              <a:rPr lang="en-US" sz="2800" dirty="0"/>
              <a:t> if the array is </a:t>
            </a:r>
            <a:r>
              <a:rPr lang="en-US" sz="2800" b="1" dirty="0">
                <a:solidFill>
                  <a:srgbClr val="C00000"/>
                </a:solidFill>
              </a:rPr>
              <a:t>not fully utilized.</a:t>
            </a:r>
            <a:endParaRPr lang="en-I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861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B06DE-B997-E0C0-5D94-56D09478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095AD-B38D-2608-3F8D-C2420A92C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982" y="947057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002060"/>
                </a:solidFill>
              </a:rPr>
              <a:t>Strings</a:t>
            </a:r>
            <a:r>
              <a:rPr lang="en-US" sz="3200" b="1" dirty="0">
                <a:solidFill>
                  <a:srgbClr val="002060"/>
                </a:solidFill>
              </a:rPr>
              <a:t> in C:</a:t>
            </a:r>
          </a:p>
          <a:p>
            <a:pPr marL="0" indent="0">
              <a:buNone/>
            </a:pPr>
            <a:r>
              <a:rPr lang="en-US" sz="3200" dirty="0"/>
              <a:t>In C programming, a string is </a:t>
            </a:r>
            <a:r>
              <a:rPr lang="en-US" sz="3200" b="1" dirty="0">
                <a:solidFill>
                  <a:srgbClr val="C00000"/>
                </a:solidFill>
              </a:rPr>
              <a:t>essentially an array of </a:t>
            </a:r>
            <a:r>
              <a:rPr lang="en-US" sz="3200" b="1" dirty="0">
                <a:solidFill>
                  <a:srgbClr val="0070C0"/>
                </a:solidFill>
              </a:rPr>
              <a:t>characters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that is </a:t>
            </a:r>
            <a:r>
              <a:rPr lang="en-US" sz="3200" b="1" dirty="0">
                <a:solidFill>
                  <a:srgbClr val="C00000"/>
                </a:solidFill>
              </a:rPr>
              <a:t>terminated</a:t>
            </a:r>
            <a:r>
              <a:rPr lang="en-US" sz="3200" dirty="0"/>
              <a:t> by a special character called the </a:t>
            </a:r>
            <a:r>
              <a:rPr lang="en-US" sz="3200" b="1" dirty="0"/>
              <a:t>null character (\0). </a:t>
            </a:r>
          </a:p>
          <a:p>
            <a:pPr marL="0" indent="0">
              <a:buNone/>
            </a:pPr>
            <a:r>
              <a:rPr lang="en-US" sz="3200" dirty="0"/>
              <a:t>This null character marks the </a:t>
            </a:r>
            <a:r>
              <a:rPr lang="en-US" sz="3200" b="1" dirty="0">
                <a:solidFill>
                  <a:srgbClr val="C00000"/>
                </a:solidFill>
              </a:rPr>
              <a:t>end of the string</a:t>
            </a:r>
            <a:r>
              <a:rPr lang="en-US" sz="3200" dirty="0"/>
              <a:t>, distinguishing it from other arrays of characters.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03327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DBE6-2FD5-F693-B5B3-21A518DC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21239-AF5B-657C-287C-7EA8D9E5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Characteristics of Strings in C: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Null Termination: </a:t>
            </a:r>
            <a:r>
              <a:rPr lang="en-US" dirty="0"/>
              <a:t>Every string in C is </a:t>
            </a:r>
            <a:r>
              <a:rPr lang="en-US" b="1" dirty="0">
                <a:solidFill>
                  <a:srgbClr val="C00000"/>
                </a:solidFill>
              </a:rPr>
              <a:t>terminated with the null character </a:t>
            </a:r>
            <a:r>
              <a:rPr lang="en-US" b="1" dirty="0"/>
              <a:t>\0</a:t>
            </a:r>
            <a:r>
              <a:rPr lang="en-US" dirty="0"/>
              <a:t>. This allows functions like </a:t>
            </a:r>
            <a:r>
              <a:rPr lang="en-US" dirty="0" err="1"/>
              <a:t>printf</a:t>
            </a:r>
            <a:r>
              <a:rPr lang="en-US" dirty="0"/>
              <a:t> to know where the string ends.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The string </a:t>
            </a:r>
            <a:r>
              <a:rPr lang="en-US" b="1" dirty="0"/>
              <a:t>"Hello" </a:t>
            </a:r>
            <a:r>
              <a:rPr lang="en-US" dirty="0"/>
              <a:t>is stored in memory as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Declaration: </a:t>
            </a:r>
            <a:r>
              <a:rPr lang="en-US" dirty="0"/>
              <a:t>Strings can be declared 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465A2-2F94-0C6F-1E7E-6951F6FAC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352" y="2175838"/>
            <a:ext cx="4817934" cy="757334"/>
          </a:xfrm>
          <a:prstGeom prst="rect">
            <a:avLst/>
          </a:prstGeom>
        </p:spPr>
      </p:pic>
      <p:pic>
        <p:nvPicPr>
          <p:cNvPr id="6" name="Picture 5" descr="A screenshot of a video game">
            <a:extLst>
              <a:ext uri="{FF2B5EF4-FFF2-40B4-BE49-F238E27FC236}">
                <a16:creationId xmlns:a16="http://schemas.microsoft.com/office/drawing/2014/main" id="{B58C2051-642C-EA44-6799-5CA98B25A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" t="18821" r="2768" b="25911"/>
          <a:stretch/>
        </p:blipFill>
        <p:spPr>
          <a:xfrm>
            <a:off x="1208919" y="3924829"/>
            <a:ext cx="10477984" cy="1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BDF3-C26C-E881-422E-370C2224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2B259-8451-CE03-8C66-F2ABD43D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3. </a:t>
            </a:r>
            <a:r>
              <a:rPr lang="en-IN" sz="2400" b="1" dirty="0"/>
              <a:t>Input and Output</a:t>
            </a:r>
            <a:r>
              <a:rPr lang="en-IN" sz="2400" dirty="0"/>
              <a:t>:</a:t>
            </a:r>
          </a:p>
          <a:p>
            <a:r>
              <a:rPr lang="en-IN" sz="2400" b="1" dirty="0"/>
              <a:t>To read a string: 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r>
              <a:rPr lang="en-IN" sz="2400" b="1" dirty="0"/>
              <a:t>To print a string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F4042-2E64-1C2C-8E52-86ACB7E0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612" y="1986697"/>
            <a:ext cx="10299938" cy="1040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56D42-8C5A-B932-9AA1-6A747A0FA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486" y="4349526"/>
            <a:ext cx="3838095" cy="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58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2A37-2947-9B78-087E-92CC3197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34680-72E8-7F48-74F9-5F81DC82F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4. String Handling Functions: </a:t>
            </a:r>
            <a:r>
              <a:rPr lang="en-US" sz="2400" dirty="0"/>
              <a:t>The </a:t>
            </a:r>
            <a:r>
              <a:rPr lang="en-US" sz="2400" b="1" dirty="0" err="1">
                <a:solidFill>
                  <a:srgbClr val="C00000"/>
                </a:solidFill>
              </a:rPr>
              <a:t>string.h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header file provides useful functions to work with strings:</a:t>
            </a:r>
          </a:p>
          <a:p>
            <a:r>
              <a:rPr lang="en-US" sz="2400" dirty="0" err="1"/>
              <a:t>strlen</a:t>
            </a:r>
            <a:r>
              <a:rPr lang="en-US" sz="2400" dirty="0"/>
              <a:t>(str): Returns the length of the string (excluding \0).</a:t>
            </a:r>
          </a:p>
          <a:p>
            <a:r>
              <a:rPr lang="en-US" sz="2400" dirty="0" err="1"/>
              <a:t>strcpy</a:t>
            </a:r>
            <a:r>
              <a:rPr lang="en-US" sz="2400" dirty="0"/>
              <a:t>(</a:t>
            </a:r>
            <a:r>
              <a:rPr lang="en-US" sz="2400" dirty="0" err="1"/>
              <a:t>dest</a:t>
            </a:r>
            <a:r>
              <a:rPr lang="en-US" sz="2400" dirty="0"/>
              <a:t>, </a:t>
            </a:r>
            <a:r>
              <a:rPr lang="en-US" sz="2400" dirty="0" err="1"/>
              <a:t>src</a:t>
            </a:r>
            <a:r>
              <a:rPr lang="en-US" sz="2400" dirty="0"/>
              <a:t>): Copies the string </a:t>
            </a:r>
            <a:r>
              <a:rPr lang="en-US" sz="2400" dirty="0" err="1"/>
              <a:t>src</a:t>
            </a:r>
            <a:r>
              <a:rPr lang="en-US" sz="2400" dirty="0"/>
              <a:t> into </a:t>
            </a:r>
            <a:r>
              <a:rPr lang="en-US" sz="2400" dirty="0" err="1"/>
              <a:t>dest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strcat</a:t>
            </a:r>
            <a:r>
              <a:rPr lang="en-US" sz="2400" dirty="0"/>
              <a:t>(</a:t>
            </a:r>
            <a:r>
              <a:rPr lang="en-US" sz="2400" dirty="0" err="1"/>
              <a:t>dest</a:t>
            </a:r>
            <a:r>
              <a:rPr lang="en-US" sz="2400" dirty="0"/>
              <a:t>, </a:t>
            </a:r>
            <a:r>
              <a:rPr lang="en-US" sz="2400" dirty="0" err="1"/>
              <a:t>src</a:t>
            </a:r>
            <a:r>
              <a:rPr lang="en-US" sz="2400" dirty="0"/>
              <a:t>): Concatenates </a:t>
            </a:r>
            <a:r>
              <a:rPr lang="en-US" sz="2400" dirty="0" err="1"/>
              <a:t>src</a:t>
            </a:r>
            <a:r>
              <a:rPr lang="en-US" sz="2400" dirty="0"/>
              <a:t> at the end of </a:t>
            </a:r>
            <a:r>
              <a:rPr lang="en-US" sz="2400" dirty="0" err="1"/>
              <a:t>dest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strcmp</a:t>
            </a:r>
            <a:r>
              <a:rPr lang="en-US" sz="2400" dirty="0"/>
              <a:t>(str1, str2): Compares two strings (0 if they are equal, non-zero otherwise).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5. String Manipulation: </a:t>
            </a:r>
            <a:r>
              <a:rPr lang="en-US" sz="2400" dirty="0"/>
              <a:t>Strings in C are </a:t>
            </a:r>
            <a:r>
              <a:rPr lang="en-US" sz="2400" b="1" dirty="0">
                <a:solidFill>
                  <a:srgbClr val="C00000"/>
                </a:solidFill>
              </a:rPr>
              <a:t>mutable</a:t>
            </a:r>
            <a:r>
              <a:rPr lang="en-US" sz="2400" dirty="0"/>
              <a:t> (</a:t>
            </a:r>
            <a:r>
              <a:rPr lang="en-US" sz="2400" b="1" dirty="0"/>
              <a:t>modifiable</a:t>
            </a:r>
            <a:r>
              <a:rPr lang="en-US" sz="2400" dirty="0"/>
              <a:t>). You can modify </a:t>
            </a:r>
            <a:r>
              <a:rPr lang="en-US" sz="2400" b="1" dirty="0"/>
              <a:t>individual characters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4B2AD-629C-9F43-609F-CB1ABE65D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439" y="4740810"/>
            <a:ext cx="7409524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21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C6768-7B13-3AAF-AB83-FE516DD8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79D8-8261-66FA-A6DF-9E494E1B2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01486"/>
            <a:ext cx="10659110" cy="3668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String operations:</a:t>
            </a:r>
          </a:p>
          <a:p>
            <a:pPr marL="0" indent="0">
              <a:buNone/>
            </a:pPr>
            <a:r>
              <a:rPr lang="en-US" sz="2800" dirty="0"/>
              <a:t>In C, string operations include </a:t>
            </a:r>
            <a:r>
              <a:rPr lang="en-US" sz="2800" b="1" dirty="0">
                <a:solidFill>
                  <a:srgbClr val="C00000"/>
                </a:solidFill>
              </a:rPr>
              <a:t>creating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manipulating</a:t>
            </a:r>
            <a:r>
              <a:rPr lang="en-US" sz="2800" dirty="0"/>
              <a:t>, and </a:t>
            </a:r>
            <a:r>
              <a:rPr lang="en-US" sz="2800" b="1" dirty="0">
                <a:solidFill>
                  <a:srgbClr val="C00000"/>
                </a:solidFill>
              </a:rPr>
              <a:t>analyzing</a:t>
            </a:r>
            <a:r>
              <a:rPr lang="en-US" sz="2800" dirty="0"/>
              <a:t> </a:t>
            </a:r>
            <a:r>
              <a:rPr lang="en-US" sz="2800" b="1" dirty="0"/>
              <a:t>strings</a:t>
            </a:r>
            <a:r>
              <a:rPr lang="en-US" sz="2800" dirty="0"/>
              <a:t>. The </a:t>
            </a:r>
            <a:r>
              <a:rPr lang="en-US" sz="2800" b="1" dirty="0" err="1">
                <a:solidFill>
                  <a:srgbClr val="C00000"/>
                </a:solidFill>
              </a:rPr>
              <a:t>string.h</a:t>
            </a:r>
            <a:r>
              <a:rPr lang="en-US" sz="2800" dirty="0"/>
              <a:t> header file provides a variety of built-in functions for working with strings.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8792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D882-3C33-8498-14FA-9987B238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79908-8486-E3E7-0D85-25B22F86B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String Initialization: </a:t>
            </a:r>
            <a:r>
              <a:rPr lang="en-US" sz="2400" dirty="0"/>
              <a:t>Strings are declared as </a:t>
            </a:r>
            <a:r>
              <a:rPr lang="en-US" sz="2400" b="1" dirty="0">
                <a:solidFill>
                  <a:srgbClr val="C00000"/>
                </a:solidFill>
              </a:rPr>
              <a:t>arrays of characters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must be null-terminated</a:t>
            </a:r>
            <a:r>
              <a:rPr lang="en-US" sz="2400" dirty="0"/>
              <a:t>.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D0B65-03DC-0516-D457-97C684DC9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5" y="1697699"/>
            <a:ext cx="9893728" cy="1113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1DA2C-1FF6-34B3-B58F-16794CBB8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47" y="4046505"/>
            <a:ext cx="9838095" cy="1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88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A8BF-2338-67AD-18AF-05111B09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BF64-4FF2-48EC-D2B9-A3BE34C18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2. </a:t>
            </a:r>
            <a:r>
              <a:rPr lang="en-US" sz="2400" b="1" dirty="0"/>
              <a:t>String Input and Output</a:t>
            </a:r>
          </a:p>
          <a:p>
            <a:r>
              <a:rPr lang="en-US" sz="2400" b="1" dirty="0"/>
              <a:t>Input: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Use </a:t>
            </a:r>
            <a:r>
              <a:rPr lang="en-US" sz="2400" b="1" dirty="0" err="1">
                <a:solidFill>
                  <a:srgbClr val="C00000"/>
                </a:solidFill>
              </a:rPr>
              <a:t>scanf</a:t>
            </a:r>
            <a:r>
              <a:rPr lang="en-US" sz="2400" dirty="0"/>
              <a:t> for </a:t>
            </a:r>
            <a:r>
              <a:rPr lang="en-US" sz="2400" b="1" dirty="0"/>
              <a:t>single-word strings</a:t>
            </a:r>
            <a:r>
              <a:rPr lang="en-US" sz="2400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Use </a:t>
            </a:r>
            <a:r>
              <a:rPr lang="en-US" sz="2400" b="1" dirty="0" err="1">
                <a:solidFill>
                  <a:srgbClr val="C00000"/>
                </a:solidFill>
              </a:rPr>
              <a:t>fgets</a:t>
            </a:r>
            <a:r>
              <a:rPr lang="en-US" sz="2400" dirty="0"/>
              <a:t> for </a:t>
            </a:r>
            <a:r>
              <a:rPr lang="en-US" sz="2400" b="1" dirty="0"/>
              <a:t>multi-word strings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800" dirty="0"/>
          </a:p>
          <a:p>
            <a:r>
              <a:rPr lang="en-US" sz="2400" b="1" dirty="0"/>
              <a:t>Output: </a:t>
            </a:r>
            <a:r>
              <a:rPr lang="en-US" sz="2400" dirty="0"/>
              <a:t>Use </a:t>
            </a:r>
            <a:r>
              <a:rPr lang="en-US" sz="2400" b="1" dirty="0" err="1"/>
              <a:t>printf</a:t>
            </a:r>
            <a:r>
              <a:rPr lang="en-US" sz="2400" dirty="0"/>
              <a:t> to display strings.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B8B3F-EB72-924C-716E-87279F251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81" y="2489552"/>
            <a:ext cx="8505819" cy="1556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8F20D-C576-DAAE-6CE5-FA8A5A6FD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23" y="5061239"/>
            <a:ext cx="4307734" cy="91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24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031EF-6178-C0AD-BB38-11686055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CCCF4-836E-9CEA-F235-5607D1A92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Finding String Length: </a:t>
            </a:r>
            <a:r>
              <a:rPr lang="en-US" sz="2400" dirty="0"/>
              <a:t>Use </a:t>
            </a:r>
            <a:r>
              <a:rPr lang="en-US" sz="2400" b="1" dirty="0" err="1">
                <a:solidFill>
                  <a:srgbClr val="C00000"/>
                </a:solidFill>
              </a:rPr>
              <a:t>strlen</a:t>
            </a:r>
            <a:r>
              <a:rPr lang="en-US" sz="2400" b="1" dirty="0">
                <a:solidFill>
                  <a:srgbClr val="C00000"/>
                </a:solidFill>
              </a:rPr>
              <a:t>()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find the length of a string (</a:t>
            </a:r>
            <a:r>
              <a:rPr lang="en-US" sz="2400" b="1" dirty="0"/>
              <a:t>excluding the null terminator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r>
              <a:rPr lang="en-IN" sz="2400" b="1" dirty="0"/>
              <a:t>Prototype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IN" sz="2000" b="1" dirty="0"/>
              <a:t>Parameter: </a:t>
            </a:r>
            <a:r>
              <a:rPr lang="en-IN" sz="2000" dirty="0"/>
              <a:t>A </a:t>
            </a:r>
            <a:r>
              <a:rPr lang="en-IN" sz="2000" b="1" dirty="0">
                <a:solidFill>
                  <a:srgbClr val="C00000"/>
                </a:solidFill>
              </a:rPr>
              <a:t>pointer</a:t>
            </a:r>
            <a:r>
              <a:rPr lang="en-IN" sz="2000" dirty="0"/>
              <a:t> to the string (</a:t>
            </a:r>
            <a:r>
              <a:rPr lang="en-IN" sz="2000" dirty="0" err="1"/>
              <a:t>const</a:t>
            </a:r>
            <a:r>
              <a:rPr lang="en-IN" sz="2000" dirty="0"/>
              <a:t> char *str).</a:t>
            </a:r>
          </a:p>
          <a:p>
            <a:r>
              <a:rPr lang="en-IN" sz="2000" b="1" dirty="0"/>
              <a:t>Return Type: </a:t>
            </a:r>
            <a:r>
              <a:rPr lang="en-IN" sz="2000" dirty="0"/>
              <a:t>The length of the string as a value of type </a:t>
            </a:r>
            <a:r>
              <a:rPr lang="en-IN" sz="2000" dirty="0" err="1"/>
              <a:t>size_t</a:t>
            </a:r>
            <a:r>
              <a:rPr lang="en-IN" sz="2000" dirty="0"/>
              <a:t>, which is an </a:t>
            </a:r>
            <a:r>
              <a:rPr lang="en-IN" sz="2000" b="1" dirty="0">
                <a:solidFill>
                  <a:srgbClr val="C00000"/>
                </a:solidFill>
              </a:rPr>
              <a:t>unsigned</a:t>
            </a:r>
            <a:r>
              <a:rPr lang="en-IN" sz="2000" dirty="0"/>
              <a:t> </a:t>
            </a:r>
            <a:r>
              <a:rPr lang="en-IN" sz="2000" b="1" dirty="0">
                <a:solidFill>
                  <a:srgbClr val="C00000"/>
                </a:solidFill>
              </a:rPr>
              <a:t>integral</a:t>
            </a:r>
            <a:r>
              <a:rPr lang="en-IN" sz="2000" dirty="0"/>
              <a:t> type.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 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3A468-0363-0EA2-D032-A7129D6A1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14" y="4335381"/>
            <a:ext cx="7457143" cy="2323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ECC058-EE18-76DD-B57B-330237B6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762" y="1732727"/>
            <a:ext cx="6695238" cy="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04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2DED-1F19-B25E-A49A-919BA6B3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88BCF-8553-147A-F6A0-BCCABE96D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b="1" dirty="0"/>
              <a:t>Copying Strings: </a:t>
            </a:r>
            <a:r>
              <a:rPr lang="en-US" sz="2400" dirty="0"/>
              <a:t>In C, copying strings involves </a:t>
            </a:r>
            <a:r>
              <a:rPr lang="en-US" sz="2400" b="1" dirty="0">
                <a:solidFill>
                  <a:srgbClr val="C00000"/>
                </a:solidFill>
              </a:rPr>
              <a:t>transferring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one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string</a:t>
            </a:r>
            <a:r>
              <a:rPr lang="en-US" sz="2400" dirty="0"/>
              <a:t> (source) into </a:t>
            </a:r>
            <a:r>
              <a:rPr lang="en-US" sz="2400" b="1" dirty="0"/>
              <a:t>another</a:t>
            </a:r>
            <a:r>
              <a:rPr lang="en-US" sz="2400" dirty="0"/>
              <a:t> </a:t>
            </a:r>
            <a:r>
              <a:rPr lang="en-US" sz="2400" b="1" dirty="0"/>
              <a:t>string</a:t>
            </a:r>
            <a:r>
              <a:rPr lang="en-US" sz="2400" dirty="0"/>
              <a:t> (destination). Use </a:t>
            </a:r>
            <a:r>
              <a:rPr lang="en-US" sz="2400" b="1" dirty="0" err="1">
                <a:solidFill>
                  <a:srgbClr val="C00000"/>
                </a:solidFill>
              </a:rPr>
              <a:t>strcpy</a:t>
            </a:r>
            <a:r>
              <a:rPr lang="en-US" sz="2400" dirty="0"/>
              <a:t> or </a:t>
            </a:r>
            <a:r>
              <a:rPr lang="en-US" sz="2400" b="1" dirty="0" err="1">
                <a:solidFill>
                  <a:srgbClr val="C00000"/>
                </a:solidFill>
              </a:rPr>
              <a:t>strncpy</a:t>
            </a:r>
            <a:r>
              <a:rPr lang="en-US" sz="2400" dirty="0"/>
              <a:t> to copy one </a:t>
            </a:r>
            <a:r>
              <a:rPr lang="en-US" sz="2400" b="1" dirty="0"/>
              <a:t>string</a:t>
            </a:r>
            <a:r>
              <a:rPr lang="en-US" sz="2400" dirty="0"/>
              <a:t> </a:t>
            </a:r>
            <a:r>
              <a:rPr lang="en-US" sz="2400" b="1" dirty="0"/>
              <a:t>into</a:t>
            </a:r>
            <a:r>
              <a:rPr lang="en-US" sz="2400" dirty="0"/>
              <a:t> </a:t>
            </a:r>
            <a:r>
              <a:rPr lang="en-US" sz="2400" b="1" dirty="0"/>
              <a:t>another</a:t>
            </a:r>
            <a:r>
              <a:rPr lang="en-US" sz="2400" dirty="0"/>
              <a:t>.</a:t>
            </a:r>
          </a:p>
          <a:p>
            <a:r>
              <a:rPr lang="en-US" sz="2400" b="1" dirty="0" err="1"/>
              <a:t>strcpy</a:t>
            </a:r>
            <a:r>
              <a:rPr lang="en-US" sz="2400" dirty="0"/>
              <a:t> does not perform bounds checking.</a:t>
            </a:r>
          </a:p>
          <a:p>
            <a:r>
              <a:rPr lang="en-US" sz="2400" b="1" dirty="0" err="1"/>
              <a:t>strncpy</a:t>
            </a:r>
            <a:r>
              <a:rPr lang="en-US" sz="2400" dirty="0"/>
              <a:t> allows you to specify the number of characters to copy.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sz="2400" b="1" dirty="0"/>
              <a:t>Using </a:t>
            </a:r>
            <a:r>
              <a:rPr lang="en-US" sz="2400" b="1" dirty="0" err="1">
                <a:solidFill>
                  <a:srgbClr val="C00000"/>
                </a:solidFill>
              </a:rPr>
              <a:t>strcpy</a:t>
            </a:r>
            <a:r>
              <a:rPr lang="en-US" sz="2400" b="1" dirty="0">
                <a:solidFill>
                  <a:srgbClr val="C00000"/>
                </a:solidFill>
              </a:rPr>
              <a:t>(): 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strcpy</a:t>
            </a:r>
            <a:r>
              <a:rPr lang="en-US" sz="2400" dirty="0"/>
              <a:t> function </a:t>
            </a:r>
            <a:r>
              <a:rPr lang="en-US" sz="2400" b="1" dirty="0">
                <a:solidFill>
                  <a:srgbClr val="C00000"/>
                </a:solidFill>
              </a:rPr>
              <a:t>copies the entire</a:t>
            </a:r>
            <a:r>
              <a:rPr lang="en-US" sz="2400" dirty="0"/>
              <a:t> </a:t>
            </a:r>
            <a:r>
              <a:rPr lang="en-US" sz="2400" b="1" dirty="0"/>
              <a:t>source string </a:t>
            </a:r>
            <a:r>
              <a:rPr lang="en-US" sz="2400" dirty="0"/>
              <a:t>(including the null terminator \0) into the </a:t>
            </a:r>
            <a:r>
              <a:rPr lang="en-US" sz="2400" b="1" dirty="0"/>
              <a:t>destination</a:t>
            </a:r>
            <a:r>
              <a:rPr lang="en-US" sz="2400" dirty="0"/>
              <a:t> </a:t>
            </a:r>
            <a:r>
              <a:rPr lang="en-US" sz="2400" b="1" dirty="0"/>
              <a:t>string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Prototype: 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2E0B9-38C7-CE26-D163-BEE75E92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890" y="4212412"/>
            <a:ext cx="7323809" cy="723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872745-2F7B-F88F-1971-5975A004E267}"/>
              </a:ext>
            </a:extLst>
          </p:cNvPr>
          <p:cNvSpPr txBox="1"/>
          <p:nvPr/>
        </p:nvSpPr>
        <p:spPr>
          <a:xfrm>
            <a:off x="1001486" y="5001538"/>
            <a:ext cx="95357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Destination: </a:t>
            </a:r>
            <a:r>
              <a:rPr lang="en-IN" sz="2000" dirty="0"/>
              <a:t>Must be large enough to hold the source string, including the null terminator.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Source: </a:t>
            </a:r>
            <a:r>
              <a:rPr lang="en-IN" sz="2000" dirty="0"/>
              <a:t>The string to be copied.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Return Value: </a:t>
            </a:r>
            <a:r>
              <a:rPr lang="en-IN" sz="2000" dirty="0"/>
              <a:t>A pointer to the destination string.</a:t>
            </a:r>
          </a:p>
        </p:txBody>
      </p:sp>
    </p:spTree>
    <p:extLst>
      <p:ext uri="{BB962C8B-B14F-4D97-AF65-F5344CB8AC3E}">
        <p14:creationId xmlns:p14="http://schemas.microsoft.com/office/powerpoint/2010/main" val="3676409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9559-56EA-212B-512D-60AF0A46F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F8C54-A35E-2DCC-EE87-0E7EE815F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Example: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DE4D0-368F-BD80-0271-A8EC2032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95" y="1191568"/>
            <a:ext cx="8126933" cy="50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51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B438-C994-6BD4-D92A-B71BA7B0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C33D-A563-F7B3-CAAE-0E57F0DBF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Using </a:t>
            </a:r>
            <a:r>
              <a:rPr lang="en-US" sz="2400" b="1" dirty="0" err="1"/>
              <a:t>strncpy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 err="1"/>
              <a:t>strncpy</a:t>
            </a:r>
            <a:r>
              <a:rPr lang="en-US" sz="2400" dirty="0"/>
              <a:t> function allows you to </a:t>
            </a:r>
            <a:r>
              <a:rPr lang="en-US" sz="2400" b="1" dirty="0">
                <a:solidFill>
                  <a:srgbClr val="C00000"/>
                </a:solidFill>
              </a:rPr>
              <a:t>specify the number of characters to copy</a:t>
            </a:r>
            <a:r>
              <a:rPr lang="en-US" sz="2400" dirty="0"/>
              <a:t>. This is </a:t>
            </a:r>
            <a:r>
              <a:rPr lang="en-US" sz="2400" b="1" dirty="0"/>
              <a:t>safer</a:t>
            </a:r>
            <a:r>
              <a:rPr lang="en-US" sz="2400" dirty="0"/>
              <a:t> and prevents buffer overflow if the </a:t>
            </a:r>
            <a:r>
              <a:rPr lang="en-US" sz="2400" b="1" dirty="0"/>
              <a:t>source string is larger than the destination buffer.</a:t>
            </a:r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/>
              <a:t>num: </a:t>
            </a:r>
            <a:r>
              <a:rPr lang="en-US" sz="2400" dirty="0"/>
              <a:t>Maximum number of </a:t>
            </a:r>
            <a:r>
              <a:rPr lang="en-US" sz="2400" b="1" dirty="0"/>
              <a:t>characters</a:t>
            </a:r>
            <a:r>
              <a:rPr lang="en-US" sz="2400" dirty="0"/>
              <a:t> </a:t>
            </a:r>
            <a:r>
              <a:rPr lang="en-US" sz="2400" b="1" dirty="0"/>
              <a:t>to</a:t>
            </a:r>
            <a:r>
              <a:rPr lang="en-US" sz="2400" dirty="0"/>
              <a:t> </a:t>
            </a:r>
            <a:r>
              <a:rPr lang="en-US" sz="2400" b="1" dirty="0"/>
              <a:t>copy</a:t>
            </a:r>
            <a:r>
              <a:rPr lang="en-US" sz="24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/>
              <a:t>Null Termination: </a:t>
            </a:r>
            <a:r>
              <a:rPr lang="en-US" sz="2400" dirty="0"/>
              <a:t>If the source string length is less than num, the destination string is padded with null characters (\0).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If the source is longer than num, the </a:t>
            </a:r>
            <a:r>
              <a:rPr lang="en-US" sz="2400" b="1" dirty="0"/>
              <a:t>destination will not be null-terminated</a:t>
            </a:r>
            <a:r>
              <a:rPr lang="en-US" sz="2400" dirty="0"/>
              <a:t>, so you may need to handle this manually.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7B9AC-0D94-3734-9A96-CABB80256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09" y="2828971"/>
            <a:ext cx="9792782" cy="6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41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48C7-9B7A-F17D-966E-492C30A5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BD6E8-EAEB-7C06-BA4F-123F975EE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B683E-A9C0-5986-1C41-A1E53CF5A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72" y="388607"/>
            <a:ext cx="8187514" cy="608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18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BEC0-2950-FFED-57E0-EA9B38149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CF7B7-C63A-147A-DD00-171AC3129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81000"/>
            <a:ext cx="10659110" cy="5998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5. Concatenating Strings: </a:t>
            </a:r>
            <a:r>
              <a:rPr lang="en-US" sz="2400" dirty="0"/>
              <a:t>String concatenation in C involves </a:t>
            </a:r>
            <a:r>
              <a:rPr lang="en-US" sz="2400" b="1" dirty="0"/>
              <a:t>joining two strings into one by appending the characters of one string </a:t>
            </a:r>
            <a:r>
              <a:rPr lang="en-US" sz="2400" dirty="0"/>
              <a:t>(source) </a:t>
            </a:r>
            <a:r>
              <a:rPr lang="en-US" sz="2400" b="1" dirty="0"/>
              <a:t>to the end of another </a:t>
            </a:r>
            <a:r>
              <a:rPr lang="en-US" sz="2400" dirty="0"/>
              <a:t>(destination). Use </a:t>
            </a:r>
            <a:r>
              <a:rPr lang="en-US" sz="2400" dirty="0" err="1"/>
              <a:t>strcat</a:t>
            </a:r>
            <a:r>
              <a:rPr lang="en-US" sz="2400" dirty="0"/>
              <a:t> or </a:t>
            </a:r>
            <a:r>
              <a:rPr lang="en-US" sz="2400" dirty="0" err="1"/>
              <a:t>strncat</a:t>
            </a:r>
            <a:r>
              <a:rPr lang="en-US" sz="2400" dirty="0"/>
              <a:t> to concatenate two strings.</a:t>
            </a:r>
          </a:p>
          <a:p>
            <a:r>
              <a:rPr lang="en-US" sz="2400" b="1" dirty="0" err="1">
                <a:solidFill>
                  <a:srgbClr val="C00000"/>
                </a:solidFill>
              </a:rPr>
              <a:t>strcat</a:t>
            </a:r>
            <a:r>
              <a:rPr lang="en-US" sz="2400" dirty="0"/>
              <a:t> appends the </a:t>
            </a:r>
            <a:r>
              <a:rPr lang="en-US" sz="2400" b="1" dirty="0"/>
              <a:t>second</a:t>
            </a:r>
            <a:r>
              <a:rPr lang="en-US" sz="2400" dirty="0"/>
              <a:t> </a:t>
            </a:r>
            <a:r>
              <a:rPr lang="en-US" sz="2400" b="1" dirty="0"/>
              <a:t>string</a:t>
            </a:r>
            <a:r>
              <a:rPr lang="en-US" sz="2400" dirty="0"/>
              <a:t> to </a:t>
            </a:r>
            <a:r>
              <a:rPr lang="en-US" sz="2400" b="1" dirty="0"/>
              <a:t>the</a:t>
            </a:r>
            <a:r>
              <a:rPr lang="en-US" sz="2400" dirty="0"/>
              <a:t> </a:t>
            </a:r>
            <a:r>
              <a:rPr lang="en-US" sz="2400" b="1" dirty="0"/>
              <a:t>first</a:t>
            </a:r>
            <a:r>
              <a:rPr lang="en-US" sz="2400" dirty="0"/>
              <a:t>.</a:t>
            </a:r>
          </a:p>
          <a:p>
            <a:r>
              <a:rPr lang="en-US" sz="2400" b="1" dirty="0" err="1">
                <a:solidFill>
                  <a:srgbClr val="C00000"/>
                </a:solidFill>
              </a:rPr>
              <a:t>strncat</a:t>
            </a:r>
            <a:r>
              <a:rPr lang="en-US" sz="2400" dirty="0"/>
              <a:t> allows you to specify the number of characters to append.</a:t>
            </a:r>
          </a:p>
          <a:p>
            <a:endParaRPr lang="en-US" sz="800" dirty="0"/>
          </a:p>
          <a:p>
            <a:r>
              <a:rPr lang="en-US" sz="2400" b="1" dirty="0"/>
              <a:t>Using </a:t>
            </a:r>
            <a:r>
              <a:rPr lang="en-US" sz="2400" b="1" dirty="0" err="1"/>
              <a:t>strcat</a:t>
            </a:r>
            <a:r>
              <a:rPr lang="en-US" sz="2400" b="1" dirty="0"/>
              <a:t>(): 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strcat</a:t>
            </a:r>
            <a:r>
              <a:rPr lang="en-US" sz="2400" dirty="0"/>
              <a:t> function concatenates the </a:t>
            </a:r>
            <a:r>
              <a:rPr lang="en-US" sz="2400" b="1" dirty="0">
                <a:solidFill>
                  <a:srgbClr val="C00000"/>
                </a:solidFill>
              </a:rPr>
              <a:t>source</a:t>
            </a:r>
            <a:r>
              <a:rPr lang="en-US" sz="2400" dirty="0"/>
              <a:t> string </a:t>
            </a:r>
            <a:r>
              <a:rPr lang="en-US" sz="2400" b="1" dirty="0">
                <a:solidFill>
                  <a:srgbClr val="C00000"/>
                </a:solidFill>
              </a:rPr>
              <a:t>to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destination</a:t>
            </a:r>
            <a:r>
              <a:rPr lang="en-US" sz="2400" dirty="0"/>
              <a:t> string, </a:t>
            </a:r>
            <a:r>
              <a:rPr lang="en-US" sz="2400" b="1" dirty="0"/>
              <a:t>starting at the null terminator </a:t>
            </a:r>
            <a:r>
              <a:rPr lang="en-US" sz="2400" dirty="0"/>
              <a:t>(\0) of the destination.</a:t>
            </a:r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200" b="1" dirty="0"/>
              <a:t>Destination: </a:t>
            </a:r>
            <a:r>
              <a:rPr lang="en-US" sz="2200" dirty="0"/>
              <a:t>Must be large enough to hold the resulting string, including the null terminator.</a:t>
            </a:r>
          </a:p>
          <a:p>
            <a:r>
              <a:rPr lang="en-US" sz="2200" b="1" dirty="0"/>
              <a:t>Source: </a:t>
            </a:r>
            <a:r>
              <a:rPr lang="en-US" sz="2200" dirty="0"/>
              <a:t>The string to be appended.</a:t>
            </a:r>
          </a:p>
          <a:p>
            <a:r>
              <a:rPr lang="en-US" sz="2200" b="1" dirty="0"/>
              <a:t>Return Value: </a:t>
            </a:r>
            <a:r>
              <a:rPr lang="en-US" sz="2200" dirty="0"/>
              <a:t>A pointer to the destination string.</a:t>
            </a: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E78E0-CB7D-20E4-7247-74D4C785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22" y="3974696"/>
            <a:ext cx="8865881" cy="69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68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D00D-67FE-4633-37CF-4611CB6F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EA592-7150-922F-9F00-3A4A5D8E5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3006B-6217-14B5-F3A3-370A4495B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313" y="752619"/>
            <a:ext cx="8825421" cy="53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51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7742C-575B-FA55-9E82-96E5C722C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EACC7-984F-97A8-AFC8-CDD5AAA40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Using </a:t>
            </a:r>
            <a:r>
              <a:rPr lang="en-US" sz="2400" b="1" dirty="0" err="1"/>
              <a:t>strncat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strncat</a:t>
            </a:r>
            <a:r>
              <a:rPr lang="en-US" sz="2400" dirty="0"/>
              <a:t> function is a </a:t>
            </a:r>
            <a:r>
              <a:rPr lang="en-US" sz="2400" b="1" dirty="0"/>
              <a:t>safer version of </a:t>
            </a:r>
            <a:r>
              <a:rPr lang="en-US" sz="2400" b="1" dirty="0" err="1"/>
              <a:t>strcat</a:t>
            </a:r>
            <a:r>
              <a:rPr lang="en-US" sz="2400" dirty="0"/>
              <a:t>. It allows you to specify the </a:t>
            </a:r>
            <a:r>
              <a:rPr lang="en-US" sz="2400" b="1" dirty="0">
                <a:solidFill>
                  <a:srgbClr val="C00000"/>
                </a:solidFill>
              </a:rPr>
              <a:t>maximum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number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characters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C00000"/>
                </a:solidFill>
              </a:rPr>
              <a:t>append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num: </a:t>
            </a:r>
            <a:r>
              <a:rPr lang="en-US" sz="2400" dirty="0"/>
              <a:t>Specifies the maximum number of characters to append from the source string.</a:t>
            </a:r>
          </a:p>
          <a:p>
            <a:r>
              <a:rPr lang="en-US" sz="2400" dirty="0"/>
              <a:t>Appends at </a:t>
            </a:r>
            <a:r>
              <a:rPr lang="en-US" sz="2400" b="1" dirty="0">
                <a:solidFill>
                  <a:srgbClr val="C00000"/>
                </a:solidFill>
              </a:rPr>
              <a:t>most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num</a:t>
            </a:r>
            <a:r>
              <a:rPr lang="en-US" sz="2400" dirty="0"/>
              <a:t> characters and ensures the resulting string is null-terminated.</a:t>
            </a:r>
          </a:p>
          <a:p>
            <a:r>
              <a:rPr lang="en-US" sz="2400" dirty="0"/>
              <a:t>Useful when the size of the destination buffer is limited.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F0DB4-538C-B0D8-D12C-5B1399D1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07" y="2681625"/>
            <a:ext cx="10254343" cy="59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57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C5D3-4864-5500-3559-F8D518D1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5F41B-EC30-5F8D-E451-E389B499E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868" y="1088572"/>
            <a:ext cx="10659110" cy="4724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6. Comparing Strings: </a:t>
            </a:r>
          </a:p>
          <a:p>
            <a:pPr marL="0" indent="0">
              <a:buNone/>
            </a:pPr>
            <a:r>
              <a:rPr lang="en-US" sz="2400" dirty="0"/>
              <a:t>In C, comparing strings is done to determine their equality, lexical order, or differences. Strings are compared character by character, and C provides built-in functions in the </a:t>
            </a:r>
            <a:r>
              <a:rPr lang="en-US" sz="2400" dirty="0" err="1"/>
              <a:t>string.h</a:t>
            </a:r>
            <a:r>
              <a:rPr lang="en-US" sz="2400" dirty="0"/>
              <a:t> library for these operations. </a:t>
            </a:r>
          </a:p>
          <a:p>
            <a:pPr marL="0" indent="0">
              <a:buNone/>
            </a:pPr>
            <a:r>
              <a:rPr lang="en-US" sz="2400" b="1" dirty="0"/>
              <a:t>Use following functions to compare two strings:</a:t>
            </a:r>
          </a:p>
          <a:p>
            <a:r>
              <a:rPr lang="en-US" sz="2400" b="1" dirty="0" err="1"/>
              <a:t>strcmp</a:t>
            </a:r>
            <a:r>
              <a:rPr lang="en-US" sz="2400" b="1" dirty="0"/>
              <a:t>()</a:t>
            </a:r>
            <a:r>
              <a:rPr lang="en-US" sz="2400" dirty="0"/>
              <a:t> compares strings lexicographically.</a:t>
            </a:r>
          </a:p>
          <a:p>
            <a:r>
              <a:rPr lang="en-US" sz="2400" b="1" dirty="0" err="1"/>
              <a:t>str</a:t>
            </a:r>
            <a:r>
              <a:rPr lang="en-US" sz="2400" b="1" dirty="0" err="1">
                <a:solidFill>
                  <a:srgbClr val="C00000"/>
                </a:solidFill>
              </a:rPr>
              <a:t>n</a:t>
            </a:r>
            <a:r>
              <a:rPr lang="en-US" sz="2400" b="1" dirty="0" err="1"/>
              <a:t>cmp</a:t>
            </a:r>
            <a:r>
              <a:rPr lang="en-US" sz="2400" b="1" dirty="0"/>
              <a:t>()</a:t>
            </a:r>
            <a:r>
              <a:rPr lang="en-US" sz="2400" dirty="0"/>
              <a:t> compares only the first n characters.</a:t>
            </a:r>
          </a:p>
          <a:p>
            <a:r>
              <a:rPr lang="en-US" sz="2400" b="1" dirty="0" err="1"/>
              <a:t>str</a:t>
            </a:r>
            <a:r>
              <a:rPr lang="en-US" sz="2400" b="1" dirty="0" err="1">
                <a:solidFill>
                  <a:srgbClr val="C00000"/>
                </a:solidFill>
              </a:rPr>
              <a:t>case</a:t>
            </a:r>
            <a:r>
              <a:rPr lang="en-US" sz="2400" b="1" dirty="0" err="1"/>
              <a:t>cmp</a:t>
            </a:r>
            <a:r>
              <a:rPr lang="en-US" sz="2400" b="1" dirty="0"/>
              <a:t>()</a:t>
            </a:r>
            <a:r>
              <a:rPr lang="en-US" sz="2400" dirty="0"/>
              <a:t> performs a case-insensitive comparison.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48084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F4809-CB78-1AE8-72D2-0B62540BF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1C8CB-6A2C-621B-9F4B-FD1175660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String Comparison Using </a:t>
            </a:r>
            <a:r>
              <a:rPr lang="en-US" sz="2400" b="1" dirty="0" err="1">
                <a:solidFill>
                  <a:srgbClr val="C00000"/>
                </a:solidFill>
              </a:rPr>
              <a:t>strcmp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strcmp</a:t>
            </a:r>
            <a:r>
              <a:rPr lang="en-US" sz="2400" dirty="0"/>
              <a:t> function compares two strings </a:t>
            </a:r>
            <a:r>
              <a:rPr lang="en-US" sz="2400" b="1" dirty="0">
                <a:solidFill>
                  <a:srgbClr val="C00000"/>
                </a:solidFill>
              </a:rPr>
              <a:t>lexicographically</a:t>
            </a:r>
            <a:r>
              <a:rPr lang="en-US" sz="2400" dirty="0"/>
              <a:t> (</a:t>
            </a:r>
            <a:r>
              <a:rPr lang="en-US" sz="2400" b="1" dirty="0"/>
              <a:t>dictionary</a:t>
            </a:r>
            <a:r>
              <a:rPr lang="en-US" sz="2400" dirty="0"/>
              <a:t> </a:t>
            </a:r>
            <a:r>
              <a:rPr lang="en-US" sz="2400" b="1" dirty="0"/>
              <a:t>order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Return Values: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Returns </a:t>
            </a:r>
            <a:r>
              <a:rPr lang="en-US" sz="2200" b="1" dirty="0">
                <a:solidFill>
                  <a:srgbClr val="C00000"/>
                </a:solidFill>
              </a:rPr>
              <a:t>0</a:t>
            </a:r>
            <a:r>
              <a:rPr lang="en-US" sz="2200" dirty="0"/>
              <a:t> if the </a:t>
            </a:r>
            <a:r>
              <a:rPr lang="en-US" sz="2200" b="1" dirty="0"/>
              <a:t>strings are equal</a:t>
            </a:r>
            <a:r>
              <a:rPr lang="en-US" sz="2200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Returns a </a:t>
            </a:r>
            <a:r>
              <a:rPr lang="en-US" sz="2200" b="1" dirty="0">
                <a:solidFill>
                  <a:srgbClr val="C00000"/>
                </a:solidFill>
              </a:rPr>
              <a:t>negative value </a:t>
            </a:r>
            <a:r>
              <a:rPr lang="en-US" sz="2200" dirty="0"/>
              <a:t>if </a:t>
            </a:r>
            <a:r>
              <a:rPr lang="en-US" sz="2200" b="1" dirty="0"/>
              <a:t>str1</a:t>
            </a:r>
            <a:r>
              <a:rPr lang="en-US" sz="2200" dirty="0"/>
              <a:t> is </a:t>
            </a:r>
            <a:r>
              <a:rPr lang="en-US" sz="2200" b="1" dirty="0"/>
              <a:t>less</a:t>
            </a:r>
            <a:r>
              <a:rPr lang="en-US" sz="2200" dirty="0"/>
              <a:t> </a:t>
            </a:r>
            <a:r>
              <a:rPr lang="en-US" sz="2200" b="1" dirty="0"/>
              <a:t>than</a:t>
            </a:r>
            <a:r>
              <a:rPr lang="en-US" sz="2200" dirty="0"/>
              <a:t> </a:t>
            </a:r>
            <a:r>
              <a:rPr lang="en-US" sz="2200" b="1" dirty="0"/>
              <a:t>str2</a:t>
            </a:r>
            <a:r>
              <a:rPr lang="en-US" sz="2200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Returns a </a:t>
            </a:r>
            <a:r>
              <a:rPr lang="en-US" sz="2200" b="1" dirty="0">
                <a:solidFill>
                  <a:srgbClr val="C00000"/>
                </a:solidFill>
              </a:rPr>
              <a:t>positive value </a:t>
            </a:r>
            <a:r>
              <a:rPr lang="en-US" sz="2200" dirty="0"/>
              <a:t>if str1 is </a:t>
            </a:r>
            <a:r>
              <a:rPr lang="en-US" sz="2200" b="1" dirty="0"/>
              <a:t>greater</a:t>
            </a:r>
            <a:r>
              <a:rPr lang="en-US" sz="2200" dirty="0"/>
              <a:t> </a:t>
            </a:r>
            <a:r>
              <a:rPr lang="en-US" sz="2200" b="1" dirty="0"/>
              <a:t>than</a:t>
            </a:r>
            <a:r>
              <a:rPr lang="en-US" sz="2200" dirty="0"/>
              <a:t> </a:t>
            </a:r>
            <a:r>
              <a:rPr lang="en-US" sz="2200" b="1" dirty="0"/>
              <a:t>str2</a:t>
            </a:r>
            <a:r>
              <a:rPr lang="en-US" sz="2200" dirty="0"/>
              <a:t>.</a:t>
            </a:r>
          </a:p>
          <a:p>
            <a:r>
              <a:rPr lang="en-US" sz="2400" dirty="0"/>
              <a:t>Comparison is </a:t>
            </a:r>
            <a:r>
              <a:rPr lang="en-US" sz="2400" b="1" dirty="0">
                <a:solidFill>
                  <a:srgbClr val="C00000"/>
                </a:solidFill>
              </a:rPr>
              <a:t>case-sensitive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947E8-2B83-5976-8D61-B5B9EE08A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38" y="2571857"/>
            <a:ext cx="7695238" cy="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8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0FFF7-B04D-D43B-DEB1-C5157492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5815-E442-5F5A-4BE9-552435AF2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0F09E-829C-C9DD-5678-E770D09F3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1" y="1145921"/>
            <a:ext cx="9013371" cy="50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74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C46CE-336E-3957-0677-F9870FE9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7F4B2-F94E-7A47-F1DF-9B814E12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String Comparison Using </a:t>
            </a:r>
            <a:r>
              <a:rPr lang="en-US" sz="2400" b="1" dirty="0" err="1">
                <a:solidFill>
                  <a:srgbClr val="C00000"/>
                </a:solidFill>
              </a:rPr>
              <a:t>strncmp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strncmp</a:t>
            </a:r>
            <a:r>
              <a:rPr lang="en-US" sz="2400" dirty="0"/>
              <a:t> function compares up to the </a:t>
            </a:r>
            <a:r>
              <a:rPr lang="en-US" sz="2400" b="1" dirty="0">
                <a:solidFill>
                  <a:srgbClr val="C00000"/>
                </a:solidFill>
              </a:rPr>
              <a:t>first n characters </a:t>
            </a:r>
            <a:r>
              <a:rPr lang="en-US" sz="2400" dirty="0"/>
              <a:t>of two strings.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Prototype: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Limits the comparison </a:t>
            </a:r>
            <a:r>
              <a:rPr lang="en-US" sz="2400" dirty="0"/>
              <a:t>to at most n characters.</a:t>
            </a:r>
          </a:p>
          <a:p>
            <a:r>
              <a:rPr lang="en-US" sz="2400" dirty="0"/>
              <a:t>Useful for </a:t>
            </a:r>
            <a:r>
              <a:rPr lang="en-US" sz="2400" b="1" dirty="0">
                <a:solidFill>
                  <a:srgbClr val="C00000"/>
                </a:solidFill>
              </a:rPr>
              <a:t>partial string comparisons </a:t>
            </a:r>
            <a:r>
              <a:rPr lang="en-US" sz="2400" dirty="0"/>
              <a:t>or ensuring bounds safety.</a:t>
            </a:r>
          </a:p>
          <a:p>
            <a:r>
              <a:rPr lang="en-US" sz="2400" dirty="0"/>
              <a:t>Like </a:t>
            </a:r>
            <a:r>
              <a:rPr lang="en-US" sz="2400" dirty="0" err="1"/>
              <a:t>strcmp</a:t>
            </a:r>
            <a:r>
              <a:rPr lang="en-US" sz="2400" dirty="0"/>
              <a:t>, it is </a:t>
            </a:r>
            <a:r>
              <a:rPr lang="en-US" sz="2400" b="1" dirty="0">
                <a:solidFill>
                  <a:srgbClr val="C00000"/>
                </a:solidFill>
              </a:rPr>
              <a:t>case-sensitive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289F8-06FF-A7E2-DF76-E20DD2C03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652" y="2677639"/>
            <a:ext cx="8914286" cy="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69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DE85-5B32-DD89-1447-B9F97AC77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AF7F0-EF11-A80D-E1FD-FCE75BA02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 descr="A black screen with text on it">
            <a:extLst>
              <a:ext uri="{FF2B5EF4-FFF2-40B4-BE49-F238E27FC236}">
                <a16:creationId xmlns:a16="http://schemas.microsoft.com/office/drawing/2014/main" id="{53B9963B-C815-9328-F62D-6B0041AFA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" t="7650" r="3304" b="15168"/>
          <a:stretch/>
        </p:blipFill>
        <p:spPr>
          <a:xfrm>
            <a:off x="576942" y="1556657"/>
            <a:ext cx="1146265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19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AF9E-263E-F35D-1259-2FDB3938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78E6-E65F-2E1A-999E-6A7CAE778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Case-Insensitive Comparison:</a:t>
            </a:r>
          </a:p>
          <a:p>
            <a:pPr marL="0" indent="0">
              <a:buNone/>
            </a:pPr>
            <a:r>
              <a:rPr lang="en-US" sz="2400" dirty="0"/>
              <a:t>The standard C library does not include a built-in case-insensitive string comparison function, but some compilers provide </a:t>
            </a:r>
            <a:r>
              <a:rPr lang="en-US" sz="2400" b="1" dirty="0" err="1">
                <a:solidFill>
                  <a:srgbClr val="C00000"/>
                </a:solidFill>
              </a:rPr>
              <a:t>strcasecmp</a:t>
            </a:r>
            <a:r>
              <a:rPr lang="en-US" sz="2400" dirty="0"/>
              <a:t> and </a:t>
            </a:r>
            <a:r>
              <a:rPr lang="en-US" sz="2400" b="1" dirty="0" err="1">
                <a:solidFill>
                  <a:srgbClr val="C00000"/>
                </a:solidFill>
              </a:rPr>
              <a:t>strncasecmp</a:t>
            </a:r>
            <a:r>
              <a:rPr lang="en-US" sz="2400" dirty="0"/>
              <a:t> for this purpose.</a:t>
            </a:r>
          </a:p>
          <a:p>
            <a:pPr marL="0" indent="0">
              <a:buNone/>
            </a:pPr>
            <a:r>
              <a:rPr lang="en-US" sz="2400" b="1" dirty="0"/>
              <a:t>Prototype (Non-Standard):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AC720-13AB-AC42-8AC6-CCC0748B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20" y="2778276"/>
            <a:ext cx="10524306" cy="13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44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9144-F98D-2635-C290-3BA13960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D7303-34FD-F976-BDA2-67210D71E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FD0C9-C261-80CB-E418-DAAF9E3AC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14" y="1281440"/>
            <a:ext cx="10225762" cy="486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02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5FC8D-1660-25E4-A8B0-97689EBE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4A874-599D-477B-29E7-482D56951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134" y="2846614"/>
            <a:ext cx="8083731" cy="1164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rgbClr val="002060"/>
                </a:solidFill>
              </a:rPr>
              <a:t>Searching and Sorting</a:t>
            </a:r>
            <a:endParaRPr lang="en-IN" sz="6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223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C877D-7048-B10D-2AEF-8F63EFA5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580C4-6A9B-B4EA-ABC9-C283B095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68829"/>
            <a:ext cx="10659110" cy="4245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Searching:</a:t>
            </a:r>
          </a:p>
          <a:p>
            <a:r>
              <a:rPr lang="en-US" sz="2400" dirty="0"/>
              <a:t>Searching is the process of </a:t>
            </a:r>
            <a:r>
              <a:rPr lang="en-US" sz="2400" b="1" dirty="0">
                <a:solidFill>
                  <a:srgbClr val="C00000"/>
                </a:solidFill>
              </a:rPr>
              <a:t>finding the location of a specific element </a:t>
            </a:r>
            <a:r>
              <a:rPr lang="en-US" sz="2400" dirty="0"/>
              <a:t>(</a:t>
            </a:r>
            <a:r>
              <a:rPr lang="en-US" sz="2400" b="1" dirty="0"/>
              <a:t>key</a:t>
            </a:r>
            <a:r>
              <a:rPr lang="en-US" sz="2400" dirty="0"/>
              <a:t> or </a:t>
            </a:r>
            <a:r>
              <a:rPr lang="en-US" sz="2400" b="1" dirty="0"/>
              <a:t>target</a:t>
            </a:r>
            <a:r>
              <a:rPr lang="en-US" sz="2400" dirty="0"/>
              <a:t>) in a </a:t>
            </a:r>
            <a:r>
              <a:rPr lang="en-US" sz="2400" b="1" dirty="0"/>
              <a:t>collection of elements</a:t>
            </a:r>
            <a:r>
              <a:rPr lang="en-US" sz="2400" dirty="0"/>
              <a:t>, such as an </a:t>
            </a:r>
            <a:r>
              <a:rPr lang="en-US" sz="2400" b="1" dirty="0">
                <a:solidFill>
                  <a:srgbClr val="C00000"/>
                </a:solidFill>
              </a:rPr>
              <a:t>array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list</a:t>
            </a:r>
            <a:r>
              <a:rPr lang="en-US" sz="2400" dirty="0"/>
              <a:t>, or </a:t>
            </a:r>
            <a:r>
              <a:rPr lang="en-US" sz="2400" b="1" dirty="0">
                <a:solidFill>
                  <a:srgbClr val="C00000"/>
                </a:solidFill>
              </a:rPr>
              <a:t>database</a:t>
            </a:r>
            <a:r>
              <a:rPr lang="en-US" sz="2400" dirty="0"/>
              <a:t>. </a:t>
            </a:r>
          </a:p>
          <a:p>
            <a:r>
              <a:rPr lang="en-US" sz="2400" dirty="0"/>
              <a:t>In programming, searching algorithms are used to </a:t>
            </a:r>
            <a:r>
              <a:rPr lang="en-US" sz="2400" b="1" dirty="0"/>
              <a:t>locate data </a:t>
            </a:r>
            <a:r>
              <a:rPr lang="en-US" sz="2400" b="1" dirty="0">
                <a:solidFill>
                  <a:srgbClr val="C00000"/>
                </a:solidFill>
              </a:rPr>
              <a:t>efficiently</a:t>
            </a:r>
            <a:r>
              <a:rPr lang="en-US" sz="2400" dirty="0"/>
              <a:t>, and the choice of algorithm depends on the </a:t>
            </a:r>
            <a:r>
              <a:rPr lang="en-US" sz="2400" b="1" dirty="0"/>
              <a:t>data structure </a:t>
            </a:r>
            <a:r>
              <a:rPr lang="en-US" sz="2400" dirty="0"/>
              <a:t>and the </a:t>
            </a:r>
            <a:r>
              <a:rPr lang="en-US" sz="2400" b="1" dirty="0"/>
              <a:t>nature of the data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b="1" dirty="0"/>
              <a:t>Types of Searching Techniques</a:t>
            </a:r>
          </a:p>
          <a:p>
            <a:pPr marL="457200" indent="-457200">
              <a:buAutoNum type="arabicPeriod"/>
            </a:pPr>
            <a:r>
              <a:rPr lang="en-US" sz="2400" dirty="0"/>
              <a:t>Linear Search</a:t>
            </a:r>
          </a:p>
          <a:p>
            <a:pPr marL="457200" indent="-457200">
              <a:buAutoNum type="arabicPeriod"/>
            </a:pPr>
            <a:r>
              <a:rPr lang="en-IN" sz="2400" dirty="0"/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2661383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4246-7C15-E6EF-FACA-AB51C5C5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625BD-18A9-BCF8-4BD3-1274350DE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Linear Search: </a:t>
            </a:r>
          </a:p>
          <a:p>
            <a:pPr marL="0" indent="0">
              <a:buNone/>
            </a:pPr>
            <a:r>
              <a:rPr lang="en-US" sz="2400" dirty="0"/>
              <a:t>Linear Search, also known as </a:t>
            </a:r>
            <a:r>
              <a:rPr lang="en-US" sz="2400" b="1" dirty="0">
                <a:solidFill>
                  <a:srgbClr val="C00000"/>
                </a:solidFill>
              </a:rPr>
              <a:t>Sequential search</a:t>
            </a:r>
            <a:r>
              <a:rPr lang="en-US" sz="2400" dirty="0"/>
              <a:t>, is the </a:t>
            </a:r>
            <a:r>
              <a:rPr lang="en-US" sz="2400" b="1" dirty="0"/>
              <a:t>simplest search algorithm</a:t>
            </a:r>
            <a:r>
              <a:rPr lang="en-US" sz="2400" dirty="0"/>
              <a:t>. It works by checking </a:t>
            </a:r>
            <a:r>
              <a:rPr lang="en-US" sz="2400" b="1" dirty="0"/>
              <a:t>each element </a:t>
            </a:r>
            <a:r>
              <a:rPr lang="en-US" sz="2400" dirty="0"/>
              <a:t>in a collection </a:t>
            </a:r>
            <a:r>
              <a:rPr lang="en-US" sz="2400" b="1" dirty="0"/>
              <a:t>one by one </a:t>
            </a:r>
            <a:r>
              <a:rPr lang="en-US" sz="2400" dirty="0"/>
              <a:t>until the </a:t>
            </a:r>
            <a:r>
              <a:rPr lang="en-US" sz="2400" b="1" dirty="0">
                <a:solidFill>
                  <a:srgbClr val="C00000"/>
                </a:solidFill>
              </a:rPr>
              <a:t>desired element (key) is found </a:t>
            </a:r>
            <a:r>
              <a:rPr lang="en-US" sz="2400" dirty="0"/>
              <a:t>or the end of the collection is reached.</a:t>
            </a:r>
          </a:p>
          <a:p>
            <a:pPr marL="0" indent="0">
              <a:buNone/>
            </a:pPr>
            <a:endParaRPr lang="en-US" sz="800" b="1" dirty="0"/>
          </a:p>
          <a:p>
            <a:pPr marL="0" indent="0">
              <a:buNone/>
            </a:pPr>
            <a:r>
              <a:rPr lang="en-US" sz="2400" b="1" dirty="0"/>
              <a:t>Characteristics of Linear Search: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Unsorted Data</a:t>
            </a:r>
            <a:r>
              <a:rPr lang="en-US" sz="2400" dirty="0"/>
              <a:t>: Linear search works on both sorted and unsorted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Time Complexity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Best Case</a:t>
            </a:r>
            <a:r>
              <a:rPr lang="en-US" sz="2400" dirty="0"/>
              <a:t>: O(1) (if the target is at the beginning).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Worst Case</a:t>
            </a:r>
            <a:r>
              <a:rPr lang="en-US" sz="2400" dirty="0"/>
              <a:t>: O(n) (if the target is at the end or not present).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Average Case</a:t>
            </a:r>
            <a:r>
              <a:rPr lang="en-US" sz="2400" dirty="0"/>
              <a:t>: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Space Complexity</a:t>
            </a:r>
            <a:r>
              <a:rPr lang="en-US" sz="2400" dirty="0"/>
              <a:t>: O(1) (no extra space required).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36008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49F9-46D9-2B91-3AE7-6772148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D6B72-1743-37A3-0D1D-100F010B5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990600"/>
            <a:ext cx="10659110" cy="4049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How Linear Search Works: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Start from the </a:t>
            </a:r>
            <a:r>
              <a:rPr lang="en-US" sz="2400" b="1" dirty="0">
                <a:solidFill>
                  <a:srgbClr val="C00000"/>
                </a:solidFill>
              </a:rPr>
              <a:t>first element </a:t>
            </a:r>
            <a:r>
              <a:rPr lang="en-US" sz="2400" dirty="0"/>
              <a:t>of the collection.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Compare the </a:t>
            </a:r>
            <a:r>
              <a:rPr lang="en-US" sz="2400" b="1" dirty="0">
                <a:solidFill>
                  <a:srgbClr val="C00000"/>
                </a:solidFill>
              </a:rPr>
              <a:t>current</a:t>
            </a:r>
            <a:r>
              <a:rPr lang="en-US" sz="2400" b="1" dirty="0"/>
              <a:t> element with the </a:t>
            </a:r>
            <a:r>
              <a:rPr lang="en-US" sz="2400" b="1" dirty="0">
                <a:solidFill>
                  <a:srgbClr val="C00000"/>
                </a:solidFill>
              </a:rPr>
              <a:t>target</a:t>
            </a:r>
            <a:r>
              <a:rPr lang="en-US" sz="2400" b="1" dirty="0"/>
              <a:t> </a:t>
            </a:r>
            <a:r>
              <a:rPr lang="en-US" sz="2400" dirty="0"/>
              <a:t>(key).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If they match</a:t>
            </a:r>
            <a:r>
              <a:rPr lang="en-US" sz="2400" dirty="0"/>
              <a:t>, return the </a:t>
            </a:r>
            <a:r>
              <a:rPr lang="en-US" sz="2400" b="1" dirty="0"/>
              <a:t>index</a:t>
            </a:r>
            <a:r>
              <a:rPr lang="en-US" sz="2400" dirty="0"/>
              <a:t> of the current element.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they don't match, </a:t>
            </a:r>
            <a:r>
              <a:rPr lang="en-US" sz="2400" b="1" dirty="0"/>
              <a:t>move to the next element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Repeat steps 2-4 </a:t>
            </a:r>
            <a:r>
              <a:rPr lang="en-US" sz="2400" b="1" dirty="0">
                <a:solidFill>
                  <a:srgbClr val="C00000"/>
                </a:solidFill>
              </a:rPr>
              <a:t>until the target is found </a:t>
            </a:r>
            <a:r>
              <a:rPr lang="en-US" sz="2400" dirty="0"/>
              <a:t>or the end of the collection is reached.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 entire collection is traversed without a match, return an indication that the </a:t>
            </a:r>
            <a:r>
              <a:rPr lang="en-US" sz="2400" b="1" dirty="0">
                <a:solidFill>
                  <a:srgbClr val="C00000"/>
                </a:solidFill>
              </a:rPr>
              <a:t>element is not found </a:t>
            </a:r>
            <a:r>
              <a:rPr lang="en-US" sz="2400" dirty="0"/>
              <a:t>(e.g., -1).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19239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979D-B383-9C46-1239-DBAF4E9D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ADD2C-C185-44FE-A7EC-5E1CE0120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Algorithm:</a:t>
            </a:r>
          </a:p>
          <a:p>
            <a:pPr marL="0" indent="0">
              <a:buNone/>
            </a:pP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A4E265-805E-522C-82D3-B727C170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918085"/>
            <a:ext cx="10561800" cy="225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847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6E7F-DDC8-B1B0-3A2A-5227EE91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DC779-E683-3990-54BD-1B6F9E23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Implementation in C : Example 1: </a:t>
            </a:r>
            <a:r>
              <a:rPr lang="en-IN" sz="2400" b="1" dirty="0">
                <a:solidFill>
                  <a:srgbClr val="C00000"/>
                </a:solidFill>
              </a:rPr>
              <a:t>Integer Array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513E3-47D2-E464-E049-077C42A8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00" y="1578038"/>
            <a:ext cx="10429800" cy="40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3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60A7-F8CD-79FC-8E37-8E939503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8818C-5900-8789-C489-D12EBA870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269" y="356054"/>
            <a:ext cx="10659110" cy="699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Main Method: </a:t>
            </a:r>
            <a:endParaRPr lang="en-IN" sz="2400" b="1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096ED09D-D3F8-8AD0-C598-36D78BF57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04" y="356054"/>
            <a:ext cx="8273394" cy="595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377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11EF-149F-E8C2-2951-BF917396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92A93-BFC0-65F7-4528-B30E2E475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832757"/>
            <a:ext cx="10659110" cy="5192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How </a:t>
            </a:r>
            <a:r>
              <a:rPr lang="en-US" sz="2400" b="1" dirty="0">
                <a:solidFill>
                  <a:srgbClr val="C00000"/>
                </a:solidFill>
              </a:rPr>
              <a:t>int size = </a:t>
            </a:r>
            <a:r>
              <a:rPr lang="en-US" sz="2400" b="1" dirty="0" err="1">
                <a:solidFill>
                  <a:srgbClr val="C00000"/>
                </a:solidFill>
              </a:rPr>
              <a:t>sizeof</a:t>
            </a:r>
            <a:r>
              <a:rPr lang="en-US" sz="2400" b="1" dirty="0">
                <a:solidFill>
                  <a:srgbClr val="C00000"/>
                </a:solidFill>
              </a:rPr>
              <a:t>(</a:t>
            </a:r>
            <a:r>
              <a:rPr lang="en-US" sz="2400" b="1" dirty="0" err="1">
                <a:solidFill>
                  <a:srgbClr val="C00000"/>
                </a:solidFill>
              </a:rPr>
              <a:t>arr</a:t>
            </a:r>
            <a:r>
              <a:rPr lang="en-US" sz="2400" b="1" dirty="0">
                <a:solidFill>
                  <a:srgbClr val="C00000"/>
                </a:solidFill>
              </a:rPr>
              <a:t>) / </a:t>
            </a:r>
            <a:r>
              <a:rPr lang="en-US" sz="2400" b="1" dirty="0" err="1">
                <a:solidFill>
                  <a:srgbClr val="C00000"/>
                </a:solidFill>
              </a:rPr>
              <a:t>sizeof</a:t>
            </a:r>
            <a:r>
              <a:rPr lang="en-US" sz="2400" b="1" dirty="0">
                <a:solidFill>
                  <a:srgbClr val="C00000"/>
                </a:solidFill>
              </a:rPr>
              <a:t>(</a:t>
            </a:r>
            <a:r>
              <a:rPr lang="en-US" sz="2400" b="1" dirty="0" err="1">
                <a:solidFill>
                  <a:srgbClr val="C00000"/>
                </a:solidFill>
              </a:rPr>
              <a:t>arr</a:t>
            </a:r>
            <a:r>
              <a:rPr lang="en-US" sz="2400" b="1" dirty="0">
                <a:solidFill>
                  <a:srgbClr val="C00000"/>
                </a:solidFill>
              </a:rPr>
              <a:t>[0]) </a:t>
            </a:r>
            <a:r>
              <a:rPr lang="en-US" sz="2400" b="1" dirty="0"/>
              <a:t>Works?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rgbClr val="002060"/>
                </a:solidFill>
              </a:rPr>
              <a:t>sizeof</a:t>
            </a:r>
            <a:r>
              <a:rPr lang="en-US" sz="2400" b="1" dirty="0">
                <a:solidFill>
                  <a:srgbClr val="002060"/>
                </a:solidFill>
              </a:rPr>
              <a:t>(</a:t>
            </a:r>
            <a:r>
              <a:rPr lang="en-US" sz="2400" b="1" dirty="0" err="1">
                <a:solidFill>
                  <a:srgbClr val="002060"/>
                </a:solidFill>
              </a:rPr>
              <a:t>arr</a:t>
            </a:r>
            <a:r>
              <a:rPr lang="en-US" sz="2400" b="1" dirty="0">
                <a:solidFill>
                  <a:srgbClr val="002060"/>
                </a:solidFill>
              </a:rPr>
              <a:t>): </a:t>
            </a:r>
            <a:r>
              <a:rPr lang="en-US" sz="2400" dirty="0"/>
              <a:t>The </a:t>
            </a:r>
            <a:r>
              <a:rPr lang="en-US" sz="2400" dirty="0" err="1"/>
              <a:t>sizeof</a:t>
            </a:r>
            <a:r>
              <a:rPr lang="en-US" sz="2400" dirty="0"/>
              <a:t> operator returns the total memory size (in bytes) occupied by the entire array arr.</a:t>
            </a:r>
          </a:p>
          <a:p>
            <a:pPr lvl="1"/>
            <a:r>
              <a:rPr lang="en-IN" sz="2400" b="1" dirty="0"/>
              <a:t>For example: </a:t>
            </a:r>
          </a:p>
          <a:p>
            <a:pPr lvl="1"/>
            <a:endParaRPr lang="en-IN" sz="2400" b="1" dirty="0"/>
          </a:p>
          <a:p>
            <a:pPr lvl="1"/>
            <a:endParaRPr lang="en-IN" sz="2400" b="1" dirty="0"/>
          </a:p>
          <a:p>
            <a:pPr lvl="1"/>
            <a:endParaRPr lang="en-IN" sz="2400" b="1" dirty="0"/>
          </a:p>
          <a:p>
            <a:pPr lvl="1"/>
            <a:endParaRPr lang="en-IN" sz="2400" b="1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If </a:t>
            </a:r>
            <a:r>
              <a:rPr lang="en-US" sz="2400" b="1" dirty="0" err="1"/>
              <a:t>sizeof</a:t>
            </a:r>
            <a:r>
              <a:rPr lang="en-US" sz="2400" b="1" dirty="0"/>
              <a:t>(int)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C00000"/>
                </a:solidFill>
              </a:rPr>
              <a:t>4 bytes</a:t>
            </a:r>
            <a:r>
              <a:rPr lang="en-US" sz="2400" dirty="0"/>
              <a:t>, then 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arr</a:t>
            </a:r>
            <a:r>
              <a:rPr lang="en-US" sz="2400" dirty="0"/>
              <a:t>) will be </a:t>
            </a:r>
            <a:r>
              <a:rPr lang="en-US" sz="2400" b="1" dirty="0"/>
              <a:t>5×4 = </a:t>
            </a:r>
            <a:r>
              <a:rPr lang="en-US" sz="2400" b="1" dirty="0">
                <a:solidFill>
                  <a:srgbClr val="C00000"/>
                </a:solidFill>
              </a:rPr>
              <a:t>20 bytes</a:t>
            </a:r>
            <a:r>
              <a:rPr lang="en-US" sz="2400" dirty="0"/>
              <a:t>. </a:t>
            </a:r>
          </a:p>
          <a:p>
            <a:pPr marL="457200" lvl="1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59E38-1013-DE66-753B-BBE0E55E4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86" y="2843707"/>
            <a:ext cx="9311773" cy="11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004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3CD5-9BA7-AA2E-997C-C3CA90BA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E5269-841B-C1DF-6D61-2F6436B47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2. </a:t>
            </a:r>
            <a:r>
              <a:rPr lang="en-US" sz="2400" b="1" dirty="0" err="1"/>
              <a:t>sizeof</a:t>
            </a:r>
            <a:r>
              <a:rPr lang="en-US" sz="2400" b="1" dirty="0"/>
              <a:t>(</a:t>
            </a:r>
            <a:r>
              <a:rPr lang="en-US" sz="2400" b="1" dirty="0" err="1"/>
              <a:t>arr</a:t>
            </a:r>
            <a:r>
              <a:rPr lang="en-US" sz="2400" b="1" dirty="0"/>
              <a:t>[0]):</a:t>
            </a:r>
          </a:p>
          <a:p>
            <a:r>
              <a:rPr lang="en-US" sz="2400" b="1" dirty="0" err="1"/>
              <a:t>arr</a:t>
            </a:r>
            <a:r>
              <a:rPr lang="en-US" sz="2400" b="1" dirty="0"/>
              <a:t>[0] </a:t>
            </a:r>
            <a:r>
              <a:rPr lang="en-US" sz="2400" dirty="0"/>
              <a:t>refers to the </a:t>
            </a:r>
            <a:r>
              <a:rPr lang="en-US" sz="2400" b="1" dirty="0">
                <a:solidFill>
                  <a:srgbClr val="C00000"/>
                </a:solidFill>
              </a:rPr>
              <a:t>first element </a:t>
            </a:r>
            <a:r>
              <a:rPr lang="en-US" sz="2400" dirty="0"/>
              <a:t>of the array.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sizeof</a:t>
            </a:r>
            <a:r>
              <a:rPr lang="en-US" sz="2400" dirty="0"/>
              <a:t> operator returns the </a:t>
            </a:r>
            <a:r>
              <a:rPr lang="en-US" sz="2400" b="1" dirty="0">
                <a:solidFill>
                  <a:srgbClr val="C00000"/>
                </a:solidFill>
              </a:rPr>
              <a:t>memory size </a:t>
            </a:r>
            <a:r>
              <a:rPr lang="en-US" sz="2400" dirty="0"/>
              <a:t>(in bytes) of this single element.</a:t>
            </a:r>
          </a:p>
          <a:p>
            <a:r>
              <a:rPr lang="en-US" sz="2400" b="1" dirty="0"/>
              <a:t>For example: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3. Division:</a:t>
            </a:r>
          </a:p>
          <a:p>
            <a:pPr marL="0" indent="0">
              <a:buNone/>
            </a:pPr>
            <a:r>
              <a:rPr lang="en-US" sz="2400" dirty="0"/>
              <a:t>To calculate the </a:t>
            </a:r>
            <a:r>
              <a:rPr lang="en-US" sz="2400" b="1" dirty="0">
                <a:solidFill>
                  <a:srgbClr val="C00000"/>
                </a:solidFill>
              </a:rPr>
              <a:t>number of elements </a:t>
            </a:r>
            <a:r>
              <a:rPr lang="en-US" sz="2400" dirty="0"/>
              <a:t>in the array, divide the total </a:t>
            </a:r>
            <a:r>
              <a:rPr lang="en-US" sz="2400" b="1" dirty="0"/>
              <a:t>size of the array </a:t>
            </a:r>
            <a:r>
              <a:rPr lang="en-US" sz="2400" dirty="0"/>
              <a:t>(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arr</a:t>
            </a:r>
            <a:r>
              <a:rPr lang="en-US" sz="2400" dirty="0"/>
              <a:t>)) </a:t>
            </a:r>
            <a:r>
              <a:rPr lang="en-US" sz="2400" b="1" dirty="0">
                <a:solidFill>
                  <a:srgbClr val="C00000"/>
                </a:solidFill>
              </a:rPr>
              <a:t>by</a:t>
            </a:r>
            <a:r>
              <a:rPr lang="en-US" sz="2400" dirty="0"/>
              <a:t> the </a:t>
            </a:r>
            <a:r>
              <a:rPr lang="en-US" sz="2400" b="1" dirty="0"/>
              <a:t>size of a single element </a:t>
            </a:r>
            <a:r>
              <a:rPr lang="en-US" sz="2400" dirty="0"/>
              <a:t>(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arr</a:t>
            </a:r>
            <a:r>
              <a:rPr lang="en-US" sz="2400" dirty="0"/>
              <a:t>[0])):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11907-1C07-31A3-F304-243FB6E4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09" y="2608258"/>
            <a:ext cx="9685714" cy="6857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6A9DF8-75A2-D6B5-9C20-0A3009579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857" y="5238201"/>
            <a:ext cx="8914286" cy="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461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DB35-AD24-1E3C-B341-13E621F5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93F6B-E142-B802-D5A1-9E54FC7EF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Binary Search:</a:t>
            </a:r>
          </a:p>
          <a:p>
            <a:pPr marL="0" indent="0">
              <a:buNone/>
            </a:pPr>
            <a:r>
              <a:rPr lang="en-US" sz="2400" dirty="0"/>
              <a:t>Binary Search is an </a:t>
            </a:r>
            <a:r>
              <a:rPr lang="en-US" sz="2400" b="1" dirty="0">
                <a:solidFill>
                  <a:srgbClr val="C00000"/>
                </a:solidFill>
              </a:rPr>
              <a:t>efficient algorithm </a:t>
            </a:r>
            <a:r>
              <a:rPr lang="en-US" sz="2400" dirty="0"/>
              <a:t>for finding the position of a target element (key) in a </a:t>
            </a:r>
            <a:r>
              <a:rPr lang="en-US" sz="2400" b="1" dirty="0">
                <a:solidFill>
                  <a:srgbClr val="C00000"/>
                </a:solidFill>
              </a:rPr>
              <a:t>sorted array</a:t>
            </a:r>
            <a:r>
              <a:rPr lang="en-US" sz="2400" dirty="0"/>
              <a:t>. It works by </a:t>
            </a:r>
            <a:r>
              <a:rPr lang="en-US" sz="2400" b="1" dirty="0"/>
              <a:t>repeatedly dividing </a:t>
            </a:r>
            <a:r>
              <a:rPr lang="en-US" sz="2400" dirty="0"/>
              <a:t>the search interval in half until the target is found or the interval becomes empty.</a:t>
            </a:r>
          </a:p>
          <a:p>
            <a:pPr marL="0" indent="0">
              <a:buNone/>
            </a:pPr>
            <a:r>
              <a:rPr lang="en-IN" sz="2400" b="1" dirty="0"/>
              <a:t>Characteristics of Binary Search: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Works only on sorted data</a:t>
            </a:r>
            <a:r>
              <a:rPr lang="en-IN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Time Complexity</a:t>
            </a:r>
            <a:r>
              <a:rPr lang="en-IN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Best Case</a:t>
            </a:r>
            <a:r>
              <a:rPr lang="en-IN" sz="2400" dirty="0"/>
              <a:t>: O(1) (if the middle element is the target).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Worst Case</a:t>
            </a:r>
            <a:r>
              <a:rPr lang="en-IN" sz="2400" dirty="0"/>
              <a:t>: O(</a:t>
            </a:r>
            <a:r>
              <a:rPr lang="en-IN" sz="2400" dirty="0" err="1"/>
              <a:t>log⁡n</a:t>
            </a:r>
            <a:r>
              <a:rPr lang="en-IN" sz="2400" dirty="0"/>
              <a:t>) (halving the search interval each step).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Average Case</a:t>
            </a:r>
            <a:r>
              <a:rPr lang="en-IN" sz="2400" dirty="0"/>
              <a:t>: O(</a:t>
            </a:r>
            <a:r>
              <a:rPr lang="en-IN" sz="2400" dirty="0" err="1"/>
              <a:t>log⁡n</a:t>
            </a:r>
            <a:r>
              <a:rPr lang="en-IN" sz="2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Space Complexity</a:t>
            </a:r>
            <a:r>
              <a:rPr lang="en-IN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Iterative version: </a:t>
            </a:r>
            <a:r>
              <a:rPr lang="en-IN" sz="2400" dirty="0"/>
              <a:t>O(1)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Recursive version: </a:t>
            </a:r>
            <a:r>
              <a:rPr lang="en-IN" sz="2400" dirty="0"/>
              <a:t>O(</a:t>
            </a:r>
            <a:r>
              <a:rPr lang="en-IN" sz="2400" dirty="0" err="1"/>
              <a:t>log⁡n</a:t>
            </a:r>
            <a:r>
              <a:rPr lang="en-IN" sz="2400" dirty="0"/>
              <a:t>) (due to recursion stack).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353013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A41D-29CA-2A11-75B7-EBC4E11F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94569-229E-A31E-1437-4DB2DE1D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12372"/>
            <a:ext cx="10659110" cy="4615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How Binary Search Works: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Start with the </a:t>
            </a:r>
            <a:r>
              <a:rPr lang="en-US" sz="2400" b="1" dirty="0">
                <a:solidFill>
                  <a:srgbClr val="C00000"/>
                </a:solidFill>
              </a:rPr>
              <a:t>entire array </a:t>
            </a:r>
            <a:r>
              <a:rPr lang="en-US" sz="2400" dirty="0"/>
              <a:t>as the search interval.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Find the </a:t>
            </a:r>
            <a:r>
              <a:rPr lang="en-US" sz="2400" b="1" dirty="0">
                <a:solidFill>
                  <a:srgbClr val="C00000"/>
                </a:solidFill>
              </a:rPr>
              <a:t>middle element </a:t>
            </a:r>
            <a:r>
              <a:rPr lang="en-US" sz="2400" dirty="0"/>
              <a:t>of the current interval.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Compare the middle element with the target: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 </a:t>
            </a:r>
            <a:r>
              <a:rPr lang="en-US" sz="2400" b="1" dirty="0"/>
              <a:t>middle element is equal to the target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return its index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 </a:t>
            </a:r>
            <a:r>
              <a:rPr lang="en-US" sz="2400" b="1" dirty="0">
                <a:solidFill>
                  <a:srgbClr val="C00000"/>
                </a:solidFill>
              </a:rPr>
              <a:t>target is smaller</a:t>
            </a:r>
            <a:r>
              <a:rPr lang="en-US" sz="2400" dirty="0"/>
              <a:t>, search in the left half of the interval.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 the </a:t>
            </a:r>
            <a:r>
              <a:rPr lang="en-US" sz="2400" b="1" dirty="0">
                <a:solidFill>
                  <a:srgbClr val="C00000"/>
                </a:solidFill>
              </a:rPr>
              <a:t>target is larger</a:t>
            </a:r>
            <a:r>
              <a:rPr lang="en-US" sz="2400" dirty="0"/>
              <a:t>, search in the right half of the interval.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Repeat steps 2 and 3 </a:t>
            </a:r>
            <a:r>
              <a:rPr lang="en-US" sz="2400" dirty="0"/>
              <a:t>until the target is found or the interval becomes empty (i.e., the low index exceeds the high index).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99662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3D0F6-81A8-05C8-1BEF-5648DA3B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E10A5-315C-E5B8-9F64-AD019EA71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Algorithm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Iterative Version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Initialize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to 0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to n−1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(array bounds).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While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is less than or equal to high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 the middle index: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mid=low+(high−low)/2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 == 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mid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 &gt; 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search in the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left half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(high=mid−1).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 &lt; 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search in the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right half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(low=mid+1).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the interval becomes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empty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-1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(target not found).</a:t>
            </a:r>
          </a:p>
        </p:txBody>
      </p:sp>
    </p:spTree>
    <p:extLst>
      <p:ext uri="{BB962C8B-B14F-4D97-AF65-F5344CB8AC3E}">
        <p14:creationId xmlns:p14="http://schemas.microsoft.com/office/powerpoint/2010/main" val="914406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8659-5179-5459-711A-5FBFFFD6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B010B-6788-B030-2FD2-9FEE9E5ED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68829"/>
            <a:ext cx="10659110" cy="5512934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Recursive Version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 Case: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low&gt;high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-1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 the middle index: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mid=low+(high−low)/2.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[mid]==key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return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mid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Recursive Steps: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[mid]&gt;key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search in the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left half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</a:t>
            </a:r>
            <a:r>
              <a:rPr lang="en-IN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[mid]&lt;key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search in the 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right half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49559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A6B0-AB72-F509-8E5E-D63747B3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F5D75-7ABC-A18A-57CA-B58826475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247970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Implementation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solidFill>
                  <a:srgbClr val="002060"/>
                </a:solidFill>
              </a:rPr>
              <a:t>Iterative Implementation:</a:t>
            </a:r>
          </a:p>
          <a:p>
            <a:pPr marL="0" indent="0">
              <a:buNone/>
            </a:pPr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E1639-AAF5-A993-F42D-8824DD2E4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373" y="1334477"/>
            <a:ext cx="8018142" cy="527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21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C27D-448C-CECF-347B-7FF5E45E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3EDE-D5D5-F821-570C-4F68DE7B3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Main Method:</a:t>
            </a:r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26F29-4A8B-97A3-AA86-DD4300A5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792" y="664029"/>
            <a:ext cx="8519968" cy="552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957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77C8-7D39-74E7-D9B3-1D2339EFF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2AE28-118E-C2DF-E174-DC32A18ED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413657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002060"/>
                </a:solidFill>
              </a:rPr>
              <a:t>Recursive Implementation: </a:t>
            </a:r>
          </a:p>
          <a:p>
            <a:pPr marL="0" indent="0">
              <a:buNone/>
            </a:pPr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36D01-11A4-3C30-4458-EA79A944F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1" y="931408"/>
            <a:ext cx="10326006" cy="576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266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21B4-52BE-949D-89BC-0B36699D3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C1908-BC7C-1F12-0EF7-85D1700D9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Main Method: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BD54F-39EC-BE70-E830-6144E860C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94" y="1062037"/>
            <a:ext cx="8932225" cy="53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352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4B271-9E0A-243A-163C-5E7ACF79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867B-1010-6A3E-4EC1-B1F53492B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2653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1E941-5BFE-EF8D-2F82-3196D48B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56F25-206F-40C1-08F1-6ABA84272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059" y="1602006"/>
            <a:ext cx="10732404" cy="3495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Module-2: ARRAYS AND STRINGS </a:t>
            </a:r>
            <a:r>
              <a:rPr lang="en-IN" sz="36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b="1" dirty="0"/>
              <a:t>Introduction to Arrays: Declaration</a:t>
            </a:r>
            <a:r>
              <a:rPr lang="en-US" sz="3600" dirty="0"/>
              <a:t>, </a:t>
            </a:r>
            <a:r>
              <a:rPr lang="en-US" sz="3600" b="1" dirty="0"/>
              <a:t>Initialization</a:t>
            </a:r>
            <a:r>
              <a:rPr lang="en-US" sz="3600" dirty="0"/>
              <a:t>, </a:t>
            </a:r>
            <a:r>
              <a:rPr lang="en-US" sz="3600" b="1" dirty="0"/>
              <a:t>One dimensional array, Two dimensional arrays.</a:t>
            </a:r>
          </a:p>
          <a:p>
            <a:pPr marL="0" indent="0">
              <a:buNone/>
            </a:pPr>
            <a:r>
              <a:rPr lang="en-US" sz="3600" b="1" dirty="0"/>
              <a:t>String operations: length</a:t>
            </a:r>
            <a:r>
              <a:rPr lang="en-US" sz="3600" dirty="0"/>
              <a:t>, </a:t>
            </a:r>
            <a:r>
              <a:rPr lang="en-US" sz="3600" b="1" dirty="0"/>
              <a:t>compare</a:t>
            </a:r>
            <a:r>
              <a:rPr lang="en-US" sz="3600" dirty="0"/>
              <a:t>, </a:t>
            </a:r>
            <a:r>
              <a:rPr lang="en-US" sz="3600" b="1" dirty="0"/>
              <a:t>concatenate</a:t>
            </a:r>
            <a:r>
              <a:rPr lang="en-US" sz="3600" dirty="0"/>
              <a:t>, </a:t>
            </a:r>
            <a:r>
              <a:rPr lang="en-US" sz="3600" b="1" dirty="0"/>
              <a:t>copy</a:t>
            </a:r>
          </a:p>
          <a:p>
            <a:pPr marL="0" indent="0">
              <a:buNone/>
            </a:pPr>
            <a:r>
              <a:rPr lang="en-US" sz="3600" b="1" dirty="0"/>
              <a:t>Searching and Sorting: </a:t>
            </a:r>
            <a:r>
              <a:rPr lang="en-US" sz="3600" dirty="0"/>
              <a:t>Selection sort, </a:t>
            </a:r>
            <a:r>
              <a:rPr lang="en-US" sz="3600" b="1" dirty="0"/>
              <a:t>linear</a:t>
            </a:r>
            <a:r>
              <a:rPr lang="en-US" sz="3600" dirty="0"/>
              <a:t> </a:t>
            </a:r>
            <a:r>
              <a:rPr lang="en-US" sz="3600" b="1" dirty="0"/>
              <a:t>and binary search.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057166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CDAEB-4085-1B93-F550-9BFDB6E9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6A55-90D9-3F33-2494-8810FE5F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8594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8474-ED18-851D-2F01-3D7C0B60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13214-41A0-5F11-3D1F-96DE7A6D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7817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06E9-479D-3662-0658-728ECB1D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1D929-643F-3BFD-B057-506457545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0046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2CBE-C268-05DD-0421-C18AD14F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E5AB1-C812-840D-D2DA-0497828A3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5021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D0F8E-6931-0D0B-2F98-94F390D4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3BF3-B842-2596-C40A-D9D4719C1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64029"/>
            <a:ext cx="10659110" cy="551293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345180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2519</Words>
  <Application>Microsoft Office PowerPoint</Application>
  <PresentationFormat>Widescreen</PresentationFormat>
  <Paragraphs>291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Arial</vt:lpstr>
      <vt:lpstr>Calibri</vt:lpstr>
      <vt:lpstr>Courier New</vt:lpstr>
      <vt:lpstr>Gill Sans Nova</vt:lpstr>
      <vt:lpstr>ConfettiVTI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267</cp:revision>
  <dcterms:created xsi:type="dcterms:W3CDTF">2024-11-25T17:19:06Z</dcterms:created>
  <dcterms:modified xsi:type="dcterms:W3CDTF">2025-01-25T04:50:41Z</dcterms:modified>
</cp:coreProperties>
</file>