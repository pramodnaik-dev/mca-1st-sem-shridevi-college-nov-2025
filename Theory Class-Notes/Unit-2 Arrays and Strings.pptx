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0" r:id="rId1"/>
  </p:sldMasterIdLst>
  <p:notesMasterIdLst>
    <p:notesMasterId r:id="rId61"/>
  </p:notesMasterIdLst>
  <p:sldIdLst>
    <p:sldId id="419" r:id="rId2"/>
    <p:sldId id="475" r:id="rId3"/>
    <p:sldId id="476" r:id="rId4"/>
    <p:sldId id="477" r:id="rId5"/>
    <p:sldId id="421" r:id="rId6"/>
    <p:sldId id="422" r:id="rId7"/>
    <p:sldId id="423" r:id="rId8"/>
    <p:sldId id="424" r:id="rId9"/>
    <p:sldId id="479" r:id="rId10"/>
    <p:sldId id="480" r:id="rId11"/>
    <p:sldId id="481" r:id="rId12"/>
    <p:sldId id="482" r:id="rId13"/>
    <p:sldId id="483" r:id="rId14"/>
    <p:sldId id="484" r:id="rId15"/>
    <p:sldId id="478" r:id="rId16"/>
    <p:sldId id="485" r:id="rId17"/>
    <p:sldId id="486" r:id="rId18"/>
    <p:sldId id="487" r:id="rId19"/>
    <p:sldId id="488" r:id="rId20"/>
    <p:sldId id="489" r:id="rId21"/>
    <p:sldId id="494" r:id="rId22"/>
    <p:sldId id="495" r:id="rId23"/>
    <p:sldId id="496" r:id="rId24"/>
    <p:sldId id="497" r:id="rId25"/>
    <p:sldId id="498" r:id="rId26"/>
    <p:sldId id="499" r:id="rId27"/>
    <p:sldId id="500" r:id="rId28"/>
    <p:sldId id="501" r:id="rId29"/>
    <p:sldId id="502" r:id="rId30"/>
    <p:sldId id="503" r:id="rId31"/>
    <p:sldId id="490" r:id="rId32"/>
    <p:sldId id="491" r:id="rId33"/>
    <p:sldId id="492" r:id="rId34"/>
    <p:sldId id="505" r:id="rId35"/>
    <p:sldId id="506" r:id="rId36"/>
    <p:sldId id="507" r:id="rId37"/>
    <p:sldId id="508" r:id="rId38"/>
    <p:sldId id="509" r:id="rId39"/>
    <p:sldId id="510" r:id="rId40"/>
    <p:sldId id="511" r:id="rId41"/>
    <p:sldId id="512" r:id="rId42"/>
    <p:sldId id="513" r:id="rId43"/>
    <p:sldId id="514" r:id="rId44"/>
    <p:sldId id="515" r:id="rId45"/>
    <p:sldId id="516" r:id="rId46"/>
    <p:sldId id="517" r:id="rId47"/>
    <p:sldId id="518" r:id="rId48"/>
    <p:sldId id="519" r:id="rId49"/>
    <p:sldId id="521" r:id="rId50"/>
    <p:sldId id="522" r:id="rId51"/>
    <p:sldId id="520" r:id="rId52"/>
    <p:sldId id="523" r:id="rId53"/>
    <p:sldId id="524" r:id="rId54"/>
    <p:sldId id="525" r:id="rId55"/>
    <p:sldId id="526" r:id="rId56"/>
    <p:sldId id="527" r:id="rId57"/>
    <p:sldId id="528" r:id="rId58"/>
    <p:sldId id="529" r:id="rId59"/>
    <p:sldId id="531" r:id="rId6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532AF1-4615-4667-912A-829B12F8C4D2}" type="datetimeFigureOut">
              <a:rPr lang="en-IN" smtClean="0"/>
              <a:t>15-02-2025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38A8E6-D4B7-4286-B37C-5D755B8E2C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6485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058BF-C5E1-4B52-BD8A-FD1AD57793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CD51F7-3CC3-4BB7-8291-B1789482E8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20447-D6C7-43E1-AE88-1FB66CC9C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A76A3-ADC8-4477-8FC1-B9DD55D84908}" type="datetime1">
              <a:rPr lang="en-US" smtClean="0"/>
              <a:t>2/15/2025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E17B6-E7FC-473A-8D5F-0E6B838EA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4AF4E0-FDDB-42B9-862C-7BBC501CD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5523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736C8-0B4F-4655-A630-0B1D2540B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78B888-85E0-4D92-903E-C3FE7E870D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648916-250B-4232-BD7D-571FDE79F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F49BE-398D-479A-8A7E-5DDBCA61EDCB}" type="datetime1">
              <a:rPr lang="en-US" smtClean="0"/>
              <a:t>2/15/2025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A8BFB4-647C-4104-B6D4-3346051C3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0FA73F-2BE8-4370-AE90-58F4CE51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027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1446D-9FAC-4157-A41A-51675C8BE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1709738"/>
            <a:ext cx="10570210" cy="275889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AF8D4A-8F93-4399-9546-64F286400D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4589463"/>
            <a:ext cx="1057021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9C2FD4-BF96-470C-8247-20DFAE1CF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0C193-4974-4A1F-9C63-07D595E30D66}" type="datetime1">
              <a:rPr lang="en-US" smtClean="0"/>
              <a:t>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175A2D-86C4-4467-BAB8-E9ED004D2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442A4D-D9B2-4C82-95E4-B86F9F5F3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474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6B3AA-8C30-429E-B934-AF1220438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5834E-691F-4728-88F5-A0C4696695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77240" y="1825625"/>
            <a:ext cx="524256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876374-880F-4E25-9F88-79E3C1AB1F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19BD69-B509-4FCE-95A8-ED03FFC8C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AA87F-28D4-4BF0-B81F-877A89DFD5AC}" type="datetime1">
              <a:rPr lang="en-US" smtClean="0"/>
              <a:t>2/15/2025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7C287B-AE5B-490B-BF81-A50D7A2E8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3C2246-303C-4A29-B6EA-E62CEDE6C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602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2FE79-D5BE-43E8-B6C5-2675B7F4D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578148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9D3A07-BA51-4113-902E-830A887D23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01812"/>
            <a:ext cx="5220335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E320A9-E274-4E1B-B02D-9A3F510A1F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77240" y="2825749"/>
            <a:ext cx="5220335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E80D3A-C2A8-4B78-B7E2-4908C74B1C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01812"/>
            <a:ext cx="5183188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5D84DD-9460-4B08-86AD-27486A9400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825749"/>
            <a:ext cx="5183188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B0B7F8-282C-4210-AE7D-F35228BA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9F1F3-208B-49A3-B337-9C8ACEB3E0E1}" type="datetime1">
              <a:rPr lang="en-US" smtClean="0"/>
              <a:t>2/15/2025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E343A9-1067-4DCF-BACC-1F7F38050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84E471-04DB-4DB5-8CC5-16B3FC885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55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D87C0-272E-4E50-A316-78079B2B9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06C1C9-1F69-432A-858C-D828B56E1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F6CA6-7293-4AA2-A0E0-A3BF4416E786}" type="datetime1">
              <a:rPr lang="en-US" smtClean="0"/>
              <a:t>2/15/2025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6D9A1B-D149-4B97-B161-3D7C9ADBC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B3722F-8C88-4E54-8CD6-12D31A05F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7842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E1B4EE-6DFC-45F3-9174-D913EB57C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87016-7BCD-46FB-8EE3-AB6C369108B4}" type="datetime1">
              <a:rPr lang="en-US" smtClean="0"/>
              <a:t>2/15/2025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7F7DC-6DDE-4337-AD27-BBE7D5422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C58EA9-3AC4-421E-B133-1FA7757DF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2627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035BB-74CC-43E9-B71F-A5C05D17E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190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ADC9E-7845-4DB1-87E3-6FBFB2B03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172200" cy="540385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C925A8-2A07-43B9-B549-061F368498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92450"/>
            <a:ext cx="3994785" cy="277653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1A9037-0564-43A1-8156-1D9932E1F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47011-1FFC-4EF8-9A2E-53B4AD2ADBD4}" type="datetime1">
              <a:rPr lang="en-US" smtClean="0"/>
              <a:t>2/15/2025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FF0D40-D0E1-49C9-BE47-91BBC50AB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D129BD-890D-412E-9805-D29F4A0D3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523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8ADB4-BA7B-42C2-9C6C-58B2763F8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5456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519B58-B546-4E6B-BE00-3D1D64DA86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457201"/>
            <a:ext cx="6172200" cy="54038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AA0AB8-41A9-4548-9B83-3EFF79A00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81275"/>
            <a:ext cx="3994785" cy="2779776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BB33ED-A015-4992-A004-33D41CFFA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2EB47-45B4-4EF5-A743-B4885DD2F060}" type="datetime1">
              <a:rPr lang="en-US" smtClean="0"/>
              <a:t>2/15/2025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C29CDA-E85F-47D1-83B7-02A50DEBF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49625F-5352-4136-8AC4-F8899D00A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3301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E922F-6166-4009-A42D-027DC7180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7791CF-167D-446D-9F99-6976C986E2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CA422-E040-4DE1-9DA5-C8D37C116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762538-DC4D-4667-96E5-B3278DDF8B12}" type="datetime1">
              <a:rPr lang="en-US" smtClean="0"/>
              <a:t>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813B0B-60E7-494E-91CB-055BC2690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48C554-7C1B-4D8F-9B6B-044926569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035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C66EF0-6ED8-49A7-BDAD-E20A143FAE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FCE9CD-90A9-44BA-B293-0662E077DD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57DAE0-05C4-460B-B96D-BD183ED0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80548-5C08-4BE3-B63E-F2BB63B0B00C}" type="datetime1">
              <a:rPr lang="en-US" smtClean="0"/>
              <a:t>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B3CA93-55C9-4AA3-89A0-55490F745B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FD820-FF26-4325-816F-310C30F80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5991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99B5B3C5-A599-465B-B2B9-866E8B2087CE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5C84982-7DD0-43B1-8A2D-BFA4DF1B4E60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8" name="Decorative Circles">
            <a:extLst>
              <a:ext uri="{FF2B5EF4-FFF2-40B4-BE49-F238E27FC236}">
                <a16:creationId xmlns:a16="http://schemas.microsoft.com/office/drawing/2014/main" id="{1D912E1C-3BBA-42F0-A3EE-FEC382E7230A}"/>
              </a:ext>
            </a:extLst>
          </p:cNvPr>
          <p:cNvGrpSpPr/>
          <p:nvPr/>
        </p:nvGrpSpPr>
        <p:grpSpPr>
          <a:xfrm>
            <a:off x="-1" y="-1"/>
            <a:ext cx="12192001" cy="6858001"/>
            <a:chOff x="-1" y="-1"/>
            <a:chExt cx="12192001" cy="6858001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FEEAC76-E273-46A8-8F8E-CE59860FE70D}"/>
                </a:ext>
              </a:extLst>
            </p:cNvPr>
            <p:cNvSpPr/>
            <p:nvPr/>
          </p:nvSpPr>
          <p:spPr>
            <a:xfrm>
              <a:off x="209098" y="727602"/>
              <a:ext cx="172408" cy="172408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6594A0E-9400-45AD-A431-1DA1C0B28966}"/>
                </a:ext>
              </a:extLst>
            </p:cNvPr>
            <p:cNvSpPr/>
            <p:nvPr/>
          </p:nvSpPr>
          <p:spPr>
            <a:xfrm>
              <a:off x="949947" y="136523"/>
              <a:ext cx="113367" cy="113367"/>
            </a:xfrm>
            <a:prstGeom prst="ellipse">
              <a:avLst/>
            </a:prstGeom>
            <a:solidFill>
              <a:srgbClr val="F39E29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0916D6C-D32F-42B6-8512-CD5EDB8F2B9B}"/>
                </a:ext>
              </a:extLst>
            </p:cNvPr>
            <p:cNvSpPr/>
            <p:nvPr/>
          </p:nvSpPr>
          <p:spPr>
            <a:xfrm>
              <a:off x="11575290" y="5859047"/>
              <a:ext cx="305780" cy="30578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834846D-59C6-40F4-907C-F1A4689B58F1}"/>
                </a:ext>
              </a:extLst>
            </p:cNvPr>
            <p:cNvSpPr/>
            <p:nvPr/>
          </p:nvSpPr>
          <p:spPr>
            <a:xfrm>
              <a:off x="95730" y="1133938"/>
              <a:ext cx="226735" cy="226735"/>
            </a:xfrm>
            <a:prstGeom prst="ellipse">
              <a:avLst/>
            </a:prstGeom>
            <a:solidFill>
              <a:schemeClr val="accent3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5A257CDF-2E36-4DC7-8EE4-5CD8F8ECAC87}"/>
                </a:ext>
              </a:extLst>
            </p:cNvPr>
            <p:cNvSpPr/>
            <p:nvPr/>
          </p:nvSpPr>
          <p:spPr>
            <a:xfrm>
              <a:off x="11536830" y="554419"/>
              <a:ext cx="382700" cy="382700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7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D5B26E0E-A115-4AE2-82D8-76BB93CC494F}"/>
                </a:ext>
              </a:extLst>
            </p:cNvPr>
            <p:cNvSpPr/>
            <p:nvPr/>
          </p:nvSpPr>
          <p:spPr>
            <a:xfrm>
              <a:off x="11224303" y="299808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755058DB-7E01-4E95-BF59-983AA1BBB38E}"/>
                </a:ext>
              </a:extLst>
            </p:cNvPr>
            <p:cNvSpPr/>
            <p:nvPr/>
          </p:nvSpPr>
          <p:spPr>
            <a:xfrm>
              <a:off x="11629630" y="5482355"/>
              <a:ext cx="94160" cy="94160"/>
            </a:xfrm>
            <a:prstGeom prst="ellipse">
              <a:avLst/>
            </a:prstGeom>
            <a:solidFill>
              <a:srgbClr val="E3BEBE">
                <a:alpha val="2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A810F7E2-23F3-44D6-B09E-71E556536052}"/>
                </a:ext>
              </a:extLst>
            </p:cNvPr>
            <p:cNvSpPr/>
            <p:nvPr/>
          </p:nvSpPr>
          <p:spPr>
            <a:xfrm>
              <a:off x="10415328" y="6124958"/>
              <a:ext cx="113367" cy="11336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59D5C391-E1DB-410A-A78C-ED3BBDFF0758}"/>
                </a:ext>
              </a:extLst>
            </p:cNvPr>
            <p:cNvSpPr/>
            <p:nvPr/>
          </p:nvSpPr>
          <p:spPr>
            <a:xfrm>
              <a:off x="10120382" y="6255986"/>
              <a:ext cx="305780" cy="30578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77C4944D-9373-4283-BCAA-927A0316659E}"/>
                </a:ext>
              </a:extLst>
            </p:cNvPr>
            <p:cNvSpPr/>
            <p:nvPr/>
          </p:nvSpPr>
          <p:spPr>
            <a:xfrm>
              <a:off x="9934343" y="6204350"/>
              <a:ext cx="113367" cy="11336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6804C521-2D9F-4CE4-AFD3-D4F1551FEC6A}"/>
                </a:ext>
              </a:extLst>
            </p:cNvPr>
            <p:cNvSpPr/>
            <p:nvPr/>
          </p:nvSpPr>
          <p:spPr>
            <a:xfrm>
              <a:off x="11642244" y="6317718"/>
              <a:ext cx="549756" cy="540282"/>
            </a:xfrm>
            <a:custGeom>
              <a:avLst/>
              <a:gdLst>
                <a:gd name="connsiteX0" fmla="*/ 1224540 w 2115556"/>
                <a:gd name="connsiteY0" fmla="*/ 0 h 2079100"/>
                <a:gd name="connsiteX1" fmla="*/ 2090421 w 2115556"/>
                <a:gd name="connsiteY1" fmla="*/ 358660 h 2079100"/>
                <a:gd name="connsiteX2" fmla="*/ 2115556 w 2115556"/>
                <a:gd name="connsiteY2" fmla="*/ 386315 h 2079100"/>
                <a:gd name="connsiteX3" fmla="*/ 2115556 w 2115556"/>
                <a:gd name="connsiteY3" fmla="*/ 2062765 h 2079100"/>
                <a:gd name="connsiteX4" fmla="*/ 2100710 w 2115556"/>
                <a:gd name="connsiteY4" fmla="*/ 2079100 h 2079100"/>
                <a:gd name="connsiteX5" fmla="*/ 348370 w 2115556"/>
                <a:gd name="connsiteY5" fmla="*/ 2079100 h 2079100"/>
                <a:gd name="connsiteX6" fmla="*/ 279625 w 2115556"/>
                <a:gd name="connsiteY6" fmla="*/ 2003461 h 2079100"/>
                <a:gd name="connsiteX7" fmla="*/ 0 w 2115556"/>
                <a:gd name="connsiteY7" fmla="*/ 1224540 h 2079100"/>
                <a:gd name="connsiteX8" fmla="*/ 1224540 w 2115556"/>
                <a:gd name="connsiteY8" fmla="*/ 0 h 207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15556" h="2079100">
                  <a:moveTo>
                    <a:pt x="1224540" y="0"/>
                  </a:moveTo>
                  <a:cubicBezTo>
                    <a:pt x="1562687" y="0"/>
                    <a:pt x="1868823" y="137062"/>
                    <a:pt x="2090421" y="358660"/>
                  </a:cubicBezTo>
                  <a:lnTo>
                    <a:pt x="2115556" y="386315"/>
                  </a:lnTo>
                  <a:lnTo>
                    <a:pt x="2115556" y="2062765"/>
                  </a:lnTo>
                  <a:lnTo>
                    <a:pt x="2100710" y="2079100"/>
                  </a:lnTo>
                  <a:lnTo>
                    <a:pt x="348370" y="2079100"/>
                  </a:lnTo>
                  <a:lnTo>
                    <a:pt x="279625" y="2003461"/>
                  </a:lnTo>
                  <a:cubicBezTo>
                    <a:pt x="104938" y="1791789"/>
                    <a:pt x="0" y="1520419"/>
                    <a:pt x="0" y="1224540"/>
                  </a:cubicBezTo>
                  <a:cubicBezTo>
                    <a:pt x="0" y="548245"/>
                    <a:pt x="548245" y="0"/>
                    <a:pt x="1224540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755AC65C-13EF-4182-AA3C-62BE165CC033}"/>
                </a:ext>
              </a:extLst>
            </p:cNvPr>
            <p:cNvSpPr/>
            <p:nvPr/>
          </p:nvSpPr>
          <p:spPr>
            <a:xfrm>
              <a:off x="-1" y="-1"/>
              <a:ext cx="510196" cy="538336"/>
            </a:xfrm>
            <a:custGeom>
              <a:avLst/>
              <a:gdLst>
                <a:gd name="connsiteX0" fmla="*/ 0 w 510196"/>
                <a:gd name="connsiteY0" fmla="*/ 0 h 538336"/>
                <a:gd name="connsiteX1" fmla="*/ 459276 w 510196"/>
                <a:gd name="connsiteY1" fmla="*/ 0 h 538336"/>
                <a:gd name="connsiteX2" fmla="*/ 482126 w 510196"/>
                <a:gd name="connsiteY2" fmla="*/ 42098 h 538336"/>
                <a:gd name="connsiteX3" fmla="*/ 510196 w 510196"/>
                <a:gd name="connsiteY3" fmla="*/ 181136 h 538336"/>
                <a:gd name="connsiteX4" fmla="*/ 152996 w 510196"/>
                <a:gd name="connsiteY4" fmla="*/ 538336 h 538336"/>
                <a:gd name="connsiteX5" fmla="*/ 13958 w 510196"/>
                <a:gd name="connsiteY5" fmla="*/ 510266 h 538336"/>
                <a:gd name="connsiteX6" fmla="*/ 0 w 510196"/>
                <a:gd name="connsiteY6" fmla="*/ 502690 h 538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0196" h="538336">
                  <a:moveTo>
                    <a:pt x="0" y="0"/>
                  </a:moveTo>
                  <a:lnTo>
                    <a:pt x="459276" y="0"/>
                  </a:lnTo>
                  <a:lnTo>
                    <a:pt x="482126" y="42098"/>
                  </a:lnTo>
                  <a:cubicBezTo>
                    <a:pt x="500201" y="84833"/>
                    <a:pt x="510196" y="131817"/>
                    <a:pt x="510196" y="181136"/>
                  </a:cubicBezTo>
                  <a:cubicBezTo>
                    <a:pt x="510196" y="378412"/>
                    <a:pt x="350272" y="538336"/>
                    <a:pt x="152996" y="538336"/>
                  </a:cubicBezTo>
                  <a:cubicBezTo>
                    <a:pt x="103677" y="538336"/>
                    <a:pt x="56693" y="528341"/>
                    <a:pt x="13958" y="510266"/>
                  </a:cubicBezTo>
                  <a:lnTo>
                    <a:pt x="0" y="50269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E40DA8D2-FA4B-4282-9D44-48C27B63A153}"/>
                </a:ext>
              </a:extLst>
            </p:cNvPr>
            <p:cNvSpPr/>
            <p:nvPr/>
          </p:nvSpPr>
          <p:spPr>
            <a:xfrm>
              <a:off x="10528695" y="1"/>
              <a:ext cx="554074" cy="282754"/>
            </a:xfrm>
            <a:custGeom>
              <a:avLst/>
              <a:gdLst>
                <a:gd name="connsiteX0" fmla="*/ 644 w 309162"/>
                <a:gd name="connsiteY0" fmla="*/ 0 h 157771"/>
                <a:gd name="connsiteX1" fmla="*/ 308518 w 309162"/>
                <a:gd name="connsiteY1" fmla="*/ 0 h 157771"/>
                <a:gd name="connsiteX2" fmla="*/ 309162 w 309162"/>
                <a:gd name="connsiteY2" fmla="*/ 3190 h 157771"/>
                <a:gd name="connsiteX3" fmla="*/ 154581 w 309162"/>
                <a:gd name="connsiteY3" fmla="*/ 157771 h 157771"/>
                <a:gd name="connsiteX4" fmla="*/ 0 w 309162"/>
                <a:gd name="connsiteY4" fmla="*/ 3190 h 157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9162" h="157771">
                  <a:moveTo>
                    <a:pt x="644" y="0"/>
                  </a:moveTo>
                  <a:lnTo>
                    <a:pt x="308518" y="0"/>
                  </a:lnTo>
                  <a:lnTo>
                    <a:pt x="309162" y="3190"/>
                  </a:lnTo>
                  <a:cubicBezTo>
                    <a:pt x="309162" y="88563"/>
                    <a:pt x="239954" y="157771"/>
                    <a:pt x="154581" y="157771"/>
                  </a:cubicBezTo>
                  <a:cubicBezTo>
                    <a:pt x="69208" y="157771"/>
                    <a:pt x="0" y="88563"/>
                    <a:pt x="0" y="319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9065014-CB18-414D-A527-31ECC45700AB}"/>
                </a:ext>
              </a:extLst>
            </p:cNvPr>
            <p:cNvSpPr/>
            <p:nvPr/>
          </p:nvSpPr>
          <p:spPr>
            <a:xfrm>
              <a:off x="504140" y="1132500"/>
              <a:ext cx="84680" cy="846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8F39E27A-56C1-4328-8DF1-2DA147C78483}"/>
                </a:ext>
              </a:extLst>
            </p:cNvPr>
            <p:cNvSpPr/>
            <p:nvPr/>
          </p:nvSpPr>
          <p:spPr>
            <a:xfrm>
              <a:off x="12051348" y="5576515"/>
              <a:ext cx="137603" cy="210490"/>
            </a:xfrm>
            <a:custGeom>
              <a:avLst/>
              <a:gdLst>
                <a:gd name="connsiteX0" fmla="*/ 105245 w 137603"/>
                <a:gd name="connsiteY0" fmla="*/ 0 h 210490"/>
                <a:gd name="connsiteX1" fmla="*/ 137603 w 137603"/>
                <a:gd name="connsiteY1" fmla="*/ 6533 h 210490"/>
                <a:gd name="connsiteX2" fmla="*/ 137603 w 137603"/>
                <a:gd name="connsiteY2" fmla="*/ 203957 h 210490"/>
                <a:gd name="connsiteX3" fmla="*/ 105245 w 137603"/>
                <a:gd name="connsiteY3" fmla="*/ 210490 h 210490"/>
                <a:gd name="connsiteX4" fmla="*/ 0 w 137603"/>
                <a:gd name="connsiteY4" fmla="*/ 105245 h 210490"/>
                <a:gd name="connsiteX5" fmla="*/ 105245 w 137603"/>
                <a:gd name="connsiteY5" fmla="*/ 0 h 210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603" h="210490">
                  <a:moveTo>
                    <a:pt x="105245" y="0"/>
                  </a:moveTo>
                  <a:lnTo>
                    <a:pt x="137603" y="6533"/>
                  </a:lnTo>
                  <a:lnTo>
                    <a:pt x="137603" y="203957"/>
                  </a:lnTo>
                  <a:lnTo>
                    <a:pt x="105245" y="210490"/>
                  </a:lnTo>
                  <a:cubicBezTo>
                    <a:pt x="47120" y="210490"/>
                    <a:pt x="0" y="163370"/>
                    <a:pt x="0" y="105245"/>
                  </a:cubicBezTo>
                  <a:cubicBezTo>
                    <a:pt x="0" y="47120"/>
                    <a:pt x="47120" y="0"/>
                    <a:pt x="105245" y="0"/>
                  </a:cubicBezTo>
                  <a:close/>
                </a:path>
              </a:pathLst>
            </a:cu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C5EC6-E331-4312-AC12-56D55F7D2B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724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8D24A4-5FEC-4062-8995-EB21925B3B40}" type="datetime1">
              <a:rPr lang="en-US" smtClean="0"/>
              <a:t>2/15/2025</a:t>
            </a:fld>
            <a:endParaRPr lang="en-US" sz="10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7FC5D-92B2-4B4D-8111-6EDEF28069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8268"/>
            <a:ext cx="41148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sz="100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A104D-C777-4A6E-8A43-F94028E5E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9315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747434-7036-48DB-A148-6B3D8EE75CDA}" type="slidenum">
              <a:rPr lang="en-US" smtClean="0"/>
              <a:pPr/>
              <a:t>‹#›</a:t>
            </a:fld>
            <a:endParaRPr lang="en-US" sz="1000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D3A74F-6169-4D30-A245-B46D738BE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877E64-7A05-44DA-81FA-6EF4806BBF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25625"/>
            <a:ext cx="1065911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281849D-54CA-C13E-3D84-DB247AB9A268}"/>
              </a:ext>
            </a:extLst>
          </p:cNvPr>
          <p:cNvGrpSpPr/>
          <p:nvPr userDrawn="1"/>
        </p:nvGrpSpPr>
        <p:grpSpPr>
          <a:xfrm>
            <a:off x="130629" y="6291189"/>
            <a:ext cx="2743201" cy="495445"/>
            <a:chOff x="195943" y="6091967"/>
            <a:chExt cx="3506755" cy="629508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401CC4C-E0EC-38D2-F7AA-61FC22E4D90D}"/>
                </a:ext>
              </a:extLst>
            </p:cNvPr>
            <p:cNvSpPr/>
            <p:nvPr userDrawn="1"/>
          </p:nvSpPr>
          <p:spPr>
            <a:xfrm>
              <a:off x="195943" y="6091967"/>
              <a:ext cx="642257" cy="629508"/>
            </a:xfrm>
            <a:prstGeom prst="ellipse">
              <a:avLst/>
            </a:prstGeom>
            <a:blipFill dpi="0"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875BEBF-DA68-8945-6205-DE7DE602B3BD}"/>
                </a:ext>
              </a:extLst>
            </p:cNvPr>
            <p:cNvSpPr txBox="1"/>
            <p:nvPr userDrawn="1"/>
          </p:nvSpPr>
          <p:spPr>
            <a:xfrm>
              <a:off x="838200" y="6163561"/>
              <a:ext cx="286449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PRAMOD NAIK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02753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03" r:id="rId6"/>
    <p:sldLayoutId id="2147483699" r:id="rId7"/>
    <p:sldLayoutId id="2147483700" r:id="rId8"/>
    <p:sldLayoutId id="2147483701" r:id="rId9"/>
    <p:sldLayoutId id="2147483702" r:id="rId10"/>
    <p:sldLayoutId id="2147483704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EF4AB3-E7DC-A7CE-9D14-5BDEF3227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2E5A9B-B287-0C94-62E0-A71FF14236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059" y="1602006"/>
            <a:ext cx="10732404" cy="34955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C00000"/>
                </a:solidFill>
              </a:rPr>
              <a:t>Module-2: ARRAYS AND STRINGS </a:t>
            </a:r>
            <a:r>
              <a:rPr lang="en-IN" sz="3600" b="1" dirty="0">
                <a:solidFill>
                  <a:srgbClr val="C00000"/>
                </a:solidFill>
              </a:rPr>
              <a:t>:</a:t>
            </a:r>
          </a:p>
          <a:p>
            <a:pPr marL="0" indent="0">
              <a:buNone/>
            </a:pPr>
            <a:r>
              <a:rPr lang="en-US" sz="3600" b="1" dirty="0"/>
              <a:t>Introduction to Arrays: </a:t>
            </a:r>
            <a:r>
              <a:rPr lang="en-US" sz="3600" dirty="0"/>
              <a:t>Declaration, Initialization, One dimensional array, Two dimensional arrays.</a:t>
            </a:r>
          </a:p>
          <a:p>
            <a:pPr marL="0" indent="0">
              <a:buNone/>
            </a:pPr>
            <a:r>
              <a:rPr lang="en-US" sz="3600" b="1" dirty="0"/>
              <a:t>String operations: </a:t>
            </a:r>
            <a:r>
              <a:rPr lang="en-US" sz="3600" dirty="0"/>
              <a:t>length, compare, concatenate, copy</a:t>
            </a:r>
          </a:p>
          <a:p>
            <a:pPr marL="0" indent="0">
              <a:buNone/>
            </a:pPr>
            <a:r>
              <a:rPr lang="en-US" sz="3600" b="1" dirty="0"/>
              <a:t>Searching and Sorting:</a:t>
            </a:r>
            <a:r>
              <a:rPr lang="en-US" sz="3600" dirty="0"/>
              <a:t> Selection sort, linear and binary search.</a:t>
            </a:r>
            <a:endParaRPr lang="en-IN" sz="3600" dirty="0"/>
          </a:p>
        </p:txBody>
      </p:sp>
    </p:spTree>
    <p:extLst>
      <p:ext uri="{BB962C8B-B14F-4D97-AF65-F5344CB8AC3E}">
        <p14:creationId xmlns:p14="http://schemas.microsoft.com/office/powerpoint/2010/main" val="3820529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0652E-7AF8-6D38-14F9-F897F5103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D2F45-A01A-CF4B-64B3-A95381552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889294"/>
            <a:ext cx="10659110" cy="50794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/>
              <a:t>Introduction to Arrays:</a:t>
            </a:r>
            <a:endParaRPr lang="en-IN" sz="3200" dirty="0"/>
          </a:p>
          <a:p>
            <a:pPr marL="0" indent="0">
              <a:buNone/>
            </a:pPr>
            <a:r>
              <a:rPr lang="en-US" sz="2400" dirty="0"/>
              <a:t>In C, an </a:t>
            </a:r>
            <a:r>
              <a:rPr lang="en-US" sz="2400" b="1" dirty="0"/>
              <a:t>array</a:t>
            </a:r>
            <a:r>
              <a:rPr lang="en-US" sz="2400" dirty="0"/>
              <a:t> is a </a:t>
            </a:r>
            <a:r>
              <a:rPr lang="en-US" sz="2400" b="1" dirty="0"/>
              <a:t>collection of elements </a:t>
            </a:r>
            <a:r>
              <a:rPr lang="en-US" sz="2400" dirty="0"/>
              <a:t>of the </a:t>
            </a:r>
            <a:r>
              <a:rPr lang="en-US" sz="2400" b="1" dirty="0">
                <a:solidFill>
                  <a:srgbClr val="C00000"/>
                </a:solidFill>
              </a:rPr>
              <a:t>same data type </a:t>
            </a:r>
            <a:r>
              <a:rPr lang="en-US" sz="2400" dirty="0"/>
              <a:t>stored in </a:t>
            </a:r>
            <a:r>
              <a:rPr lang="en-US" sz="2400" b="1" dirty="0"/>
              <a:t>contiguous memory locations</a:t>
            </a:r>
            <a:r>
              <a:rPr lang="en-US" sz="2400" dirty="0"/>
              <a:t>. Arrays allow you to store multiple values in a </a:t>
            </a:r>
            <a:r>
              <a:rPr lang="en-US" sz="2400" b="1" dirty="0">
                <a:solidFill>
                  <a:srgbClr val="C00000"/>
                </a:solidFill>
              </a:rPr>
              <a:t>single variable name</a:t>
            </a:r>
            <a:r>
              <a:rPr lang="en-US" sz="2400" dirty="0"/>
              <a:t>, making it easier to work with related data.</a:t>
            </a:r>
            <a:endParaRPr lang="en-IN" sz="2400" dirty="0"/>
          </a:p>
          <a:p>
            <a:pPr marL="0" indent="0">
              <a:buNone/>
            </a:pPr>
            <a:r>
              <a:rPr lang="en-US" sz="2400" b="1" dirty="0"/>
              <a:t>Key Characteristics of Arrays: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1" dirty="0"/>
              <a:t>Fixed Size: </a:t>
            </a:r>
            <a:r>
              <a:rPr lang="en-US" sz="2400" dirty="0"/>
              <a:t>The size of an array is defined at the </a:t>
            </a:r>
            <a:r>
              <a:rPr lang="en-US" sz="2400" b="1" dirty="0">
                <a:solidFill>
                  <a:srgbClr val="C00000"/>
                </a:solidFill>
              </a:rPr>
              <a:t>time of its declaration </a:t>
            </a:r>
            <a:r>
              <a:rPr lang="en-US" sz="2400" dirty="0"/>
              <a:t>and </a:t>
            </a:r>
            <a:r>
              <a:rPr lang="en-US" sz="2400" b="1" dirty="0">
                <a:solidFill>
                  <a:srgbClr val="C00000"/>
                </a:solidFill>
              </a:rPr>
              <a:t>cannot be changed during runtime</a:t>
            </a:r>
            <a:r>
              <a:rPr lang="en-US" sz="2400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1" dirty="0"/>
              <a:t>Homogeneous Elements: </a:t>
            </a:r>
            <a:r>
              <a:rPr lang="en-US" sz="2400" dirty="0"/>
              <a:t>All elements in an array must be of the </a:t>
            </a:r>
            <a:r>
              <a:rPr lang="en-US" sz="2400" b="1" dirty="0">
                <a:solidFill>
                  <a:srgbClr val="C00000"/>
                </a:solidFill>
              </a:rPr>
              <a:t>same data type </a:t>
            </a:r>
            <a:r>
              <a:rPr lang="en-US" sz="2400" dirty="0"/>
              <a:t>(e.g., all integers, all floats, etc.).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1" dirty="0"/>
              <a:t>Contiguous Memory:  </a:t>
            </a:r>
            <a:r>
              <a:rPr lang="en-US" sz="2400" dirty="0"/>
              <a:t>Array elements are stored in </a:t>
            </a:r>
            <a:r>
              <a:rPr lang="en-US" sz="2400" b="1" dirty="0">
                <a:solidFill>
                  <a:srgbClr val="C00000"/>
                </a:solidFill>
              </a:rPr>
              <a:t>adjacent memory locations</a:t>
            </a:r>
            <a:r>
              <a:rPr lang="en-US" sz="2400" dirty="0"/>
              <a:t>.</a:t>
            </a:r>
            <a:endParaRPr lang="en-IN" sz="2400" dirty="0"/>
          </a:p>
          <a:p>
            <a:pPr marL="457200" indent="-457200">
              <a:buFont typeface="+mj-lt"/>
              <a:buAutoNum type="arabicPeriod"/>
            </a:pPr>
            <a:r>
              <a:rPr lang="en-US" sz="2400" b="1" dirty="0"/>
              <a:t>Indexing: </a:t>
            </a:r>
            <a:r>
              <a:rPr lang="en-US" sz="2400" dirty="0"/>
              <a:t>Array elements are accessed using </a:t>
            </a:r>
            <a:r>
              <a:rPr lang="en-US" sz="2400" b="1" dirty="0">
                <a:solidFill>
                  <a:srgbClr val="C00000"/>
                </a:solidFill>
              </a:rPr>
              <a:t>indices</a:t>
            </a:r>
            <a:r>
              <a:rPr lang="en-US" sz="2400" dirty="0"/>
              <a:t>, starting from </a:t>
            </a:r>
            <a:r>
              <a:rPr lang="en-US" sz="2400" b="1" dirty="0">
                <a:solidFill>
                  <a:srgbClr val="C00000"/>
                </a:solidFill>
              </a:rPr>
              <a:t>0</a:t>
            </a:r>
            <a:r>
              <a:rPr lang="en-US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62288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0652E-7AF8-6D38-14F9-F897F5103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D2F45-A01A-CF4B-64B3-A95381552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92183"/>
            <a:ext cx="10659110" cy="5584780"/>
          </a:xfrm>
        </p:spPr>
        <p:txBody>
          <a:bodyPr/>
          <a:lstStyle/>
          <a:p>
            <a:pPr marL="0" indent="0">
              <a:buNone/>
            </a:pPr>
            <a:r>
              <a:rPr lang="en-US" sz="2400" b="1" dirty="0"/>
              <a:t>Syntax of Array Declaration: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US" b="1" dirty="0"/>
          </a:p>
          <a:p>
            <a:r>
              <a:rPr lang="en-US" b="1" dirty="0" err="1"/>
              <a:t>data_type</a:t>
            </a:r>
            <a:r>
              <a:rPr lang="en-US" b="1" dirty="0"/>
              <a:t>:</a:t>
            </a:r>
            <a:r>
              <a:rPr lang="en-US" dirty="0"/>
              <a:t> The type of elements stored in the array (e.g., int, float, char).</a:t>
            </a:r>
          </a:p>
          <a:p>
            <a:r>
              <a:rPr lang="en-US" b="1" dirty="0" err="1"/>
              <a:t>array_name</a:t>
            </a:r>
            <a:r>
              <a:rPr lang="en-US" b="1" dirty="0"/>
              <a:t>: </a:t>
            </a:r>
            <a:r>
              <a:rPr lang="en-US" dirty="0"/>
              <a:t>The name of the array.</a:t>
            </a:r>
          </a:p>
          <a:p>
            <a:r>
              <a:rPr lang="en-US" b="1" dirty="0"/>
              <a:t>size</a:t>
            </a:r>
            <a:r>
              <a:rPr lang="en-US" dirty="0"/>
              <a:t>: The number of elements the array can hold.</a:t>
            </a:r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b="1" dirty="0"/>
              <a:t>Example-1: 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Example-2: </a:t>
            </a:r>
            <a:r>
              <a:rPr lang="en-US" dirty="0"/>
              <a:t>initialize an array while declaring it</a:t>
            </a:r>
            <a:endParaRPr lang="en-US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7048BE-509C-0849-EC1B-A72E12DA5A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9066" y="1299513"/>
            <a:ext cx="4266101" cy="6381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8BFABE-04A3-3033-18D1-C16CB0733A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9066" y="4030507"/>
            <a:ext cx="5609524" cy="55238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AD1DC8E-7F34-4829-710E-C234DE0DF8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9066" y="5345028"/>
            <a:ext cx="4849804" cy="736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41861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0652E-7AF8-6D38-14F9-F897F5103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D2F45-A01A-CF4B-64B3-A95381552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92183"/>
            <a:ext cx="10659110" cy="5584780"/>
          </a:xfrm>
        </p:spPr>
        <p:txBody>
          <a:bodyPr/>
          <a:lstStyle/>
          <a:p>
            <a:pPr marL="0" indent="0">
              <a:buNone/>
            </a:pPr>
            <a:r>
              <a:rPr lang="en-US" sz="2400" b="1" dirty="0"/>
              <a:t>Accessing Array Elements:</a:t>
            </a:r>
          </a:p>
          <a:p>
            <a:pPr marL="0" indent="0">
              <a:buNone/>
            </a:pPr>
            <a:r>
              <a:rPr lang="en-US" sz="2400" dirty="0"/>
              <a:t>Array elements are accessed </a:t>
            </a:r>
            <a:r>
              <a:rPr lang="en-US" sz="2400" b="1" dirty="0">
                <a:solidFill>
                  <a:srgbClr val="C00000"/>
                </a:solidFill>
              </a:rPr>
              <a:t>using their index </a:t>
            </a:r>
            <a:r>
              <a:rPr lang="en-US" sz="2400" dirty="0"/>
              <a:t>in square brackets (</a:t>
            </a:r>
            <a:r>
              <a:rPr lang="en-US" sz="2400" b="1" dirty="0">
                <a:solidFill>
                  <a:srgbClr val="C00000"/>
                </a:solidFill>
              </a:rPr>
              <a:t>[]</a:t>
            </a:r>
            <a:r>
              <a:rPr lang="en-US" sz="2400" dirty="0"/>
              <a:t>).</a:t>
            </a:r>
          </a:p>
          <a:p>
            <a:pPr marL="0" indent="0">
              <a:buNone/>
            </a:pPr>
            <a:r>
              <a:rPr lang="en-IN" sz="2400" b="1" dirty="0"/>
              <a:t>Syntax: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Example: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033704-25B6-0796-6338-EFA0F0A4DD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6142" y="1977024"/>
            <a:ext cx="4109858" cy="7867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9281C3E-5BB4-213D-9098-7A348ACB7F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1147" y="3768775"/>
            <a:ext cx="8450746" cy="1403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28049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78EB0-ADCA-03E9-E79E-F1D06688F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ED10E6-2E0D-2737-2360-668AB2F9D4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Initializing an Array: </a:t>
            </a:r>
            <a:r>
              <a:rPr lang="en-US" sz="2400" dirty="0"/>
              <a:t>An array can be initialized </a:t>
            </a:r>
            <a:r>
              <a:rPr lang="en-US" sz="2400" b="1" dirty="0">
                <a:solidFill>
                  <a:srgbClr val="C00000"/>
                </a:solidFill>
              </a:rPr>
              <a:t>during</a:t>
            </a:r>
            <a:r>
              <a:rPr lang="en-US" sz="2400" dirty="0"/>
              <a:t> or </a:t>
            </a:r>
            <a:r>
              <a:rPr lang="en-US" sz="2400" b="1" dirty="0">
                <a:solidFill>
                  <a:srgbClr val="C00000"/>
                </a:solidFill>
              </a:rPr>
              <a:t>after</a:t>
            </a:r>
            <a:r>
              <a:rPr lang="en-US" sz="2400" dirty="0"/>
              <a:t> </a:t>
            </a:r>
            <a:r>
              <a:rPr lang="en-US" sz="2400" b="1" dirty="0"/>
              <a:t>declaration</a:t>
            </a:r>
            <a:r>
              <a:rPr lang="en-US" sz="2400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1" dirty="0"/>
              <a:t>During Declaration:</a:t>
            </a:r>
            <a:endParaRPr lang="en-IN" sz="2400" b="1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1883B50-A92D-2277-37EE-756332F3CED0}"/>
              </a:ext>
            </a:extLst>
          </p:cNvPr>
          <p:cNvGrpSpPr/>
          <p:nvPr/>
        </p:nvGrpSpPr>
        <p:grpSpPr>
          <a:xfrm>
            <a:off x="894546" y="1831568"/>
            <a:ext cx="10197296" cy="3640260"/>
            <a:chOff x="755650" y="1808418"/>
            <a:chExt cx="10197296" cy="364026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DE995981-CC82-0332-38EF-8FE90B55C4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55650" y="1808418"/>
              <a:ext cx="10197296" cy="364026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71F5F1B-8E1C-3EEA-526D-1A5C1F5AC8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flipV="1">
              <a:off x="949124" y="4000556"/>
              <a:ext cx="9620724" cy="3523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16646BDC-FE83-9BAB-251A-19E6E4F0574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flipV="1">
              <a:off x="949124" y="2034790"/>
              <a:ext cx="9620724" cy="3523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121309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BD7E0-6C20-3BB0-D6A2-CD6AFC239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CDEEDC-8B09-866E-7CFF-4198C6B65F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988120"/>
            <a:ext cx="10659110" cy="6554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2. After Declaration:</a:t>
            </a: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A33110-D207-C485-3E7C-060BEDA305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571" y="1820682"/>
            <a:ext cx="4171429" cy="12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1590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A80AA-D669-86EF-A13F-ACA4B4107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837D05-6363-029C-6B45-98604F1ABF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Example:</a:t>
            </a:r>
          </a:p>
          <a:p>
            <a:pPr marL="0" indent="0">
              <a:buNone/>
            </a:pP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D41A1D-E589-FD14-6C39-47CBDE4970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9176" y="1309503"/>
            <a:ext cx="9095238" cy="47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1317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19D19-95AF-B036-9657-6D1BA3D00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88FD19-BBBA-5310-30F4-F4CB7607C7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4326" y="1023257"/>
            <a:ext cx="10659110" cy="500742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800" b="1" dirty="0"/>
              <a:t>Types of Arrays in C:</a:t>
            </a:r>
          </a:p>
          <a:p>
            <a:pPr marL="0" indent="0">
              <a:buNone/>
            </a:pPr>
            <a:r>
              <a:rPr lang="en-US" sz="2400" dirty="0"/>
              <a:t>In C programming, arrays are classified </a:t>
            </a:r>
            <a:r>
              <a:rPr lang="en-US" sz="2400" b="1" dirty="0"/>
              <a:t>based on the number of </a:t>
            </a:r>
            <a:r>
              <a:rPr lang="en-US" sz="2400" b="1" dirty="0">
                <a:solidFill>
                  <a:srgbClr val="C00000"/>
                </a:solidFill>
              </a:rPr>
              <a:t>dimensions</a:t>
            </a:r>
            <a:r>
              <a:rPr lang="en-US" sz="2400" b="1" dirty="0"/>
              <a:t> </a:t>
            </a:r>
            <a:r>
              <a:rPr lang="en-US" sz="2400" dirty="0"/>
              <a:t>they have. These dimensions determine how the data is </a:t>
            </a:r>
            <a:r>
              <a:rPr lang="en-US" sz="2400" b="1" dirty="0"/>
              <a:t>organized</a:t>
            </a:r>
            <a:r>
              <a:rPr lang="en-US" sz="2400" dirty="0"/>
              <a:t> and </a:t>
            </a:r>
            <a:r>
              <a:rPr lang="en-US" sz="2400" b="1" dirty="0"/>
              <a:t>accessed</a:t>
            </a:r>
            <a:r>
              <a:rPr lang="en-US" sz="2400" dirty="0"/>
              <a:t>. </a:t>
            </a:r>
          </a:p>
          <a:p>
            <a:pPr marL="0" indent="0">
              <a:buNone/>
            </a:pPr>
            <a:r>
              <a:rPr lang="en-US" sz="2400" b="1" dirty="0"/>
              <a:t>The 3 main types of arrays in C are:</a:t>
            </a:r>
          </a:p>
          <a:p>
            <a:pPr marL="457200" indent="-457200">
              <a:buAutoNum type="arabicPeriod"/>
            </a:pPr>
            <a:r>
              <a:rPr lang="en-US" sz="2400" b="1" dirty="0"/>
              <a:t>One</a:t>
            </a:r>
            <a:r>
              <a:rPr lang="en-US" sz="2400" dirty="0"/>
              <a:t>-Dimensional Array (Requires </a:t>
            </a:r>
            <a:r>
              <a:rPr lang="en-US" sz="2400" b="1" dirty="0">
                <a:solidFill>
                  <a:srgbClr val="C00000"/>
                </a:solidFill>
              </a:rPr>
              <a:t>one index </a:t>
            </a:r>
            <a:r>
              <a:rPr lang="en-US" sz="2400" dirty="0"/>
              <a:t>to access elements)</a:t>
            </a:r>
          </a:p>
          <a:p>
            <a:pPr marL="457200" indent="-457200">
              <a:buAutoNum type="arabicPeriod"/>
            </a:pPr>
            <a:r>
              <a:rPr lang="en-US" sz="2400" b="1" dirty="0"/>
              <a:t>Two</a:t>
            </a:r>
            <a:r>
              <a:rPr lang="en-US" sz="2400" dirty="0"/>
              <a:t>-Dimensional Array (Requires </a:t>
            </a:r>
            <a:r>
              <a:rPr lang="en-US" sz="2400" b="1" dirty="0">
                <a:solidFill>
                  <a:srgbClr val="C00000"/>
                </a:solidFill>
              </a:rPr>
              <a:t>two indices </a:t>
            </a:r>
            <a:r>
              <a:rPr lang="en-US" sz="2400" dirty="0"/>
              <a:t>to access elements)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en-US" sz="2400" b="1" dirty="0"/>
              <a:t>Three or Multi</a:t>
            </a:r>
            <a:r>
              <a:rPr lang="en-US" sz="2400" dirty="0"/>
              <a:t>-Dimensional Array (</a:t>
            </a:r>
            <a:r>
              <a:rPr lang="en-US" sz="2400" b="1" dirty="0"/>
              <a:t>(Array of more than one Two-Dimensional Array)</a:t>
            </a:r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r>
              <a:rPr lang="en-US" sz="2400" b="1" dirty="0"/>
              <a:t>Note: </a:t>
            </a:r>
            <a:r>
              <a:rPr lang="en-US" sz="2400" dirty="0"/>
              <a:t>In the context of arrays in C, </a:t>
            </a:r>
            <a:r>
              <a:rPr lang="en-US" sz="2400" b="1" dirty="0">
                <a:solidFill>
                  <a:srgbClr val="C00000"/>
                </a:solidFill>
              </a:rPr>
              <a:t>dimensions</a:t>
            </a:r>
            <a:r>
              <a:rPr lang="en-US" sz="2400" dirty="0"/>
              <a:t> refer to the </a:t>
            </a:r>
            <a:r>
              <a:rPr lang="en-US" sz="2400" b="1" dirty="0"/>
              <a:t>levels of indexing </a:t>
            </a:r>
            <a:r>
              <a:rPr lang="en-US" sz="2400" dirty="0"/>
              <a:t>or the </a:t>
            </a:r>
            <a:r>
              <a:rPr lang="en-US" sz="2400" b="1" dirty="0">
                <a:solidFill>
                  <a:srgbClr val="C00000"/>
                </a:solidFill>
              </a:rPr>
              <a:t>number of indices </a:t>
            </a:r>
            <a:r>
              <a:rPr lang="en-US" sz="2400" dirty="0"/>
              <a:t>required to </a:t>
            </a:r>
            <a:r>
              <a:rPr lang="en-US" sz="2400" b="1" dirty="0"/>
              <a:t>uniquely access each element in the array</a:t>
            </a:r>
            <a:r>
              <a:rPr lang="en-US" sz="2400" dirty="0"/>
              <a:t>. Each dimension adds a layer of organization to the data, allowing arrays to represent more complex structures like tables (2D) or cubes (3D).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6453970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3BA65-8477-647A-4DA4-647A8F82A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B06A3E-5F43-078B-4604-A28B233707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en-US" sz="2800" b="1" dirty="0">
                <a:solidFill>
                  <a:srgbClr val="0070C0"/>
                </a:solidFill>
              </a:rPr>
              <a:t>One</a:t>
            </a:r>
            <a:r>
              <a:rPr lang="en-US" sz="2800" b="1" dirty="0"/>
              <a:t>-Dimensional Array:</a:t>
            </a:r>
          </a:p>
          <a:p>
            <a:r>
              <a:rPr lang="en-US" sz="2400" dirty="0"/>
              <a:t>A one-dimensional array is a </a:t>
            </a:r>
            <a:r>
              <a:rPr lang="en-US" sz="2400" b="1" dirty="0">
                <a:solidFill>
                  <a:srgbClr val="C00000"/>
                </a:solidFill>
              </a:rPr>
              <a:t>linear collection of elements</a:t>
            </a:r>
            <a:r>
              <a:rPr lang="en-US" sz="2400" dirty="0"/>
              <a:t>, all of the </a:t>
            </a:r>
            <a:r>
              <a:rPr lang="en-US" sz="2400" b="1" dirty="0"/>
              <a:t>same data type</a:t>
            </a:r>
            <a:r>
              <a:rPr lang="en-US" sz="2400" dirty="0"/>
              <a:t>. It can be visualized as a </a:t>
            </a:r>
            <a:r>
              <a:rPr lang="en-US" sz="2400" b="1" dirty="0">
                <a:solidFill>
                  <a:srgbClr val="C00000"/>
                </a:solidFill>
              </a:rPr>
              <a:t>list</a:t>
            </a:r>
            <a:r>
              <a:rPr lang="en-US" sz="2400" dirty="0"/>
              <a:t>.</a:t>
            </a:r>
          </a:p>
          <a:p>
            <a:r>
              <a:rPr lang="en-US" sz="2400" dirty="0"/>
              <a:t>Requires </a:t>
            </a:r>
            <a:r>
              <a:rPr lang="en-US" sz="2400" b="1" dirty="0">
                <a:solidFill>
                  <a:srgbClr val="C00000"/>
                </a:solidFill>
              </a:rPr>
              <a:t>one index</a:t>
            </a:r>
            <a:r>
              <a:rPr lang="en-US" sz="2400" dirty="0"/>
              <a:t> to access elements.</a:t>
            </a:r>
          </a:p>
          <a:p>
            <a:pPr marL="0" indent="0">
              <a:buNone/>
            </a:pPr>
            <a:r>
              <a:rPr lang="en-US" sz="2400" b="1" dirty="0"/>
              <a:t>Syntax: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r>
              <a:rPr lang="en-US" sz="2400" b="1" dirty="0"/>
              <a:t>Example:</a:t>
            </a: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7AA2AF-681E-71E2-B680-99EA78D388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200" y="2884752"/>
            <a:ext cx="4776856" cy="67487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4312CF-7B90-53BB-AC47-1068463F7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1199" y="4457438"/>
            <a:ext cx="6329523" cy="674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6435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99266-1144-B4E2-E985-4BC2FE622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220D1-E7A2-F2FB-51A6-530B47FB53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Example:</a:t>
            </a:r>
          </a:p>
          <a:p>
            <a:pPr marL="0" indent="0">
              <a:buNone/>
            </a:pP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54AF81B-5CD7-6432-6532-BDF813057F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401" y="1558894"/>
            <a:ext cx="10028788" cy="3546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3247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02EC5-239D-D07E-76E3-8AAEC1288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E9E490-E6FD-869B-DFD9-B8424CAF8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2. Two-Dimensional Array: ( Array of more than one One-Dimensional Array)</a:t>
            </a:r>
          </a:p>
          <a:p>
            <a:r>
              <a:rPr lang="en-US" sz="2400" dirty="0"/>
              <a:t>A two-dimensional array is a </a:t>
            </a:r>
            <a:r>
              <a:rPr lang="en-US" sz="2400" b="1" dirty="0"/>
              <a:t>collection of elements arranged in </a:t>
            </a:r>
            <a:r>
              <a:rPr lang="en-US" sz="2400" b="1" dirty="0">
                <a:solidFill>
                  <a:srgbClr val="C00000"/>
                </a:solidFill>
              </a:rPr>
              <a:t>rows</a:t>
            </a:r>
            <a:r>
              <a:rPr lang="en-US" sz="2400" b="1" dirty="0"/>
              <a:t> and </a:t>
            </a:r>
            <a:r>
              <a:rPr lang="en-US" sz="2400" b="1" dirty="0">
                <a:solidFill>
                  <a:srgbClr val="C00000"/>
                </a:solidFill>
              </a:rPr>
              <a:t>columns</a:t>
            </a:r>
            <a:r>
              <a:rPr lang="en-US" sz="2400" dirty="0"/>
              <a:t>, like a </a:t>
            </a:r>
            <a:r>
              <a:rPr lang="en-US" sz="2400" b="1" dirty="0">
                <a:solidFill>
                  <a:srgbClr val="C00000"/>
                </a:solidFill>
              </a:rPr>
              <a:t>table</a:t>
            </a:r>
            <a:r>
              <a:rPr lang="en-US" sz="2400" dirty="0"/>
              <a:t> or </a:t>
            </a:r>
            <a:r>
              <a:rPr lang="en-US" sz="2400" b="1" dirty="0">
                <a:solidFill>
                  <a:srgbClr val="C00000"/>
                </a:solidFill>
              </a:rPr>
              <a:t>matrix</a:t>
            </a:r>
            <a:r>
              <a:rPr lang="en-US" sz="2400" dirty="0"/>
              <a:t>. </a:t>
            </a:r>
          </a:p>
          <a:p>
            <a:r>
              <a:rPr lang="en-US" sz="2400" dirty="0"/>
              <a:t>It is essentially an </a:t>
            </a:r>
            <a:r>
              <a:rPr lang="en-US" sz="2400" b="1" dirty="0">
                <a:solidFill>
                  <a:srgbClr val="C00000"/>
                </a:solidFill>
              </a:rPr>
              <a:t>array of </a:t>
            </a:r>
            <a:r>
              <a:rPr lang="en-US" sz="2400" dirty="0"/>
              <a:t>more than one One-Dimensional arrays.</a:t>
            </a:r>
          </a:p>
          <a:p>
            <a:r>
              <a:rPr lang="en-US" sz="2400" dirty="0"/>
              <a:t>Requires </a:t>
            </a:r>
            <a:r>
              <a:rPr lang="en-US" sz="2400" b="1" dirty="0">
                <a:solidFill>
                  <a:srgbClr val="C00000"/>
                </a:solidFill>
              </a:rPr>
              <a:t>two indices </a:t>
            </a:r>
            <a:r>
              <a:rPr lang="en-US" sz="2400" dirty="0"/>
              <a:t>to access elements</a:t>
            </a:r>
          </a:p>
          <a:p>
            <a:pPr marL="0" indent="0">
              <a:buNone/>
            </a:pPr>
            <a:r>
              <a:rPr lang="en-US" sz="2400" b="1" dirty="0"/>
              <a:t>Syntax: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r>
              <a:rPr lang="en-US" sz="2400" b="1" dirty="0"/>
              <a:t>Example:</a:t>
            </a:r>
          </a:p>
          <a:p>
            <a:pPr marL="0" indent="0">
              <a:buNone/>
            </a:pP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03331A-52C5-7687-2A15-142EAE44CE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7982" y="3057571"/>
            <a:ext cx="6209524" cy="74285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D2BF30A-F66D-743A-CA6A-1575FFB950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1342" y="4302714"/>
            <a:ext cx="3971429" cy="217142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FADC9FD-1DA4-8C44-FBBF-58C992236635}"/>
              </a:ext>
            </a:extLst>
          </p:cNvPr>
          <p:cNvSpPr txBox="1"/>
          <p:nvPr/>
        </p:nvSpPr>
        <p:spPr>
          <a:xfrm>
            <a:off x="7127875" y="4302714"/>
            <a:ext cx="418462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Accessed using </a:t>
            </a:r>
            <a:r>
              <a:rPr lang="en-US" sz="2400" b="1" dirty="0">
                <a:solidFill>
                  <a:srgbClr val="C00000"/>
                </a:solidFill>
              </a:rPr>
              <a:t>two indices </a:t>
            </a:r>
            <a:r>
              <a:rPr lang="en-US" sz="2400" dirty="0"/>
              <a:t>(</a:t>
            </a:r>
            <a:r>
              <a:rPr lang="en-US" sz="2400" dirty="0" err="1"/>
              <a:t>array_name</a:t>
            </a:r>
            <a:r>
              <a:rPr lang="en-US" sz="2400" dirty="0"/>
              <a:t>[</a:t>
            </a:r>
            <a:r>
              <a:rPr lang="en-US" sz="2400" b="1" dirty="0"/>
              <a:t>row</a:t>
            </a:r>
            <a:r>
              <a:rPr lang="en-US" sz="2400" dirty="0"/>
              <a:t>][</a:t>
            </a:r>
            <a:r>
              <a:rPr lang="en-US" sz="2400" b="1" dirty="0"/>
              <a:t>column</a:t>
            </a:r>
            <a:r>
              <a:rPr lang="en-US" sz="2400" dirty="0"/>
              <a:t>]).</a:t>
            </a:r>
            <a:endParaRPr lang="en-IN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The </a:t>
            </a:r>
            <a:r>
              <a:rPr lang="en-IN" sz="2400" b="1" dirty="0"/>
              <a:t>first index </a:t>
            </a:r>
            <a:r>
              <a:rPr lang="en-IN" sz="2400" dirty="0"/>
              <a:t>represents the </a:t>
            </a:r>
            <a:r>
              <a:rPr lang="en-IN" sz="2400" b="1" dirty="0">
                <a:solidFill>
                  <a:srgbClr val="C00000"/>
                </a:solidFill>
              </a:rPr>
              <a:t>row</a:t>
            </a:r>
            <a:r>
              <a:rPr lang="en-IN" sz="2400" dirty="0"/>
              <a:t>, and the </a:t>
            </a:r>
            <a:r>
              <a:rPr lang="en-IN" sz="2400" b="1" dirty="0"/>
              <a:t>second</a:t>
            </a:r>
            <a:r>
              <a:rPr lang="en-IN" sz="2400" dirty="0"/>
              <a:t> represents the </a:t>
            </a:r>
            <a:r>
              <a:rPr lang="en-IN" sz="2400" b="1" dirty="0">
                <a:solidFill>
                  <a:srgbClr val="C00000"/>
                </a:solidFill>
              </a:rPr>
              <a:t>column</a:t>
            </a:r>
            <a:r>
              <a:rPr lang="en-IN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008806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34378-FFA5-955B-AC9A-D74C5F69E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137DD8-7C4A-81DE-FCAD-C3E5D209C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Example:</a:t>
            </a:r>
          </a:p>
          <a:p>
            <a:pPr marL="0" indent="0">
              <a:buNone/>
            </a:pPr>
            <a:endParaRPr lang="en-US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3F0491-5C66-1D5C-9CAC-C8D91D031B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390" y="1324271"/>
            <a:ext cx="10299219" cy="4192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8456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892BC1-D5BB-D5C9-8D4E-2C5065F12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FE89F7-101F-D952-4DB2-BB06A1A04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3. Multi-Dimensional Array: </a:t>
            </a:r>
            <a:r>
              <a:rPr lang="en-US" sz="2400" dirty="0"/>
              <a:t>A multi-dimensional array </a:t>
            </a:r>
            <a:r>
              <a:rPr lang="en-US" sz="2400" b="1" dirty="0">
                <a:solidFill>
                  <a:srgbClr val="C00000"/>
                </a:solidFill>
              </a:rPr>
              <a:t>extends</a:t>
            </a:r>
            <a:r>
              <a:rPr lang="en-US" sz="2400" dirty="0"/>
              <a:t> the concept of a </a:t>
            </a:r>
            <a:r>
              <a:rPr lang="en-US" sz="2400" b="1" dirty="0"/>
              <a:t>two-dimensional array to more than two dimensions </a:t>
            </a:r>
            <a:r>
              <a:rPr lang="en-US" sz="2400" dirty="0"/>
              <a:t>(e.g., 3D, 4D).</a:t>
            </a:r>
          </a:p>
          <a:p>
            <a:pPr marL="0" indent="0">
              <a:buNone/>
            </a:pPr>
            <a:r>
              <a:rPr lang="en-US" sz="2400" b="1" dirty="0"/>
              <a:t>Syntax: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r>
              <a:rPr lang="en-US" sz="2400" b="1" dirty="0"/>
              <a:t>Example: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Characteristics:</a:t>
            </a:r>
          </a:p>
          <a:p>
            <a:pPr lvl="1"/>
            <a:r>
              <a:rPr lang="en-US" sz="2200" dirty="0"/>
              <a:t>Accessed using </a:t>
            </a:r>
            <a:r>
              <a:rPr lang="en-US" sz="2200" b="1" dirty="0">
                <a:solidFill>
                  <a:srgbClr val="C00000"/>
                </a:solidFill>
              </a:rPr>
              <a:t>multiple</a:t>
            </a:r>
            <a:r>
              <a:rPr lang="en-US" sz="2200" dirty="0"/>
              <a:t> </a:t>
            </a:r>
            <a:r>
              <a:rPr lang="en-US" sz="2200" b="1" dirty="0">
                <a:solidFill>
                  <a:srgbClr val="C00000"/>
                </a:solidFill>
              </a:rPr>
              <a:t>indices</a:t>
            </a:r>
            <a:r>
              <a:rPr lang="en-US" sz="2200" dirty="0"/>
              <a:t> (</a:t>
            </a:r>
            <a:r>
              <a:rPr lang="en-US" sz="2200" dirty="0" err="1"/>
              <a:t>array_name</a:t>
            </a:r>
            <a:r>
              <a:rPr lang="en-US" sz="2200" dirty="0"/>
              <a:t>[index1][index2][index3]...).</a:t>
            </a:r>
          </a:p>
          <a:p>
            <a:pPr lvl="1"/>
            <a:r>
              <a:rPr lang="en-US" sz="2200" dirty="0"/>
              <a:t>Each additional dimension </a:t>
            </a:r>
            <a:r>
              <a:rPr lang="en-US" sz="2200" b="1" dirty="0">
                <a:solidFill>
                  <a:srgbClr val="C00000"/>
                </a:solidFill>
              </a:rPr>
              <a:t>increases</a:t>
            </a:r>
            <a:r>
              <a:rPr lang="en-US" sz="2200" dirty="0"/>
              <a:t> </a:t>
            </a:r>
            <a:r>
              <a:rPr lang="en-US" sz="2200" b="1" dirty="0">
                <a:solidFill>
                  <a:srgbClr val="C00000"/>
                </a:solidFill>
              </a:rPr>
              <a:t>the</a:t>
            </a:r>
            <a:r>
              <a:rPr lang="en-US" sz="2200" dirty="0"/>
              <a:t> </a:t>
            </a:r>
            <a:r>
              <a:rPr lang="en-US" sz="2200" b="1" dirty="0">
                <a:solidFill>
                  <a:srgbClr val="C00000"/>
                </a:solidFill>
              </a:rPr>
              <a:t>complexity</a:t>
            </a:r>
            <a:r>
              <a:rPr lang="en-US" sz="2200" dirty="0"/>
              <a:t> of indexing and storage.</a:t>
            </a:r>
            <a:endParaRPr lang="en-IN" sz="2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8B181C-7457-F5EE-82C5-BE159737E0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610" y="2232982"/>
            <a:ext cx="8060362" cy="77213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D1B32B8-143F-D1E8-C802-1BA67023F9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7066" y="3712776"/>
            <a:ext cx="5709746" cy="772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26934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84C81-5128-4194-FF5E-6E574C0B6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701BA3-E8CB-A60B-3A73-CFD8539523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Example:</a:t>
            </a:r>
          </a:p>
          <a:p>
            <a:pPr marL="0" indent="0">
              <a:buNone/>
            </a:pP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3429D47-F235-9445-78B2-B0251A1CC7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857" y="1348656"/>
            <a:ext cx="10450286" cy="4160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92827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B75D0-B8D9-FAAF-7401-DD601E90D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0267BF-1F23-C5FD-40D4-D8326E6287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8846" y="1077686"/>
            <a:ext cx="10659110" cy="30153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Limitations of Arrays: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b="1" dirty="0"/>
              <a:t>Fixed size: </a:t>
            </a:r>
            <a:r>
              <a:rPr lang="en-US" sz="2800" b="1" dirty="0">
                <a:solidFill>
                  <a:srgbClr val="C00000"/>
                </a:solidFill>
              </a:rPr>
              <a:t>Cannot resize </a:t>
            </a:r>
            <a:r>
              <a:rPr lang="en-US" sz="2800" dirty="0"/>
              <a:t>during runtime.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b="1" dirty="0"/>
              <a:t>Homogeneous data: </a:t>
            </a:r>
            <a:r>
              <a:rPr lang="en-US" sz="2800" dirty="0"/>
              <a:t>Only </a:t>
            </a:r>
            <a:r>
              <a:rPr lang="en-US" sz="2800" b="1" dirty="0">
                <a:solidFill>
                  <a:srgbClr val="C00000"/>
                </a:solidFill>
              </a:rPr>
              <a:t>one data type </a:t>
            </a:r>
            <a:r>
              <a:rPr lang="en-US" sz="2800" dirty="0"/>
              <a:t>allowed.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b="1" dirty="0"/>
              <a:t>Static memory allocation </a:t>
            </a:r>
            <a:r>
              <a:rPr lang="en-US" sz="2800" dirty="0"/>
              <a:t>may lead to </a:t>
            </a:r>
            <a:r>
              <a:rPr lang="en-US" sz="2800" b="1" dirty="0"/>
              <a:t>wastage</a:t>
            </a:r>
            <a:r>
              <a:rPr lang="en-US" sz="2800" dirty="0"/>
              <a:t> if the array is </a:t>
            </a:r>
            <a:r>
              <a:rPr lang="en-US" sz="2800" b="1" dirty="0">
                <a:solidFill>
                  <a:srgbClr val="C00000"/>
                </a:solidFill>
              </a:rPr>
              <a:t>not fully utilized.</a:t>
            </a:r>
            <a:endParaRPr lang="en-IN" sz="28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88613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B06DE-B997-E0C0-5D94-56D094789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A095AD-B38D-2608-3F8D-C2420A92CE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6982" y="947057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4800" b="1" dirty="0">
                <a:solidFill>
                  <a:srgbClr val="002060"/>
                </a:solidFill>
              </a:rPr>
              <a:t>Strings</a:t>
            </a:r>
            <a:r>
              <a:rPr lang="en-US" sz="3200" b="1" dirty="0">
                <a:solidFill>
                  <a:srgbClr val="002060"/>
                </a:solidFill>
              </a:rPr>
              <a:t> in C:</a:t>
            </a:r>
          </a:p>
          <a:p>
            <a:pPr marL="0" indent="0">
              <a:buNone/>
            </a:pPr>
            <a:r>
              <a:rPr lang="en-US" sz="3200" dirty="0"/>
              <a:t>In C programming, a string is </a:t>
            </a:r>
            <a:r>
              <a:rPr lang="en-US" sz="3200" b="1" dirty="0">
                <a:solidFill>
                  <a:srgbClr val="C00000"/>
                </a:solidFill>
              </a:rPr>
              <a:t>essentially an array of </a:t>
            </a:r>
            <a:r>
              <a:rPr lang="en-US" sz="3200" b="1" dirty="0">
                <a:solidFill>
                  <a:srgbClr val="0070C0"/>
                </a:solidFill>
              </a:rPr>
              <a:t>characters</a:t>
            </a:r>
            <a:r>
              <a:rPr lang="en-US" sz="3200" b="1" dirty="0">
                <a:solidFill>
                  <a:srgbClr val="C00000"/>
                </a:solidFill>
              </a:rPr>
              <a:t> </a:t>
            </a:r>
            <a:r>
              <a:rPr lang="en-US" sz="3200" dirty="0"/>
              <a:t>that is </a:t>
            </a:r>
            <a:r>
              <a:rPr lang="en-US" sz="3200" b="1" dirty="0">
                <a:solidFill>
                  <a:srgbClr val="C00000"/>
                </a:solidFill>
              </a:rPr>
              <a:t>terminated</a:t>
            </a:r>
            <a:r>
              <a:rPr lang="en-US" sz="3200" dirty="0"/>
              <a:t> by a special character called the </a:t>
            </a:r>
            <a:r>
              <a:rPr lang="en-US" sz="3200" b="1" dirty="0"/>
              <a:t>null character (\0). </a:t>
            </a:r>
          </a:p>
          <a:p>
            <a:pPr marL="0" indent="0">
              <a:buNone/>
            </a:pPr>
            <a:r>
              <a:rPr lang="en-US" sz="3200" dirty="0"/>
              <a:t>This null character marks the </a:t>
            </a:r>
            <a:r>
              <a:rPr lang="en-US" sz="3200" b="1" dirty="0">
                <a:solidFill>
                  <a:srgbClr val="C00000"/>
                </a:solidFill>
              </a:rPr>
              <a:t>end of the string</a:t>
            </a:r>
            <a:r>
              <a:rPr lang="en-US" sz="3200" dirty="0"/>
              <a:t>, distinguishing it from other arrays of characters.</a:t>
            </a:r>
          </a:p>
          <a:p>
            <a:pPr marL="0" indent="0">
              <a:buNone/>
            </a:pP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6033274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6DBE6-2FD5-F693-B5B3-21A518DC6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21239-AF5B-657C-287C-7EA8D9E5E5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/>
          <a:lstStyle/>
          <a:p>
            <a:pPr marL="0" indent="0">
              <a:buNone/>
            </a:pPr>
            <a:r>
              <a:rPr lang="en-US" sz="2400" b="1" dirty="0"/>
              <a:t>Characteristics of Strings in C: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Null Termination: </a:t>
            </a:r>
            <a:r>
              <a:rPr lang="en-US" dirty="0"/>
              <a:t>Every string in C is </a:t>
            </a:r>
            <a:r>
              <a:rPr lang="en-US" b="1" dirty="0">
                <a:solidFill>
                  <a:srgbClr val="C00000"/>
                </a:solidFill>
              </a:rPr>
              <a:t>terminated with the null character </a:t>
            </a:r>
            <a:r>
              <a:rPr lang="en-US" b="1" dirty="0"/>
              <a:t>\0</a:t>
            </a:r>
            <a:r>
              <a:rPr lang="en-US" dirty="0"/>
              <a:t>. This allows functions like </a:t>
            </a:r>
            <a:r>
              <a:rPr lang="en-US" dirty="0" err="1"/>
              <a:t>printf</a:t>
            </a:r>
            <a:r>
              <a:rPr lang="en-US" dirty="0"/>
              <a:t> to know where the string ends.</a:t>
            </a:r>
          </a:p>
          <a:p>
            <a:pPr lvl="1"/>
            <a:r>
              <a:rPr lang="en-US" b="1" dirty="0"/>
              <a:t>Example: </a:t>
            </a:r>
            <a:r>
              <a:rPr lang="en-US" dirty="0"/>
              <a:t>The string </a:t>
            </a:r>
            <a:r>
              <a:rPr lang="en-US" b="1" dirty="0"/>
              <a:t>"Hello" </a:t>
            </a:r>
            <a:r>
              <a:rPr lang="en-US" dirty="0"/>
              <a:t>is stored in memory as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Declaration: </a:t>
            </a:r>
            <a:r>
              <a:rPr lang="en-US" dirty="0"/>
              <a:t>Strings can be declared as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6E465A2-2F94-0C6F-1E7E-6951F6FAC0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52" y="2175838"/>
            <a:ext cx="4817934" cy="757334"/>
          </a:xfrm>
          <a:prstGeom prst="rect">
            <a:avLst/>
          </a:prstGeom>
        </p:spPr>
      </p:pic>
      <p:pic>
        <p:nvPicPr>
          <p:cNvPr id="6" name="Picture 5" descr="A screenshot of a video game">
            <a:extLst>
              <a:ext uri="{FF2B5EF4-FFF2-40B4-BE49-F238E27FC236}">
                <a16:creationId xmlns:a16="http://schemas.microsoft.com/office/drawing/2014/main" id="{B58C2051-642C-EA44-6799-5CA98B25AA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35" t="18821" r="2768" b="25911"/>
          <a:stretch/>
        </p:blipFill>
        <p:spPr>
          <a:xfrm>
            <a:off x="1208919" y="3924829"/>
            <a:ext cx="10477984" cy="1507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5502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DBDF3-C26C-E881-422E-370C2224A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2B259-8451-CE03-8C66-F2ABD43D65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3. </a:t>
            </a:r>
            <a:r>
              <a:rPr lang="en-IN" sz="2400" b="1" dirty="0"/>
              <a:t>Input and Output</a:t>
            </a:r>
            <a:r>
              <a:rPr lang="en-IN" sz="2400" dirty="0"/>
              <a:t>:</a:t>
            </a:r>
          </a:p>
          <a:p>
            <a:r>
              <a:rPr lang="en-IN" sz="2400" b="1" dirty="0"/>
              <a:t>To read a string: </a:t>
            </a:r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r>
              <a:rPr lang="en-IN" sz="2400" b="1" dirty="0"/>
              <a:t>To print a string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AF4042-2E64-1C2C-8E52-86ACB7E0A7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2612" y="1986697"/>
            <a:ext cx="10299938" cy="104016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3B56D42-8C5A-B932-9AA1-6A747A0FAA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4486" y="4349526"/>
            <a:ext cx="3838095" cy="8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6587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C2A37-2947-9B78-087E-92CC31974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534680-72E8-7F48-74F9-5F81DC82F7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4. String Handling Functions: </a:t>
            </a:r>
            <a:r>
              <a:rPr lang="en-US" sz="2400" dirty="0"/>
              <a:t>The </a:t>
            </a:r>
            <a:r>
              <a:rPr lang="en-US" sz="2400" b="1" dirty="0" err="1">
                <a:solidFill>
                  <a:srgbClr val="C00000"/>
                </a:solidFill>
              </a:rPr>
              <a:t>string.h</a:t>
            </a:r>
            <a:r>
              <a:rPr lang="en-US" sz="2400" b="1" dirty="0">
                <a:solidFill>
                  <a:srgbClr val="C00000"/>
                </a:solidFill>
              </a:rPr>
              <a:t> </a:t>
            </a:r>
            <a:r>
              <a:rPr lang="en-US" sz="2400" dirty="0"/>
              <a:t>header file provides useful functions to work with strings:</a:t>
            </a:r>
          </a:p>
          <a:p>
            <a:r>
              <a:rPr lang="en-US" sz="2400" dirty="0" err="1"/>
              <a:t>strlen</a:t>
            </a:r>
            <a:r>
              <a:rPr lang="en-US" sz="2400" dirty="0"/>
              <a:t>(str): Returns the length of the string (excluding \0).</a:t>
            </a:r>
          </a:p>
          <a:p>
            <a:r>
              <a:rPr lang="en-US" sz="2400" dirty="0" err="1"/>
              <a:t>strcpy</a:t>
            </a:r>
            <a:r>
              <a:rPr lang="en-US" sz="2400" dirty="0"/>
              <a:t>(</a:t>
            </a:r>
            <a:r>
              <a:rPr lang="en-US" sz="2400" dirty="0" err="1"/>
              <a:t>dest</a:t>
            </a:r>
            <a:r>
              <a:rPr lang="en-US" sz="2400" dirty="0"/>
              <a:t>, </a:t>
            </a:r>
            <a:r>
              <a:rPr lang="en-US" sz="2400" dirty="0" err="1"/>
              <a:t>src</a:t>
            </a:r>
            <a:r>
              <a:rPr lang="en-US" sz="2400" dirty="0"/>
              <a:t>): Copies the string </a:t>
            </a:r>
            <a:r>
              <a:rPr lang="en-US" sz="2400" dirty="0" err="1"/>
              <a:t>src</a:t>
            </a:r>
            <a:r>
              <a:rPr lang="en-US" sz="2400" dirty="0"/>
              <a:t> into </a:t>
            </a:r>
            <a:r>
              <a:rPr lang="en-US" sz="2400" dirty="0" err="1"/>
              <a:t>dest</a:t>
            </a:r>
            <a:r>
              <a:rPr lang="en-US" sz="2400" dirty="0"/>
              <a:t>.</a:t>
            </a:r>
          </a:p>
          <a:p>
            <a:r>
              <a:rPr lang="en-US" sz="2400" dirty="0" err="1"/>
              <a:t>strcat</a:t>
            </a:r>
            <a:r>
              <a:rPr lang="en-US" sz="2400" dirty="0"/>
              <a:t>(</a:t>
            </a:r>
            <a:r>
              <a:rPr lang="en-US" sz="2400" dirty="0" err="1"/>
              <a:t>dest</a:t>
            </a:r>
            <a:r>
              <a:rPr lang="en-US" sz="2400" dirty="0"/>
              <a:t>, </a:t>
            </a:r>
            <a:r>
              <a:rPr lang="en-US" sz="2400" dirty="0" err="1"/>
              <a:t>src</a:t>
            </a:r>
            <a:r>
              <a:rPr lang="en-US" sz="2400" dirty="0"/>
              <a:t>): Concatenates </a:t>
            </a:r>
            <a:r>
              <a:rPr lang="en-US" sz="2400" dirty="0" err="1"/>
              <a:t>src</a:t>
            </a:r>
            <a:r>
              <a:rPr lang="en-US" sz="2400" dirty="0"/>
              <a:t> at the end of </a:t>
            </a:r>
            <a:r>
              <a:rPr lang="en-US" sz="2400" dirty="0" err="1"/>
              <a:t>dest</a:t>
            </a:r>
            <a:r>
              <a:rPr lang="en-US" sz="2400" dirty="0"/>
              <a:t>.</a:t>
            </a:r>
          </a:p>
          <a:p>
            <a:r>
              <a:rPr lang="en-US" sz="2400" dirty="0" err="1"/>
              <a:t>strcmp</a:t>
            </a:r>
            <a:r>
              <a:rPr lang="en-US" sz="2400" dirty="0"/>
              <a:t>(str1, str2): Compares two strings (0 if they are equal, non-zero otherwise).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5. String Manipulation: </a:t>
            </a:r>
            <a:r>
              <a:rPr lang="en-US" sz="2400" dirty="0"/>
              <a:t>Strings in C are </a:t>
            </a:r>
            <a:r>
              <a:rPr lang="en-US" sz="2400" b="1" dirty="0">
                <a:solidFill>
                  <a:srgbClr val="C00000"/>
                </a:solidFill>
              </a:rPr>
              <a:t>mutable</a:t>
            </a:r>
            <a:r>
              <a:rPr lang="en-US" sz="2400" dirty="0"/>
              <a:t> (</a:t>
            </a:r>
            <a:r>
              <a:rPr lang="en-US" sz="2400" b="1" dirty="0"/>
              <a:t>modifiable</a:t>
            </a:r>
            <a:r>
              <a:rPr lang="en-US" sz="2400" dirty="0"/>
              <a:t>). You can modify </a:t>
            </a:r>
            <a:r>
              <a:rPr lang="en-US" sz="2400" b="1" dirty="0"/>
              <a:t>individual characters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44B2AD-629C-9F43-609F-CB1ABE65DC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6439" y="4740810"/>
            <a:ext cx="7409524" cy="12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1219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C6768-7B13-3AAF-AB83-FE516DD88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B379D8-8261-66FA-A6DF-9E494E1B22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1001486"/>
            <a:ext cx="10659110" cy="36684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String operations:</a:t>
            </a:r>
          </a:p>
          <a:p>
            <a:pPr marL="0" indent="0">
              <a:buNone/>
            </a:pPr>
            <a:r>
              <a:rPr lang="en-US" sz="2800" dirty="0"/>
              <a:t>In C, string operations include </a:t>
            </a:r>
            <a:r>
              <a:rPr lang="en-US" sz="2800" b="1" dirty="0">
                <a:solidFill>
                  <a:srgbClr val="C00000"/>
                </a:solidFill>
              </a:rPr>
              <a:t>creating</a:t>
            </a:r>
            <a:r>
              <a:rPr lang="en-US" sz="2800" dirty="0"/>
              <a:t>, </a:t>
            </a:r>
            <a:r>
              <a:rPr lang="en-US" sz="2800" b="1" dirty="0">
                <a:solidFill>
                  <a:srgbClr val="C00000"/>
                </a:solidFill>
              </a:rPr>
              <a:t>manipulating</a:t>
            </a:r>
            <a:r>
              <a:rPr lang="en-US" sz="2800" dirty="0"/>
              <a:t>, and </a:t>
            </a:r>
            <a:r>
              <a:rPr lang="en-US" sz="2800" b="1" dirty="0">
                <a:solidFill>
                  <a:srgbClr val="C00000"/>
                </a:solidFill>
              </a:rPr>
              <a:t>analyzing</a:t>
            </a:r>
            <a:r>
              <a:rPr lang="en-US" sz="2800" dirty="0"/>
              <a:t> </a:t>
            </a:r>
            <a:r>
              <a:rPr lang="en-US" sz="2800" b="1" dirty="0"/>
              <a:t>strings</a:t>
            </a:r>
            <a:r>
              <a:rPr lang="en-US" sz="2800" dirty="0"/>
              <a:t>. The </a:t>
            </a:r>
            <a:r>
              <a:rPr lang="en-US" sz="2800" b="1" dirty="0" err="1">
                <a:solidFill>
                  <a:srgbClr val="C00000"/>
                </a:solidFill>
              </a:rPr>
              <a:t>string.h</a:t>
            </a:r>
            <a:r>
              <a:rPr lang="en-US" sz="2800" dirty="0"/>
              <a:t> header file provides a variety of built-in functions for working with strings.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35879241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0D882-3C33-8498-14FA-9987B2386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C79908-8486-E3E7-0D85-25B22F86B1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en-US" sz="2400" b="1" dirty="0"/>
              <a:t>String Initialization: </a:t>
            </a:r>
            <a:r>
              <a:rPr lang="en-US" sz="2400" dirty="0"/>
              <a:t>Strings are declared as </a:t>
            </a:r>
            <a:r>
              <a:rPr lang="en-US" sz="2400" b="1" dirty="0">
                <a:solidFill>
                  <a:srgbClr val="C00000"/>
                </a:solidFill>
              </a:rPr>
              <a:t>arrays of characters </a:t>
            </a:r>
            <a:r>
              <a:rPr lang="en-US" sz="2400" dirty="0"/>
              <a:t>and </a:t>
            </a:r>
            <a:r>
              <a:rPr lang="en-US" sz="2400" b="1" dirty="0">
                <a:solidFill>
                  <a:srgbClr val="C00000"/>
                </a:solidFill>
              </a:rPr>
              <a:t>must be null-terminated</a:t>
            </a:r>
            <a:r>
              <a:rPr lang="en-US" sz="2400" dirty="0"/>
              <a:t>.</a:t>
            </a:r>
          </a:p>
          <a:p>
            <a:pPr marL="457200" indent="-457200">
              <a:buAutoNum type="arabicPeriod"/>
            </a:pPr>
            <a:endParaRPr lang="en-US" sz="2400" dirty="0"/>
          </a:p>
          <a:p>
            <a:pPr marL="457200" indent="-457200">
              <a:buAutoNum type="arabicPeriod"/>
            </a:pPr>
            <a:endParaRPr lang="en-US" sz="2400" dirty="0"/>
          </a:p>
          <a:p>
            <a:pPr marL="457200" indent="-457200">
              <a:buAutoNum type="arabicPeriod"/>
            </a:pPr>
            <a:endParaRPr lang="en-US" sz="2400" dirty="0"/>
          </a:p>
          <a:p>
            <a:pPr marL="457200" indent="-457200">
              <a:buAutoNum type="arabicPeriod"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Example:</a:t>
            </a:r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6ED0B65-03DC-0516-D457-97C684DC98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115" y="1697699"/>
            <a:ext cx="9893728" cy="111381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A71DA2C-1FF6-34B3-B58F-16794CBB8E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7747" y="4046505"/>
            <a:ext cx="9838095" cy="14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6889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FA8BF-2338-67AD-18AF-05111B09B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54BF64-4FF2-48EC-D2B9-A3BE34C18F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2. </a:t>
            </a:r>
            <a:r>
              <a:rPr lang="en-US" sz="2400" b="1" dirty="0"/>
              <a:t>String Input and Output</a:t>
            </a:r>
          </a:p>
          <a:p>
            <a:r>
              <a:rPr lang="en-US" sz="2400" b="1" dirty="0"/>
              <a:t>Input: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2400" dirty="0"/>
              <a:t>Use </a:t>
            </a:r>
            <a:r>
              <a:rPr lang="en-US" sz="2400" b="1" dirty="0" err="1">
                <a:solidFill>
                  <a:srgbClr val="C00000"/>
                </a:solidFill>
              </a:rPr>
              <a:t>scanf</a:t>
            </a:r>
            <a:r>
              <a:rPr lang="en-US" sz="2400" dirty="0"/>
              <a:t> for </a:t>
            </a:r>
            <a:r>
              <a:rPr lang="en-US" sz="2400" b="1" dirty="0"/>
              <a:t>single-word strings</a:t>
            </a:r>
            <a:r>
              <a:rPr lang="en-US" sz="2400" dirty="0"/>
              <a:t>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2400" dirty="0"/>
              <a:t>Use </a:t>
            </a:r>
            <a:r>
              <a:rPr lang="en-US" sz="2400" b="1" dirty="0" err="1">
                <a:solidFill>
                  <a:srgbClr val="C00000"/>
                </a:solidFill>
              </a:rPr>
              <a:t>fgets</a:t>
            </a:r>
            <a:r>
              <a:rPr lang="en-US" sz="2400" dirty="0"/>
              <a:t> for </a:t>
            </a:r>
            <a:r>
              <a:rPr lang="en-US" sz="2400" b="1" dirty="0"/>
              <a:t>multi-word strings</a:t>
            </a:r>
            <a:r>
              <a:rPr lang="en-US" sz="2400" dirty="0"/>
              <a:t>.</a:t>
            </a:r>
          </a:p>
          <a:p>
            <a:endParaRPr lang="en-US" sz="2400" dirty="0"/>
          </a:p>
          <a:p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endParaRPr lang="en-US" sz="800" dirty="0"/>
          </a:p>
          <a:p>
            <a:r>
              <a:rPr lang="en-US" sz="2400" b="1" dirty="0"/>
              <a:t>Output: </a:t>
            </a:r>
            <a:r>
              <a:rPr lang="en-US" sz="2400" dirty="0"/>
              <a:t>Use </a:t>
            </a:r>
            <a:r>
              <a:rPr lang="en-US" sz="2400" b="1" dirty="0" err="1"/>
              <a:t>printf</a:t>
            </a:r>
            <a:r>
              <a:rPr lang="en-US" sz="2400" dirty="0"/>
              <a:t> to display strings.</a:t>
            </a: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70B8B3F-EB72-924C-716E-87279F2515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181" y="2489552"/>
            <a:ext cx="8505819" cy="155657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98F20D-C576-DAAE-6CE5-FA8A5A6FD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6752" y="5014961"/>
            <a:ext cx="4307734" cy="9167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7A8B369-5795-5A40-5C80-1735BAB9F431}"/>
              </a:ext>
            </a:extLst>
          </p:cNvPr>
          <p:cNvSpPr txBox="1"/>
          <p:nvPr/>
        </p:nvSpPr>
        <p:spPr>
          <a:xfrm>
            <a:off x="6596652" y="4333894"/>
            <a:ext cx="514903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str: </a:t>
            </a:r>
            <a:r>
              <a:rPr lang="en-US" sz="2000" dirty="0"/>
              <a:t>A pointer to the character array where the input string will be stored.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n: </a:t>
            </a:r>
            <a:r>
              <a:rPr lang="en-US" sz="2000" dirty="0"/>
              <a:t>The maximum number of characters to read (including the null terminator \0).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stream: </a:t>
            </a:r>
            <a:r>
              <a:rPr lang="en-US" sz="2000" dirty="0"/>
              <a:t>The input stream to read from (e.g., stdin, a file pointer, etc.).</a:t>
            </a:r>
          </a:p>
        </p:txBody>
      </p:sp>
    </p:spTree>
    <p:extLst>
      <p:ext uri="{BB962C8B-B14F-4D97-AF65-F5344CB8AC3E}">
        <p14:creationId xmlns:p14="http://schemas.microsoft.com/office/powerpoint/2010/main" val="29397247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031EF-6178-C0AD-BB38-11686055A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9CCCF4-836E-9CEA-F235-5607D1A92A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3. Finding String Length: </a:t>
            </a:r>
            <a:r>
              <a:rPr lang="en-US" sz="2400" dirty="0"/>
              <a:t>Use </a:t>
            </a:r>
            <a:r>
              <a:rPr lang="en-US" sz="2400" b="1" dirty="0" err="1">
                <a:solidFill>
                  <a:srgbClr val="C00000"/>
                </a:solidFill>
              </a:rPr>
              <a:t>strlen</a:t>
            </a:r>
            <a:r>
              <a:rPr lang="en-US" sz="2400" b="1" dirty="0">
                <a:solidFill>
                  <a:srgbClr val="C00000"/>
                </a:solidFill>
              </a:rPr>
              <a:t>()</a:t>
            </a:r>
            <a:r>
              <a:rPr lang="en-US" sz="2400" dirty="0">
                <a:solidFill>
                  <a:srgbClr val="C00000"/>
                </a:solidFill>
              </a:rPr>
              <a:t> </a:t>
            </a:r>
            <a:r>
              <a:rPr lang="en-US" sz="2400" dirty="0"/>
              <a:t>to find the length of a string (</a:t>
            </a:r>
            <a:r>
              <a:rPr lang="en-US" sz="2400" b="1" dirty="0"/>
              <a:t>excluding the null terminator</a:t>
            </a:r>
            <a:r>
              <a:rPr lang="en-US" sz="2400" dirty="0"/>
              <a:t>).</a:t>
            </a:r>
          </a:p>
          <a:p>
            <a:pPr marL="0" indent="0">
              <a:buNone/>
            </a:pPr>
            <a:r>
              <a:rPr lang="en-IN" sz="2400" b="1" dirty="0"/>
              <a:t>Prototype</a:t>
            </a:r>
            <a:r>
              <a:rPr lang="en-US" sz="2400" b="1" dirty="0"/>
              <a:t>: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r>
              <a:rPr lang="en-IN" sz="2000" b="1" dirty="0"/>
              <a:t>Parameter: </a:t>
            </a:r>
            <a:r>
              <a:rPr lang="en-IN" sz="2000" dirty="0"/>
              <a:t>A </a:t>
            </a:r>
            <a:r>
              <a:rPr lang="en-IN" sz="2000" b="1" dirty="0">
                <a:solidFill>
                  <a:srgbClr val="C00000"/>
                </a:solidFill>
              </a:rPr>
              <a:t>pointer</a:t>
            </a:r>
            <a:r>
              <a:rPr lang="en-IN" sz="2000" dirty="0"/>
              <a:t> to the string (</a:t>
            </a:r>
            <a:r>
              <a:rPr lang="en-IN" sz="2000" dirty="0" err="1"/>
              <a:t>const</a:t>
            </a:r>
            <a:r>
              <a:rPr lang="en-IN" sz="2000" dirty="0"/>
              <a:t> char *str).</a:t>
            </a:r>
          </a:p>
          <a:p>
            <a:r>
              <a:rPr lang="en-IN" sz="2000" b="1" dirty="0"/>
              <a:t>Return Type: </a:t>
            </a:r>
            <a:r>
              <a:rPr lang="en-IN" sz="2000" dirty="0"/>
              <a:t>The length of the string as a value of type </a:t>
            </a:r>
            <a:r>
              <a:rPr lang="en-IN" sz="2000" dirty="0" err="1"/>
              <a:t>size_t</a:t>
            </a:r>
            <a:r>
              <a:rPr lang="en-IN" sz="2000" dirty="0"/>
              <a:t>, which is an </a:t>
            </a:r>
            <a:r>
              <a:rPr lang="en-IN" sz="2000" b="1" dirty="0">
                <a:solidFill>
                  <a:srgbClr val="C00000"/>
                </a:solidFill>
              </a:rPr>
              <a:t>unsigned</a:t>
            </a:r>
            <a:r>
              <a:rPr lang="en-IN" sz="2000" dirty="0"/>
              <a:t> </a:t>
            </a:r>
            <a:r>
              <a:rPr lang="en-IN" sz="2000" b="1" dirty="0">
                <a:solidFill>
                  <a:srgbClr val="C00000"/>
                </a:solidFill>
              </a:rPr>
              <a:t>integral</a:t>
            </a:r>
            <a:r>
              <a:rPr lang="en-IN" sz="2000" dirty="0"/>
              <a:t> type.</a:t>
            </a: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r>
              <a:rPr lang="en-US" sz="2400" b="1" dirty="0"/>
              <a:t>Example: </a:t>
            </a:r>
          </a:p>
          <a:p>
            <a:pPr marL="0" indent="0">
              <a:buNone/>
            </a:pPr>
            <a:endParaRPr lang="en-IN" sz="2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A3A468-0363-0EA2-D032-A7129D6A15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4514" y="4335381"/>
            <a:ext cx="7457143" cy="23238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CECC058-EE18-76DD-B57B-330237B6D7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8762" y="1732727"/>
            <a:ext cx="6695238" cy="75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43042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22DED-1F19-B25E-A49A-919BA6B33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288BCF-8553-147A-F6A0-BCCABE96D9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33023"/>
            <a:ext cx="10659110" cy="56439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4. </a:t>
            </a:r>
            <a:r>
              <a:rPr lang="en-US" sz="2400" b="1" dirty="0"/>
              <a:t>Copying Strings: </a:t>
            </a:r>
            <a:r>
              <a:rPr lang="en-US" sz="2400" dirty="0"/>
              <a:t>In C, copying strings involves </a:t>
            </a:r>
            <a:r>
              <a:rPr lang="en-US" sz="2400" b="1" dirty="0">
                <a:solidFill>
                  <a:srgbClr val="C00000"/>
                </a:solidFill>
              </a:rPr>
              <a:t>transferring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the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content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of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one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string</a:t>
            </a:r>
            <a:r>
              <a:rPr lang="en-US" sz="2400" dirty="0"/>
              <a:t> (source) into </a:t>
            </a:r>
            <a:r>
              <a:rPr lang="en-US" sz="2400" b="1" dirty="0"/>
              <a:t>another</a:t>
            </a:r>
            <a:r>
              <a:rPr lang="en-US" sz="2400" dirty="0"/>
              <a:t> </a:t>
            </a:r>
            <a:r>
              <a:rPr lang="en-US" sz="2400" b="1" dirty="0"/>
              <a:t>string</a:t>
            </a:r>
            <a:r>
              <a:rPr lang="en-US" sz="2400" dirty="0"/>
              <a:t> (destination). Use </a:t>
            </a:r>
            <a:r>
              <a:rPr lang="en-US" sz="2400" b="1" dirty="0" err="1">
                <a:solidFill>
                  <a:srgbClr val="C00000"/>
                </a:solidFill>
              </a:rPr>
              <a:t>strcpy</a:t>
            </a:r>
            <a:r>
              <a:rPr lang="en-US" sz="2400" dirty="0"/>
              <a:t> or </a:t>
            </a:r>
            <a:r>
              <a:rPr lang="en-US" sz="2400" b="1" dirty="0" err="1">
                <a:solidFill>
                  <a:srgbClr val="C00000"/>
                </a:solidFill>
              </a:rPr>
              <a:t>strncpy</a:t>
            </a:r>
            <a:r>
              <a:rPr lang="en-US" sz="2400" dirty="0"/>
              <a:t> to copy one </a:t>
            </a:r>
            <a:r>
              <a:rPr lang="en-US" sz="2400" b="1" dirty="0"/>
              <a:t>string</a:t>
            </a:r>
            <a:r>
              <a:rPr lang="en-US" sz="2400" dirty="0"/>
              <a:t> </a:t>
            </a:r>
            <a:r>
              <a:rPr lang="en-US" sz="2400" b="1" dirty="0"/>
              <a:t>into</a:t>
            </a:r>
            <a:r>
              <a:rPr lang="en-US" sz="2400" dirty="0"/>
              <a:t> </a:t>
            </a:r>
            <a:r>
              <a:rPr lang="en-US" sz="2400" b="1" dirty="0"/>
              <a:t>another</a:t>
            </a:r>
            <a:r>
              <a:rPr lang="en-US" sz="2400" dirty="0"/>
              <a:t>.</a:t>
            </a:r>
          </a:p>
          <a:p>
            <a:r>
              <a:rPr lang="en-US" sz="2400" b="1" dirty="0" err="1"/>
              <a:t>strcpy</a:t>
            </a:r>
            <a:r>
              <a:rPr lang="en-US" sz="2400" dirty="0"/>
              <a:t> does not perform bounds checking.</a:t>
            </a:r>
          </a:p>
          <a:p>
            <a:r>
              <a:rPr lang="en-US" sz="2400" b="1" dirty="0" err="1"/>
              <a:t>strncpy</a:t>
            </a:r>
            <a:r>
              <a:rPr lang="en-US" sz="2400" dirty="0"/>
              <a:t> allows you to specify the number of characters to copy.</a:t>
            </a:r>
          </a:p>
          <a:p>
            <a:pPr marL="0" indent="0">
              <a:buNone/>
            </a:pPr>
            <a:endParaRPr lang="en-US" sz="800" dirty="0"/>
          </a:p>
          <a:p>
            <a:r>
              <a:rPr lang="en-US" sz="2400" b="1" dirty="0"/>
              <a:t>Using </a:t>
            </a:r>
            <a:r>
              <a:rPr lang="en-US" sz="2400" b="1" dirty="0" err="1">
                <a:solidFill>
                  <a:srgbClr val="C00000"/>
                </a:solidFill>
              </a:rPr>
              <a:t>strcpy</a:t>
            </a:r>
            <a:r>
              <a:rPr lang="en-US" sz="2400" b="1" dirty="0">
                <a:solidFill>
                  <a:srgbClr val="C00000"/>
                </a:solidFill>
              </a:rPr>
              <a:t>(): </a:t>
            </a:r>
          </a:p>
          <a:p>
            <a:pPr marL="0" indent="0">
              <a:buNone/>
            </a:pPr>
            <a:r>
              <a:rPr lang="en-US" sz="2400" dirty="0"/>
              <a:t>The </a:t>
            </a:r>
            <a:r>
              <a:rPr lang="en-US" sz="2400" dirty="0" err="1"/>
              <a:t>strcpy</a:t>
            </a:r>
            <a:r>
              <a:rPr lang="en-US" sz="2400" dirty="0"/>
              <a:t> function </a:t>
            </a:r>
            <a:r>
              <a:rPr lang="en-US" sz="2400" b="1" dirty="0">
                <a:solidFill>
                  <a:srgbClr val="C00000"/>
                </a:solidFill>
              </a:rPr>
              <a:t>copies the entire</a:t>
            </a:r>
            <a:r>
              <a:rPr lang="en-US" sz="2400" dirty="0"/>
              <a:t> </a:t>
            </a:r>
            <a:r>
              <a:rPr lang="en-US" sz="2400" b="1" dirty="0"/>
              <a:t>source string </a:t>
            </a:r>
            <a:r>
              <a:rPr lang="en-US" sz="2400" dirty="0"/>
              <a:t>(including the null terminator \0) into the </a:t>
            </a:r>
            <a:r>
              <a:rPr lang="en-US" sz="2400" b="1" dirty="0"/>
              <a:t>destination</a:t>
            </a:r>
            <a:r>
              <a:rPr lang="en-US" sz="2400" dirty="0"/>
              <a:t> </a:t>
            </a:r>
            <a:r>
              <a:rPr lang="en-US" sz="2400" b="1" dirty="0"/>
              <a:t>string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b="1" dirty="0"/>
              <a:t>Prototype: </a:t>
            </a: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02E0B9-38C7-CE26-D163-BEE75E92EF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1090" y="4070898"/>
            <a:ext cx="7323809" cy="72381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872745-2F7B-F88F-1971-5975A004E267}"/>
              </a:ext>
            </a:extLst>
          </p:cNvPr>
          <p:cNvSpPr txBox="1"/>
          <p:nvPr/>
        </p:nvSpPr>
        <p:spPr>
          <a:xfrm>
            <a:off x="1001486" y="5001538"/>
            <a:ext cx="9535795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b="1" dirty="0"/>
              <a:t>Destination: </a:t>
            </a:r>
            <a:r>
              <a:rPr lang="en-IN" sz="2000" dirty="0"/>
              <a:t>Must be </a:t>
            </a:r>
            <a:r>
              <a:rPr lang="en-IN" sz="2000" b="1" dirty="0">
                <a:solidFill>
                  <a:srgbClr val="FF0000"/>
                </a:solidFill>
              </a:rPr>
              <a:t>large enough </a:t>
            </a:r>
            <a:r>
              <a:rPr lang="en-IN" sz="2000" dirty="0"/>
              <a:t>to hold the source string, including the null terminator.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b="1" dirty="0"/>
              <a:t>Source: </a:t>
            </a:r>
            <a:r>
              <a:rPr lang="en-IN" sz="2000" dirty="0"/>
              <a:t>The string to be copied.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b="1" dirty="0"/>
              <a:t>Return Value: </a:t>
            </a:r>
            <a:r>
              <a:rPr lang="en-IN" sz="2000" b="1" dirty="0">
                <a:solidFill>
                  <a:srgbClr val="FF0000"/>
                </a:solidFill>
              </a:rPr>
              <a:t>A pointer </a:t>
            </a:r>
            <a:r>
              <a:rPr lang="en-IN" sz="2000" dirty="0"/>
              <a:t>to the destination string.</a:t>
            </a:r>
          </a:p>
        </p:txBody>
      </p:sp>
    </p:spTree>
    <p:extLst>
      <p:ext uri="{BB962C8B-B14F-4D97-AF65-F5344CB8AC3E}">
        <p14:creationId xmlns:p14="http://schemas.microsoft.com/office/powerpoint/2010/main" val="36764091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B9559-56EA-212B-512D-60AF0A46F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EF8C54-A35E-2DCC-EE87-0E7EE815F0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/>
          <a:lstStyle/>
          <a:p>
            <a:pPr marL="0" indent="0">
              <a:buNone/>
            </a:pPr>
            <a:r>
              <a:rPr lang="en-US" b="1"/>
              <a:t>Example:</a:t>
            </a:r>
          </a:p>
          <a:p>
            <a:pPr marL="0" indent="0">
              <a:buNone/>
            </a:pPr>
            <a:endParaRPr lang="en-IN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3DE4D0-368F-BD80-0271-A8EC2032B0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2495" y="1191568"/>
            <a:ext cx="8126933" cy="5002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80510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7B438-C994-6BD4-D92A-B71BA7B0A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68C33D-A563-F7B3-CAAE-0E57F0DBFC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Using </a:t>
            </a:r>
            <a:r>
              <a:rPr lang="en-US" sz="2400" b="1" dirty="0" err="1"/>
              <a:t>strncpy</a:t>
            </a:r>
            <a:r>
              <a:rPr lang="en-US" sz="2400" b="1" dirty="0"/>
              <a:t>():</a:t>
            </a:r>
          </a:p>
          <a:p>
            <a:pPr marL="0" indent="0">
              <a:buNone/>
            </a:pPr>
            <a:r>
              <a:rPr lang="en-US" sz="2400" dirty="0"/>
              <a:t>The </a:t>
            </a:r>
            <a:r>
              <a:rPr lang="en-US" sz="2400" b="1" dirty="0" err="1"/>
              <a:t>strncpy</a:t>
            </a:r>
            <a:r>
              <a:rPr lang="en-US" sz="2400" dirty="0"/>
              <a:t> function allows you to </a:t>
            </a:r>
            <a:r>
              <a:rPr lang="en-US" sz="2400" b="1" dirty="0">
                <a:solidFill>
                  <a:srgbClr val="C00000"/>
                </a:solidFill>
              </a:rPr>
              <a:t>specify the number of characters to copy</a:t>
            </a:r>
            <a:r>
              <a:rPr lang="en-US" sz="2400" dirty="0"/>
              <a:t>. This is </a:t>
            </a:r>
            <a:r>
              <a:rPr lang="en-US" sz="2400" b="1" dirty="0"/>
              <a:t>safer</a:t>
            </a:r>
            <a:r>
              <a:rPr lang="en-US" sz="2400" dirty="0"/>
              <a:t> and prevents buffer overflow if the </a:t>
            </a:r>
            <a:r>
              <a:rPr lang="en-US" sz="2400" b="1" dirty="0"/>
              <a:t>source string is larger than the destination buffer.</a:t>
            </a:r>
          </a:p>
          <a:p>
            <a:pPr marL="0" indent="0">
              <a:buNone/>
            </a:pPr>
            <a:r>
              <a:rPr lang="en-US" sz="2400" b="1" dirty="0"/>
              <a:t>Prototype: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pPr>
              <a:buFont typeface="Courier New" panose="02070309020205020404" pitchFamily="49" charset="0"/>
              <a:buChar char="o"/>
            </a:pPr>
            <a:r>
              <a:rPr lang="en-US" sz="2400" b="1" dirty="0"/>
              <a:t>num: </a:t>
            </a:r>
            <a:r>
              <a:rPr lang="en-US" sz="2400" dirty="0"/>
              <a:t>Maximum number of </a:t>
            </a:r>
            <a:r>
              <a:rPr lang="en-US" sz="2400" b="1" dirty="0"/>
              <a:t>characters</a:t>
            </a:r>
            <a:r>
              <a:rPr lang="en-US" sz="2400" dirty="0"/>
              <a:t> </a:t>
            </a:r>
            <a:r>
              <a:rPr lang="en-US" sz="2400" b="1" dirty="0"/>
              <a:t>to</a:t>
            </a:r>
            <a:r>
              <a:rPr lang="en-US" sz="2400" dirty="0"/>
              <a:t> </a:t>
            </a:r>
            <a:r>
              <a:rPr lang="en-US" sz="2400" b="1" dirty="0"/>
              <a:t>copy</a:t>
            </a:r>
            <a:r>
              <a:rPr lang="en-US" sz="2400" dirty="0"/>
              <a:t>.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2400" b="1" dirty="0"/>
              <a:t>Null Termination: </a:t>
            </a:r>
            <a:r>
              <a:rPr lang="en-US" sz="2400" dirty="0"/>
              <a:t>If the source string length is less than num, the destination string is </a:t>
            </a:r>
            <a:r>
              <a:rPr lang="en-US" sz="2400" b="1" dirty="0"/>
              <a:t>padded with null characters (\0).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2400" dirty="0"/>
              <a:t>If the source is longer than num, the </a:t>
            </a:r>
            <a:r>
              <a:rPr lang="en-US" sz="2400" b="1" dirty="0"/>
              <a:t>destination will not be null-terminated</a:t>
            </a:r>
            <a:r>
              <a:rPr lang="en-US" sz="2400" dirty="0"/>
              <a:t>, so you may need to handle this manually.</a:t>
            </a: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E7B9AC-0D94-3734-9A96-CABB80256C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609" y="2828971"/>
            <a:ext cx="9792782" cy="600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3415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348C7-9B7A-F17D-966E-492C30A55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7BD6E8-EAEB-7C06-BA4F-123F975EE7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Example:</a:t>
            </a: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6B683E-A9C0-5986-1C41-A1E53CF5AC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6172" y="388607"/>
            <a:ext cx="8187514" cy="6080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0181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0BEC0-2950-FFED-57E0-EA9B38149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BCF7B7-C63A-147A-DD00-171AC31296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381000"/>
            <a:ext cx="10659110" cy="59980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5. Concatenating Strings: </a:t>
            </a:r>
            <a:r>
              <a:rPr lang="en-US" sz="2400" dirty="0"/>
              <a:t>String concatenation in C involves </a:t>
            </a:r>
            <a:r>
              <a:rPr lang="en-US" sz="2400" b="1" dirty="0"/>
              <a:t>joining two strings into one by appending the characters of one string </a:t>
            </a:r>
            <a:r>
              <a:rPr lang="en-US" sz="2400" dirty="0"/>
              <a:t>(source) </a:t>
            </a:r>
            <a:r>
              <a:rPr lang="en-US" sz="2400" b="1" dirty="0"/>
              <a:t>to the end of another </a:t>
            </a:r>
            <a:r>
              <a:rPr lang="en-US" sz="2400" dirty="0"/>
              <a:t>(destination). Use </a:t>
            </a:r>
            <a:r>
              <a:rPr lang="en-US" sz="2400" dirty="0" err="1"/>
              <a:t>strcat</a:t>
            </a:r>
            <a:r>
              <a:rPr lang="en-US" sz="2400" dirty="0"/>
              <a:t> or </a:t>
            </a:r>
            <a:r>
              <a:rPr lang="en-US" sz="2400" dirty="0" err="1"/>
              <a:t>strncat</a:t>
            </a:r>
            <a:r>
              <a:rPr lang="en-US" sz="2400" dirty="0"/>
              <a:t> to concatenate two strings.</a:t>
            </a:r>
          </a:p>
          <a:p>
            <a:r>
              <a:rPr lang="en-US" sz="2400" b="1" dirty="0" err="1">
                <a:solidFill>
                  <a:srgbClr val="C00000"/>
                </a:solidFill>
              </a:rPr>
              <a:t>strcat</a:t>
            </a:r>
            <a:r>
              <a:rPr lang="en-US" sz="2400" dirty="0"/>
              <a:t> appends the </a:t>
            </a:r>
            <a:r>
              <a:rPr lang="en-US" sz="2400" b="1" dirty="0"/>
              <a:t>second</a:t>
            </a:r>
            <a:r>
              <a:rPr lang="en-US" sz="2400" dirty="0"/>
              <a:t> </a:t>
            </a:r>
            <a:r>
              <a:rPr lang="en-US" sz="2400" b="1" dirty="0"/>
              <a:t>string</a:t>
            </a:r>
            <a:r>
              <a:rPr lang="en-US" sz="2400" dirty="0"/>
              <a:t> to </a:t>
            </a:r>
            <a:r>
              <a:rPr lang="en-US" sz="2400" b="1" dirty="0"/>
              <a:t>the</a:t>
            </a:r>
            <a:r>
              <a:rPr lang="en-US" sz="2400" dirty="0"/>
              <a:t> </a:t>
            </a:r>
            <a:r>
              <a:rPr lang="en-US" sz="2400" b="1" dirty="0"/>
              <a:t>first</a:t>
            </a:r>
            <a:r>
              <a:rPr lang="en-US" sz="2400" dirty="0"/>
              <a:t>.</a:t>
            </a:r>
          </a:p>
          <a:p>
            <a:r>
              <a:rPr lang="en-US" sz="2400" b="1" dirty="0" err="1">
                <a:solidFill>
                  <a:srgbClr val="C00000"/>
                </a:solidFill>
              </a:rPr>
              <a:t>strncat</a:t>
            </a:r>
            <a:r>
              <a:rPr lang="en-US" sz="2400" dirty="0"/>
              <a:t> allows you to specify the number of characters to append.</a:t>
            </a:r>
          </a:p>
          <a:p>
            <a:endParaRPr lang="en-US" sz="800" dirty="0"/>
          </a:p>
          <a:p>
            <a:r>
              <a:rPr lang="en-US" sz="2400" b="1" dirty="0"/>
              <a:t>Using </a:t>
            </a:r>
            <a:r>
              <a:rPr lang="en-US" sz="2400" b="1" dirty="0" err="1"/>
              <a:t>strcat</a:t>
            </a:r>
            <a:r>
              <a:rPr lang="en-US" sz="2400" b="1" dirty="0"/>
              <a:t>(): </a:t>
            </a:r>
          </a:p>
          <a:p>
            <a:pPr marL="0" indent="0">
              <a:buNone/>
            </a:pPr>
            <a:r>
              <a:rPr lang="en-US" sz="2400" dirty="0"/>
              <a:t>The </a:t>
            </a:r>
            <a:r>
              <a:rPr lang="en-US" sz="2400" dirty="0" err="1"/>
              <a:t>strcat</a:t>
            </a:r>
            <a:r>
              <a:rPr lang="en-US" sz="2400" dirty="0"/>
              <a:t> function concatenates the </a:t>
            </a:r>
            <a:r>
              <a:rPr lang="en-US" sz="2400" b="1" dirty="0">
                <a:solidFill>
                  <a:srgbClr val="C00000"/>
                </a:solidFill>
              </a:rPr>
              <a:t>source</a:t>
            </a:r>
            <a:r>
              <a:rPr lang="en-US" sz="2400" dirty="0"/>
              <a:t> string </a:t>
            </a:r>
            <a:r>
              <a:rPr lang="en-US" sz="2400" b="1" dirty="0">
                <a:solidFill>
                  <a:srgbClr val="C00000"/>
                </a:solidFill>
              </a:rPr>
              <a:t>to</a:t>
            </a:r>
            <a:r>
              <a:rPr lang="en-US" sz="2400" dirty="0"/>
              <a:t> the </a:t>
            </a:r>
            <a:r>
              <a:rPr lang="en-US" sz="2400" b="1" dirty="0">
                <a:solidFill>
                  <a:srgbClr val="C00000"/>
                </a:solidFill>
              </a:rPr>
              <a:t>destination</a:t>
            </a:r>
            <a:r>
              <a:rPr lang="en-US" sz="2400" dirty="0"/>
              <a:t> string, </a:t>
            </a:r>
            <a:r>
              <a:rPr lang="en-US" sz="2400" b="1" dirty="0"/>
              <a:t>starting at the null terminator </a:t>
            </a:r>
            <a:r>
              <a:rPr lang="en-US" sz="2400" dirty="0"/>
              <a:t>(\0) of the destination.</a:t>
            </a:r>
          </a:p>
          <a:p>
            <a:pPr marL="0" indent="0">
              <a:buNone/>
            </a:pPr>
            <a:r>
              <a:rPr lang="en-US" sz="2400" b="1" dirty="0"/>
              <a:t>Prototype:</a:t>
            </a:r>
          </a:p>
          <a:p>
            <a:pPr marL="0" indent="0">
              <a:buNone/>
            </a:pPr>
            <a:endParaRPr lang="en-US" sz="2400" b="1" dirty="0"/>
          </a:p>
          <a:p>
            <a:r>
              <a:rPr lang="en-US" sz="2200" b="1" dirty="0"/>
              <a:t>Destination: </a:t>
            </a:r>
            <a:r>
              <a:rPr lang="en-US" sz="2200" dirty="0"/>
              <a:t>Must be </a:t>
            </a:r>
            <a:r>
              <a:rPr lang="en-US" sz="2200" b="1" dirty="0">
                <a:solidFill>
                  <a:srgbClr val="FF0000"/>
                </a:solidFill>
              </a:rPr>
              <a:t>large enough </a:t>
            </a:r>
            <a:r>
              <a:rPr lang="en-US" sz="2200" dirty="0"/>
              <a:t>to hold the resulting string, including the null terminator.</a:t>
            </a:r>
          </a:p>
          <a:p>
            <a:r>
              <a:rPr lang="en-US" sz="2200" b="1" dirty="0"/>
              <a:t>Source: </a:t>
            </a:r>
            <a:r>
              <a:rPr lang="en-US" sz="2200" dirty="0"/>
              <a:t>The string to be appended.</a:t>
            </a:r>
          </a:p>
          <a:p>
            <a:r>
              <a:rPr lang="en-US" sz="2200" b="1" dirty="0"/>
              <a:t>Return Value: </a:t>
            </a:r>
            <a:r>
              <a:rPr lang="en-US" sz="2200" dirty="0"/>
              <a:t>A pointer to the destination string.</a:t>
            </a:r>
            <a:endParaRPr lang="en-IN" sz="2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3E78E0-CB7D-20E4-7247-74D4C785C1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3822" y="3974696"/>
            <a:ext cx="8865881" cy="693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64681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CD00D-67FE-4633-37CF-4611CB6F6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CEA592-7150-922F-9F00-3A4A5D8E5C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/>
              <a:t>Example:</a:t>
            </a: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73006B-6217-14B5-F3A3-370A4495BF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1313" y="752619"/>
            <a:ext cx="8825421" cy="5352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4517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7742C-575B-FA55-9E82-96E5C722C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6EACC7-984F-97A8-AFC8-CDD5AAA40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Using </a:t>
            </a:r>
            <a:r>
              <a:rPr lang="en-US" sz="2400" b="1" dirty="0" err="1"/>
              <a:t>strncat</a:t>
            </a:r>
            <a:r>
              <a:rPr lang="en-US" sz="2400" b="1" dirty="0"/>
              <a:t>():</a:t>
            </a:r>
          </a:p>
          <a:p>
            <a:pPr marL="0" indent="0">
              <a:buNone/>
            </a:pPr>
            <a:r>
              <a:rPr lang="en-US" sz="2400" dirty="0"/>
              <a:t>The </a:t>
            </a:r>
            <a:r>
              <a:rPr lang="en-US" sz="2400" dirty="0" err="1"/>
              <a:t>strncat</a:t>
            </a:r>
            <a:r>
              <a:rPr lang="en-US" sz="2400" dirty="0"/>
              <a:t> function is a </a:t>
            </a:r>
            <a:r>
              <a:rPr lang="en-US" sz="2400" b="1" dirty="0"/>
              <a:t>safer version of </a:t>
            </a:r>
            <a:r>
              <a:rPr lang="en-US" sz="2400" b="1" dirty="0" err="1"/>
              <a:t>strcat</a:t>
            </a:r>
            <a:r>
              <a:rPr lang="en-US" sz="2400" dirty="0"/>
              <a:t>. It allows you to specify the </a:t>
            </a:r>
            <a:r>
              <a:rPr lang="en-US" sz="2400" b="1" dirty="0">
                <a:solidFill>
                  <a:srgbClr val="C00000"/>
                </a:solidFill>
              </a:rPr>
              <a:t>maximum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number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of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characters</a:t>
            </a:r>
            <a:r>
              <a:rPr lang="en-US" sz="2400" dirty="0"/>
              <a:t> to </a:t>
            </a:r>
            <a:r>
              <a:rPr lang="en-US" sz="2400" b="1" dirty="0">
                <a:solidFill>
                  <a:srgbClr val="C00000"/>
                </a:solidFill>
              </a:rPr>
              <a:t>append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b="1" dirty="0"/>
              <a:t>Prototype: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r>
              <a:rPr lang="en-US" sz="2400" b="1" dirty="0"/>
              <a:t>num: </a:t>
            </a:r>
            <a:r>
              <a:rPr lang="en-US" sz="2400" dirty="0"/>
              <a:t>Specifies the maximum number of characters to append from the source string.</a:t>
            </a:r>
          </a:p>
          <a:p>
            <a:r>
              <a:rPr lang="en-US" sz="2400" dirty="0"/>
              <a:t>Appends at </a:t>
            </a:r>
            <a:r>
              <a:rPr lang="en-US" sz="2400" b="1" dirty="0">
                <a:solidFill>
                  <a:srgbClr val="C00000"/>
                </a:solidFill>
              </a:rPr>
              <a:t>most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num</a:t>
            </a:r>
            <a:r>
              <a:rPr lang="en-US" sz="2400" dirty="0"/>
              <a:t> characters and ensures the resulting string is null-terminated.</a:t>
            </a:r>
          </a:p>
          <a:p>
            <a:r>
              <a:rPr lang="en-US" sz="2400" dirty="0"/>
              <a:t>Useful when the size of the destination buffer is limited.</a:t>
            </a: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8F0DB4-538C-B0D8-D12C-5B1399D1B7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2007" y="2681625"/>
            <a:ext cx="10254343" cy="597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07574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BC5D3-4864-5500-3559-F8D518D1D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95F41B-EC30-5F8D-E451-E389B499E3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7868" y="1088572"/>
            <a:ext cx="10659110" cy="47243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6. Comparing Strings: </a:t>
            </a:r>
          </a:p>
          <a:p>
            <a:pPr marL="0" indent="0">
              <a:buNone/>
            </a:pPr>
            <a:r>
              <a:rPr lang="en-US" sz="2400" dirty="0"/>
              <a:t>In C, comparing strings is done to determine their </a:t>
            </a:r>
            <a:r>
              <a:rPr lang="en-US" sz="2400" b="1" dirty="0">
                <a:solidFill>
                  <a:srgbClr val="FF0000"/>
                </a:solidFill>
              </a:rPr>
              <a:t>equality</a:t>
            </a:r>
            <a:r>
              <a:rPr lang="en-US" sz="2400" dirty="0"/>
              <a:t>, </a:t>
            </a:r>
            <a:r>
              <a:rPr lang="en-US" sz="2400" b="1" dirty="0">
                <a:solidFill>
                  <a:srgbClr val="FF0000"/>
                </a:solidFill>
              </a:rPr>
              <a:t>lexical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FF0000"/>
                </a:solidFill>
              </a:rPr>
              <a:t>order</a:t>
            </a:r>
            <a:r>
              <a:rPr lang="en-US" sz="2400" dirty="0"/>
              <a:t>, or </a:t>
            </a:r>
            <a:r>
              <a:rPr lang="en-US" sz="2400" b="1" dirty="0">
                <a:solidFill>
                  <a:srgbClr val="FF0000"/>
                </a:solidFill>
              </a:rPr>
              <a:t>differences</a:t>
            </a:r>
            <a:r>
              <a:rPr lang="en-US" sz="2400" dirty="0"/>
              <a:t>. Strings are compared character by character, and C provides built-in functions in the </a:t>
            </a:r>
            <a:r>
              <a:rPr lang="en-US" sz="2400" dirty="0" err="1"/>
              <a:t>string.h</a:t>
            </a:r>
            <a:r>
              <a:rPr lang="en-US" sz="2400" dirty="0"/>
              <a:t> library for these operations. </a:t>
            </a:r>
          </a:p>
          <a:p>
            <a:pPr marL="0" indent="0">
              <a:buNone/>
            </a:pPr>
            <a:r>
              <a:rPr lang="en-US" sz="2400" b="1" dirty="0"/>
              <a:t>Use following functions to compare two strings:</a:t>
            </a:r>
          </a:p>
          <a:p>
            <a:r>
              <a:rPr lang="en-US" sz="2400" b="1" dirty="0" err="1"/>
              <a:t>strcmp</a:t>
            </a:r>
            <a:r>
              <a:rPr lang="en-US" sz="2400" b="1" dirty="0"/>
              <a:t>()</a:t>
            </a:r>
            <a:r>
              <a:rPr lang="en-US" sz="2400" dirty="0"/>
              <a:t> compares strings lexicographically (Alphabetically).</a:t>
            </a:r>
          </a:p>
          <a:p>
            <a:r>
              <a:rPr lang="en-US" sz="2400" b="1" dirty="0" err="1"/>
              <a:t>str</a:t>
            </a:r>
            <a:r>
              <a:rPr lang="en-US" sz="2400" b="1" dirty="0" err="1">
                <a:solidFill>
                  <a:srgbClr val="C00000"/>
                </a:solidFill>
              </a:rPr>
              <a:t>n</a:t>
            </a:r>
            <a:r>
              <a:rPr lang="en-US" sz="2400" b="1" dirty="0" err="1"/>
              <a:t>cmp</a:t>
            </a:r>
            <a:r>
              <a:rPr lang="en-US" sz="2400" b="1" dirty="0"/>
              <a:t>()</a:t>
            </a:r>
            <a:r>
              <a:rPr lang="en-US" sz="2400" dirty="0"/>
              <a:t> compares only the first n characters.</a:t>
            </a:r>
          </a:p>
          <a:p>
            <a:r>
              <a:rPr lang="en-US" sz="2400" b="1" dirty="0" err="1"/>
              <a:t>str</a:t>
            </a:r>
            <a:r>
              <a:rPr lang="en-US" sz="2400" b="1" dirty="0" err="1">
                <a:solidFill>
                  <a:srgbClr val="C00000"/>
                </a:solidFill>
              </a:rPr>
              <a:t>case</a:t>
            </a:r>
            <a:r>
              <a:rPr lang="en-US" sz="2400" b="1" dirty="0" err="1"/>
              <a:t>cmp</a:t>
            </a:r>
            <a:r>
              <a:rPr lang="en-US" sz="2400" b="1" dirty="0"/>
              <a:t>()</a:t>
            </a:r>
            <a:r>
              <a:rPr lang="en-US" sz="2400" dirty="0"/>
              <a:t> performs a case-insensitive comparison.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0480842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F4809-CB78-1AE8-72D2-0B62540BF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B1C8CB-6A2C-621B-9F4B-FD1175660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String Comparison Using </a:t>
            </a:r>
            <a:r>
              <a:rPr lang="en-US" sz="2400" b="1" dirty="0" err="1">
                <a:solidFill>
                  <a:srgbClr val="C00000"/>
                </a:solidFill>
              </a:rPr>
              <a:t>strcmp</a:t>
            </a:r>
            <a:r>
              <a:rPr lang="en-US" sz="2400" b="1" dirty="0"/>
              <a:t>():</a:t>
            </a:r>
          </a:p>
          <a:p>
            <a:pPr marL="0" indent="0">
              <a:buNone/>
            </a:pPr>
            <a:r>
              <a:rPr lang="en-US" sz="2400" dirty="0"/>
              <a:t>The </a:t>
            </a:r>
            <a:r>
              <a:rPr lang="en-US" sz="2400" dirty="0" err="1"/>
              <a:t>strcmp</a:t>
            </a:r>
            <a:r>
              <a:rPr lang="en-US" sz="2400" dirty="0"/>
              <a:t> function compares two strings </a:t>
            </a:r>
            <a:r>
              <a:rPr lang="en-US" sz="2400" b="1" dirty="0">
                <a:solidFill>
                  <a:srgbClr val="C00000"/>
                </a:solidFill>
              </a:rPr>
              <a:t>lexicographically</a:t>
            </a:r>
            <a:r>
              <a:rPr lang="en-US" sz="2400" dirty="0"/>
              <a:t> (</a:t>
            </a:r>
            <a:r>
              <a:rPr lang="en-US" sz="2400" b="1" dirty="0"/>
              <a:t>dictionary</a:t>
            </a:r>
            <a:r>
              <a:rPr lang="en-US" sz="2400" dirty="0"/>
              <a:t> </a:t>
            </a:r>
            <a:r>
              <a:rPr lang="en-US" sz="2400" b="1" dirty="0"/>
              <a:t>order</a:t>
            </a:r>
            <a:r>
              <a:rPr lang="en-US" sz="2400" dirty="0"/>
              <a:t>).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Prototype: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r>
              <a:rPr lang="en-US" sz="2400" b="1" dirty="0"/>
              <a:t>Return Values: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2200" dirty="0"/>
              <a:t>Returns </a:t>
            </a:r>
            <a:r>
              <a:rPr lang="en-US" sz="2200" b="1" dirty="0">
                <a:solidFill>
                  <a:srgbClr val="C00000"/>
                </a:solidFill>
              </a:rPr>
              <a:t>0</a:t>
            </a:r>
            <a:r>
              <a:rPr lang="en-US" sz="2200" dirty="0"/>
              <a:t> if the </a:t>
            </a:r>
            <a:r>
              <a:rPr lang="en-US" sz="2200" b="1" dirty="0"/>
              <a:t>strings are equal</a:t>
            </a:r>
            <a:r>
              <a:rPr lang="en-US" sz="2200" dirty="0"/>
              <a:t>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2200" dirty="0"/>
              <a:t>Returns a </a:t>
            </a:r>
            <a:r>
              <a:rPr lang="en-US" sz="2200" b="1" dirty="0">
                <a:solidFill>
                  <a:srgbClr val="C00000"/>
                </a:solidFill>
              </a:rPr>
              <a:t>negative value </a:t>
            </a:r>
            <a:r>
              <a:rPr lang="en-US" sz="2200" dirty="0"/>
              <a:t>if </a:t>
            </a:r>
            <a:r>
              <a:rPr lang="en-US" sz="2200" b="1" dirty="0"/>
              <a:t>str1</a:t>
            </a:r>
            <a:r>
              <a:rPr lang="en-US" sz="2200" dirty="0"/>
              <a:t> is </a:t>
            </a:r>
            <a:r>
              <a:rPr lang="en-US" sz="2200" b="1" dirty="0"/>
              <a:t>less</a:t>
            </a:r>
            <a:r>
              <a:rPr lang="en-US" sz="2200" dirty="0"/>
              <a:t> </a:t>
            </a:r>
            <a:r>
              <a:rPr lang="en-US" sz="2200" b="1" dirty="0"/>
              <a:t>than</a:t>
            </a:r>
            <a:r>
              <a:rPr lang="en-US" sz="2200" dirty="0"/>
              <a:t> </a:t>
            </a:r>
            <a:r>
              <a:rPr lang="en-US" sz="2200" b="1" dirty="0"/>
              <a:t>str2</a:t>
            </a:r>
            <a:r>
              <a:rPr lang="en-US" sz="2200" dirty="0"/>
              <a:t>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2200" dirty="0"/>
              <a:t>Returns a </a:t>
            </a:r>
            <a:r>
              <a:rPr lang="en-US" sz="2200" b="1" dirty="0">
                <a:solidFill>
                  <a:srgbClr val="C00000"/>
                </a:solidFill>
              </a:rPr>
              <a:t>positive value </a:t>
            </a:r>
            <a:r>
              <a:rPr lang="en-US" sz="2200" dirty="0"/>
              <a:t>if str1 is </a:t>
            </a:r>
            <a:r>
              <a:rPr lang="en-US" sz="2200" b="1" dirty="0"/>
              <a:t>greater</a:t>
            </a:r>
            <a:r>
              <a:rPr lang="en-US" sz="2200" dirty="0"/>
              <a:t> </a:t>
            </a:r>
            <a:r>
              <a:rPr lang="en-US" sz="2200" b="1" dirty="0"/>
              <a:t>than</a:t>
            </a:r>
            <a:r>
              <a:rPr lang="en-US" sz="2200" dirty="0"/>
              <a:t> </a:t>
            </a:r>
            <a:r>
              <a:rPr lang="en-US" sz="2200" b="1" dirty="0"/>
              <a:t>str2</a:t>
            </a:r>
            <a:r>
              <a:rPr lang="en-US" sz="2200" dirty="0"/>
              <a:t>.</a:t>
            </a:r>
          </a:p>
          <a:p>
            <a:r>
              <a:rPr lang="en-US" sz="2400" dirty="0"/>
              <a:t>Comparison is </a:t>
            </a:r>
            <a:r>
              <a:rPr lang="en-US" sz="2400" b="1" dirty="0">
                <a:solidFill>
                  <a:srgbClr val="C00000"/>
                </a:solidFill>
              </a:rPr>
              <a:t>case-sensitive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2947E8-2B83-5976-8D61-B5B9EE08A5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8638" y="2571857"/>
            <a:ext cx="7695238" cy="8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9489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0FFF7-B04D-D43B-DEB1-C51574924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225815-E442-5F5A-4BE9-552435AF24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Example:</a:t>
            </a: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9D0F09E-829C-C9DD-5678-E770D09F37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4771" y="1145921"/>
            <a:ext cx="9013371" cy="5048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2747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C46CE-336E-3957-0677-F9870FE93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17F4B2-F94E-7A47-F1DF-9B814E125E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String Comparison Using </a:t>
            </a:r>
            <a:r>
              <a:rPr lang="en-US" sz="2400" b="1" dirty="0" err="1">
                <a:solidFill>
                  <a:srgbClr val="C00000"/>
                </a:solidFill>
              </a:rPr>
              <a:t>strncmp</a:t>
            </a:r>
            <a:r>
              <a:rPr lang="en-US" sz="2400" b="1" dirty="0"/>
              <a:t>():</a:t>
            </a:r>
          </a:p>
          <a:p>
            <a:pPr marL="0" indent="0">
              <a:buNone/>
            </a:pPr>
            <a:r>
              <a:rPr lang="en-US" sz="2400" dirty="0"/>
              <a:t>The </a:t>
            </a:r>
            <a:r>
              <a:rPr lang="en-US" sz="2400" dirty="0" err="1"/>
              <a:t>strncmp</a:t>
            </a:r>
            <a:r>
              <a:rPr lang="en-US" sz="2400" dirty="0"/>
              <a:t> function compares up to the </a:t>
            </a:r>
            <a:r>
              <a:rPr lang="en-US" sz="2400" b="1" dirty="0">
                <a:solidFill>
                  <a:srgbClr val="C00000"/>
                </a:solidFill>
              </a:rPr>
              <a:t>first n characters </a:t>
            </a:r>
            <a:r>
              <a:rPr lang="en-US" sz="2400" dirty="0"/>
              <a:t>of two strings.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Prototype: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r>
              <a:rPr lang="en-US" sz="2400" b="1" dirty="0"/>
              <a:t>Limits the comparison </a:t>
            </a:r>
            <a:r>
              <a:rPr lang="en-US" sz="2400" dirty="0"/>
              <a:t>to at most n characters.</a:t>
            </a:r>
          </a:p>
          <a:p>
            <a:r>
              <a:rPr lang="en-US" sz="2400" dirty="0"/>
              <a:t>Useful for </a:t>
            </a:r>
            <a:r>
              <a:rPr lang="en-US" sz="2400" b="1" dirty="0">
                <a:solidFill>
                  <a:srgbClr val="C00000"/>
                </a:solidFill>
              </a:rPr>
              <a:t>partial string comparisons </a:t>
            </a:r>
            <a:r>
              <a:rPr lang="en-US" sz="2400" dirty="0"/>
              <a:t>or ensuring bounds safety.</a:t>
            </a:r>
          </a:p>
          <a:p>
            <a:r>
              <a:rPr lang="en-US" sz="2400" dirty="0"/>
              <a:t>Like </a:t>
            </a:r>
            <a:r>
              <a:rPr lang="en-US" sz="2400" dirty="0" err="1"/>
              <a:t>strcmp</a:t>
            </a:r>
            <a:r>
              <a:rPr lang="en-US" sz="2400" dirty="0"/>
              <a:t>, it is </a:t>
            </a:r>
            <a:r>
              <a:rPr lang="en-US" sz="2400" b="1" dirty="0">
                <a:solidFill>
                  <a:srgbClr val="C00000"/>
                </a:solidFill>
              </a:rPr>
              <a:t>case-sensitive</a:t>
            </a:r>
            <a:r>
              <a:rPr lang="en-US" sz="2400" dirty="0"/>
              <a:t>.</a:t>
            </a: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3289F8-06FF-A7E2-DF76-E20DD2C031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9652" y="2677639"/>
            <a:ext cx="8914286" cy="74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30691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5DE85-5B32-DD89-1447-B9F97AC77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AF7F0-EF11-A80D-E1FD-FCE75BA02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Example:</a:t>
            </a:r>
            <a:endParaRPr lang="en-IN" sz="2400" b="1" dirty="0"/>
          </a:p>
        </p:txBody>
      </p:sp>
      <p:pic>
        <p:nvPicPr>
          <p:cNvPr id="4" name="Picture 3" descr="A black screen with text on it">
            <a:extLst>
              <a:ext uri="{FF2B5EF4-FFF2-40B4-BE49-F238E27FC236}">
                <a16:creationId xmlns:a16="http://schemas.microsoft.com/office/drawing/2014/main" id="{53B9963B-C815-9328-F62D-6B0041AFA1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8" t="7650" r="3304" b="15168"/>
          <a:stretch/>
        </p:blipFill>
        <p:spPr>
          <a:xfrm>
            <a:off x="576942" y="1556657"/>
            <a:ext cx="11462659" cy="335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0195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9AF9E-263E-F35D-1259-2FDB3938C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6178E6-E65F-2E1A-999E-6A7CAE778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Case-Insensitive Comparison:</a:t>
            </a:r>
          </a:p>
          <a:p>
            <a:pPr marL="0" indent="0">
              <a:buNone/>
            </a:pPr>
            <a:r>
              <a:rPr lang="en-US" sz="2400" dirty="0"/>
              <a:t>The standard C library does not include a built-in case-insensitive string comparison function, but some compilers provide </a:t>
            </a:r>
            <a:r>
              <a:rPr lang="en-US" sz="2400" b="1" dirty="0" err="1">
                <a:solidFill>
                  <a:srgbClr val="C00000"/>
                </a:solidFill>
              </a:rPr>
              <a:t>strcasecmp</a:t>
            </a:r>
            <a:r>
              <a:rPr lang="en-US" sz="2400" dirty="0"/>
              <a:t> and </a:t>
            </a:r>
            <a:r>
              <a:rPr lang="en-US" sz="2400" b="1" dirty="0" err="1">
                <a:solidFill>
                  <a:srgbClr val="C00000"/>
                </a:solidFill>
              </a:rPr>
              <a:t>strncasecmp</a:t>
            </a:r>
            <a:r>
              <a:rPr lang="en-US" sz="2400" dirty="0"/>
              <a:t> for this purpose.</a:t>
            </a:r>
          </a:p>
          <a:p>
            <a:pPr marL="0" indent="0">
              <a:buNone/>
            </a:pPr>
            <a:r>
              <a:rPr lang="en-US" sz="2400" b="1" dirty="0"/>
              <a:t>Prototype (Non-Standard):</a:t>
            </a: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2AC720-13AB-AC42-8AC6-CCC0748BD7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20" y="2778276"/>
            <a:ext cx="10524306" cy="1301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84443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39144-F98D-2635-C290-3BA139609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D7303-34FD-F976-BDA2-67210D71E0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Example:</a:t>
            </a: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10FD0C9-C261-80CB-E418-DAAF9E3AC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914" y="1281440"/>
            <a:ext cx="10225762" cy="4868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600234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5FC8D-1660-25E4-A8B0-97689EBED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4A874-599D-477B-29E7-482D56951E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54134" y="2846614"/>
            <a:ext cx="8083731" cy="116477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6600" b="1" dirty="0">
                <a:solidFill>
                  <a:srgbClr val="002060"/>
                </a:solidFill>
              </a:rPr>
              <a:t>Searching and Sorting</a:t>
            </a:r>
            <a:endParaRPr lang="en-IN" sz="66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222319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C877D-7048-B10D-2AEF-8F63EFA57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8580C4-6A9B-B4EA-ABC9-C283B0952D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968829"/>
            <a:ext cx="10659110" cy="42454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Searching:</a:t>
            </a:r>
          </a:p>
          <a:p>
            <a:r>
              <a:rPr lang="en-US" sz="2400" dirty="0"/>
              <a:t>Searching is the process of </a:t>
            </a:r>
            <a:r>
              <a:rPr lang="en-US" sz="2400" b="1" dirty="0">
                <a:solidFill>
                  <a:srgbClr val="C00000"/>
                </a:solidFill>
              </a:rPr>
              <a:t>finding the location of a specific element </a:t>
            </a:r>
            <a:r>
              <a:rPr lang="en-US" sz="2400" dirty="0"/>
              <a:t>(</a:t>
            </a:r>
            <a:r>
              <a:rPr lang="en-US" sz="2400" b="1" dirty="0"/>
              <a:t>key</a:t>
            </a:r>
            <a:r>
              <a:rPr lang="en-US" sz="2400" dirty="0"/>
              <a:t> or </a:t>
            </a:r>
            <a:r>
              <a:rPr lang="en-US" sz="2400" b="1" dirty="0"/>
              <a:t>target</a:t>
            </a:r>
            <a:r>
              <a:rPr lang="en-US" sz="2400" dirty="0"/>
              <a:t>) in a </a:t>
            </a:r>
            <a:r>
              <a:rPr lang="en-US" sz="2400" b="1" dirty="0"/>
              <a:t>collection of elements</a:t>
            </a:r>
            <a:r>
              <a:rPr lang="en-US" sz="2400" dirty="0"/>
              <a:t>, such as an </a:t>
            </a:r>
            <a:r>
              <a:rPr lang="en-US" sz="2400" b="1" dirty="0">
                <a:solidFill>
                  <a:srgbClr val="C00000"/>
                </a:solidFill>
              </a:rPr>
              <a:t>array</a:t>
            </a:r>
            <a:r>
              <a:rPr lang="en-US" sz="2400" dirty="0"/>
              <a:t>, </a:t>
            </a:r>
            <a:r>
              <a:rPr lang="en-US" sz="2400" b="1" dirty="0">
                <a:solidFill>
                  <a:srgbClr val="C00000"/>
                </a:solidFill>
              </a:rPr>
              <a:t>list</a:t>
            </a:r>
            <a:r>
              <a:rPr lang="en-US" sz="2400" dirty="0"/>
              <a:t>, or </a:t>
            </a:r>
            <a:r>
              <a:rPr lang="en-US" sz="2400" b="1" dirty="0">
                <a:solidFill>
                  <a:srgbClr val="C00000"/>
                </a:solidFill>
              </a:rPr>
              <a:t>database</a:t>
            </a:r>
            <a:r>
              <a:rPr lang="en-US" sz="2400" dirty="0"/>
              <a:t>. </a:t>
            </a:r>
          </a:p>
          <a:p>
            <a:r>
              <a:rPr lang="en-US" sz="2400" dirty="0"/>
              <a:t>In programming, searching algorithms are used to </a:t>
            </a:r>
            <a:r>
              <a:rPr lang="en-US" sz="2400" b="1" dirty="0"/>
              <a:t>locate data </a:t>
            </a:r>
            <a:r>
              <a:rPr lang="en-US" sz="2400" b="1" dirty="0">
                <a:solidFill>
                  <a:srgbClr val="C00000"/>
                </a:solidFill>
              </a:rPr>
              <a:t>efficiently</a:t>
            </a:r>
            <a:r>
              <a:rPr lang="en-US" sz="2400" dirty="0"/>
              <a:t>, and the choice of algorithm depends on the </a:t>
            </a:r>
            <a:r>
              <a:rPr lang="en-US" sz="2400" b="1" dirty="0"/>
              <a:t>data structure </a:t>
            </a:r>
            <a:r>
              <a:rPr lang="en-US" sz="2400" dirty="0"/>
              <a:t>and the </a:t>
            </a:r>
            <a:r>
              <a:rPr lang="en-US" sz="2400" b="1" dirty="0"/>
              <a:t>nature of the data</a:t>
            </a:r>
            <a:r>
              <a:rPr lang="en-US" sz="2400" dirty="0"/>
              <a:t>. </a:t>
            </a:r>
          </a:p>
          <a:p>
            <a:pPr marL="0" indent="0">
              <a:buNone/>
            </a:pPr>
            <a:r>
              <a:rPr lang="en-US" sz="2400" b="1" dirty="0"/>
              <a:t>Types of Searching Techniques</a:t>
            </a:r>
          </a:p>
          <a:p>
            <a:pPr marL="457200" indent="-457200">
              <a:buAutoNum type="arabicPeriod"/>
            </a:pPr>
            <a:r>
              <a:rPr lang="en-US" sz="2400" dirty="0"/>
              <a:t>Linear Search</a:t>
            </a:r>
          </a:p>
          <a:p>
            <a:pPr marL="457200" indent="-457200">
              <a:buAutoNum type="arabicPeriod"/>
            </a:pPr>
            <a:r>
              <a:rPr lang="en-IN" sz="2400" dirty="0"/>
              <a:t>Binary Search</a:t>
            </a:r>
          </a:p>
        </p:txBody>
      </p:sp>
    </p:spTree>
    <p:extLst>
      <p:ext uri="{BB962C8B-B14F-4D97-AF65-F5344CB8AC3E}">
        <p14:creationId xmlns:p14="http://schemas.microsoft.com/office/powerpoint/2010/main" val="26613830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E4246-7C15-E6EF-FACA-AB51C5C57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C625BD-18A9-BCF8-4BD3-1274350DE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en-US" sz="2400" b="1" dirty="0"/>
              <a:t>Linear Search: </a:t>
            </a:r>
          </a:p>
          <a:p>
            <a:pPr marL="0" indent="0">
              <a:buNone/>
            </a:pPr>
            <a:r>
              <a:rPr lang="en-US" sz="2400" dirty="0"/>
              <a:t>Linear Search, also known as </a:t>
            </a:r>
            <a:r>
              <a:rPr lang="en-US" sz="2400" b="1" dirty="0">
                <a:solidFill>
                  <a:srgbClr val="C00000"/>
                </a:solidFill>
              </a:rPr>
              <a:t>Sequential search</a:t>
            </a:r>
            <a:r>
              <a:rPr lang="en-US" sz="2400" dirty="0"/>
              <a:t>, is the </a:t>
            </a:r>
            <a:r>
              <a:rPr lang="en-US" sz="2400" b="1" dirty="0"/>
              <a:t>simplest search algorithm</a:t>
            </a:r>
            <a:r>
              <a:rPr lang="en-US" sz="2400" dirty="0"/>
              <a:t>. It works by checking </a:t>
            </a:r>
            <a:r>
              <a:rPr lang="en-US" sz="2400" b="1" dirty="0"/>
              <a:t>each element </a:t>
            </a:r>
            <a:r>
              <a:rPr lang="en-US" sz="2400" dirty="0"/>
              <a:t>in a collection </a:t>
            </a:r>
            <a:r>
              <a:rPr lang="en-US" sz="2400" b="1" dirty="0"/>
              <a:t>one by one </a:t>
            </a:r>
            <a:r>
              <a:rPr lang="en-US" sz="2400" dirty="0"/>
              <a:t>until the </a:t>
            </a:r>
            <a:r>
              <a:rPr lang="en-US" sz="2400" b="1" dirty="0">
                <a:solidFill>
                  <a:srgbClr val="C00000"/>
                </a:solidFill>
              </a:rPr>
              <a:t>desired element (key) is found </a:t>
            </a:r>
            <a:r>
              <a:rPr lang="en-US" sz="2400" dirty="0"/>
              <a:t>or the end of the collection is reached.</a:t>
            </a:r>
          </a:p>
          <a:p>
            <a:pPr marL="0" indent="0">
              <a:buNone/>
            </a:pPr>
            <a:endParaRPr lang="en-US" sz="800" b="1" dirty="0"/>
          </a:p>
          <a:p>
            <a:pPr marL="0" indent="0">
              <a:buNone/>
            </a:pPr>
            <a:r>
              <a:rPr lang="en-US" sz="2400" b="1" dirty="0"/>
              <a:t>Characteristics of Linear Search: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b="1" dirty="0"/>
              <a:t>Unsorted Data</a:t>
            </a:r>
            <a:r>
              <a:rPr lang="en-US" sz="2400" dirty="0"/>
              <a:t>: Linear search works on both </a:t>
            </a:r>
            <a:r>
              <a:rPr lang="en-US" sz="2400" b="1" dirty="0">
                <a:solidFill>
                  <a:srgbClr val="FF0000"/>
                </a:solidFill>
              </a:rPr>
              <a:t>sorted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FF0000"/>
                </a:solidFill>
              </a:rPr>
              <a:t>unsorted</a:t>
            </a:r>
            <a:r>
              <a:rPr lang="en-US" sz="2400" dirty="0"/>
              <a:t> </a:t>
            </a:r>
            <a:r>
              <a:rPr lang="en-US" sz="2400" b="1" dirty="0"/>
              <a:t>data</a:t>
            </a:r>
            <a:r>
              <a:rPr lang="en-US" sz="24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b="1" dirty="0"/>
              <a:t>Time Complexity</a:t>
            </a:r>
            <a:r>
              <a:rPr lang="en-US" sz="24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b="1" dirty="0"/>
              <a:t>Best Case</a:t>
            </a:r>
            <a:r>
              <a:rPr lang="en-US" sz="2400" dirty="0"/>
              <a:t>: O(1) (if the target is at the </a:t>
            </a:r>
            <a:r>
              <a:rPr lang="en-US" sz="2400" b="1" dirty="0"/>
              <a:t>beginning</a:t>
            </a:r>
            <a:r>
              <a:rPr lang="en-US" sz="2400" dirty="0"/>
              <a:t>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b="1" dirty="0"/>
              <a:t>Worst Case</a:t>
            </a:r>
            <a:r>
              <a:rPr lang="en-US" sz="2400" dirty="0"/>
              <a:t>: O(n) (if the target is at the </a:t>
            </a:r>
            <a:r>
              <a:rPr lang="en-US" sz="2400" b="1" dirty="0"/>
              <a:t>end</a:t>
            </a:r>
            <a:r>
              <a:rPr lang="en-US" sz="2400" dirty="0"/>
              <a:t> or </a:t>
            </a:r>
            <a:r>
              <a:rPr lang="en-US" sz="2400" b="1" dirty="0"/>
              <a:t>not</a:t>
            </a:r>
            <a:r>
              <a:rPr lang="en-US" sz="2400" dirty="0"/>
              <a:t> </a:t>
            </a:r>
            <a:r>
              <a:rPr lang="en-US" sz="2400" b="1" dirty="0"/>
              <a:t>present</a:t>
            </a:r>
            <a:r>
              <a:rPr lang="en-US" sz="2400" dirty="0"/>
              <a:t>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b="1" dirty="0"/>
              <a:t>Average Case</a:t>
            </a:r>
            <a:r>
              <a:rPr lang="en-US" sz="2400" dirty="0"/>
              <a:t>: O(n)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b="1" dirty="0"/>
              <a:t>Space Complexity</a:t>
            </a:r>
            <a:r>
              <a:rPr lang="en-US" sz="2400" dirty="0"/>
              <a:t>: O(1) (no extra space required).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53600859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849F9-46D9-2B91-3AE7-6772148B3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BD6B72-1743-37A3-0D1D-100F010B5C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3440" y="990600"/>
            <a:ext cx="10659110" cy="40494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How Linear Search Works: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Start from the </a:t>
            </a:r>
            <a:r>
              <a:rPr lang="en-US" sz="2400" b="1" dirty="0">
                <a:solidFill>
                  <a:srgbClr val="C00000"/>
                </a:solidFill>
              </a:rPr>
              <a:t>first element </a:t>
            </a:r>
            <a:r>
              <a:rPr lang="en-US" sz="2400" dirty="0"/>
              <a:t>of the collection.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Compare the </a:t>
            </a:r>
            <a:r>
              <a:rPr lang="en-US" sz="2400" b="1" dirty="0">
                <a:solidFill>
                  <a:srgbClr val="C00000"/>
                </a:solidFill>
              </a:rPr>
              <a:t>current</a:t>
            </a:r>
            <a:r>
              <a:rPr lang="en-US" sz="2400" b="1" dirty="0"/>
              <a:t> element with the </a:t>
            </a:r>
            <a:r>
              <a:rPr lang="en-US" sz="2400" b="1" dirty="0">
                <a:solidFill>
                  <a:srgbClr val="C00000"/>
                </a:solidFill>
              </a:rPr>
              <a:t>target</a:t>
            </a:r>
            <a:r>
              <a:rPr lang="en-US" sz="2400" b="1" dirty="0"/>
              <a:t> </a:t>
            </a:r>
            <a:r>
              <a:rPr lang="en-US" sz="2400" dirty="0"/>
              <a:t>(key).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1" dirty="0"/>
              <a:t>If they match</a:t>
            </a:r>
            <a:r>
              <a:rPr lang="en-US" sz="2400" dirty="0"/>
              <a:t>, return the </a:t>
            </a:r>
            <a:r>
              <a:rPr lang="en-US" sz="2400" b="1" dirty="0"/>
              <a:t>index</a:t>
            </a:r>
            <a:r>
              <a:rPr lang="en-US" sz="2400" dirty="0"/>
              <a:t> of the current element.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If they don't match, </a:t>
            </a:r>
            <a:r>
              <a:rPr lang="en-US" sz="2400" b="1" dirty="0"/>
              <a:t>move to the next element</a:t>
            </a:r>
            <a:r>
              <a:rPr lang="en-US" sz="2400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1" dirty="0"/>
              <a:t>Repeat steps 2-4 </a:t>
            </a:r>
            <a:r>
              <a:rPr lang="en-US" sz="2400" b="1" dirty="0">
                <a:solidFill>
                  <a:srgbClr val="C00000"/>
                </a:solidFill>
              </a:rPr>
              <a:t>until the target is found </a:t>
            </a:r>
            <a:r>
              <a:rPr lang="en-US" sz="2400" dirty="0"/>
              <a:t>or the end of the collection is reached.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If the entire collection is traversed without a match, return an indication that the </a:t>
            </a:r>
            <a:r>
              <a:rPr lang="en-US" sz="2400" b="1" dirty="0">
                <a:solidFill>
                  <a:srgbClr val="C00000"/>
                </a:solidFill>
              </a:rPr>
              <a:t>element is not found </a:t>
            </a:r>
            <a:r>
              <a:rPr lang="en-US" sz="2400" dirty="0"/>
              <a:t>(e.g., -1).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11923921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5979D-B383-9C46-1239-DBAF4E9DD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ADD2C-C185-44FE-A7EC-5E1CE0120A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b="1" dirty="0"/>
              <a:t>Algorithm:</a:t>
            </a:r>
          </a:p>
          <a:p>
            <a:pPr marL="0" indent="0">
              <a:buNone/>
            </a:pPr>
            <a:endParaRPr lang="en-IN" sz="36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DA4E265-805E-522C-82D3-B727C1707C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650" y="1918085"/>
            <a:ext cx="10561800" cy="2254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748475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66E7F-DDC8-B1B0-3A2A-5227EE919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DC779-E683-3990-54BD-1B6F9E2336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Implementation in C : Example 1: </a:t>
            </a:r>
            <a:r>
              <a:rPr lang="en-IN" sz="2400" b="1" dirty="0">
                <a:solidFill>
                  <a:srgbClr val="C00000"/>
                </a:solidFill>
              </a:rPr>
              <a:t>Integer Array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C9513E3-47D2-E464-E049-077C42A8CE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100" y="1578038"/>
            <a:ext cx="10429800" cy="4002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44338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860A7-F8CD-79FC-8E37-8E939503A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718818C-5900-8789-C489-D12EBA870A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9269" y="356054"/>
            <a:ext cx="10659110" cy="6998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Main Method: </a:t>
            </a:r>
            <a:endParaRPr lang="en-IN" sz="2400" b="1" dirty="0"/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096ED09D-D3F8-8AD0-C598-36D78BF57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004" y="356054"/>
            <a:ext cx="8273394" cy="5954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543779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D11EF-149F-E8C2-2951-BF917396B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F92A93-BFC0-65F7-4528-B30E2E4752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832757"/>
            <a:ext cx="10659110" cy="51924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How </a:t>
            </a:r>
            <a:r>
              <a:rPr lang="en-US" sz="2400" b="1" dirty="0">
                <a:solidFill>
                  <a:srgbClr val="C00000"/>
                </a:solidFill>
              </a:rPr>
              <a:t>int size = </a:t>
            </a:r>
            <a:r>
              <a:rPr lang="en-US" sz="2400" b="1" dirty="0" err="1">
                <a:solidFill>
                  <a:srgbClr val="C00000"/>
                </a:solidFill>
              </a:rPr>
              <a:t>sizeof</a:t>
            </a:r>
            <a:r>
              <a:rPr lang="en-US" sz="2400" b="1" dirty="0">
                <a:solidFill>
                  <a:srgbClr val="C00000"/>
                </a:solidFill>
              </a:rPr>
              <a:t>(</a:t>
            </a:r>
            <a:r>
              <a:rPr lang="en-US" sz="2400" b="1" dirty="0" err="1">
                <a:solidFill>
                  <a:srgbClr val="C00000"/>
                </a:solidFill>
              </a:rPr>
              <a:t>arr</a:t>
            </a:r>
            <a:r>
              <a:rPr lang="en-US" sz="2400" b="1" dirty="0">
                <a:solidFill>
                  <a:srgbClr val="C00000"/>
                </a:solidFill>
              </a:rPr>
              <a:t>) / </a:t>
            </a:r>
            <a:r>
              <a:rPr lang="en-US" sz="2400" b="1" dirty="0" err="1">
                <a:solidFill>
                  <a:srgbClr val="C00000"/>
                </a:solidFill>
              </a:rPr>
              <a:t>sizeof</a:t>
            </a:r>
            <a:r>
              <a:rPr lang="en-US" sz="2400" b="1" dirty="0">
                <a:solidFill>
                  <a:srgbClr val="C00000"/>
                </a:solidFill>
              </a:rPr>
              <a:t>(</a:t>
            </a:r>
            <a:r>
              <a:rPr lang="en-US" sz="2400" b="1" dirty="0" err="1">
                <a:solidFill>
                  <a:srgbClr val="C00000"/>
                </a:solidFill>
              </a:rPr>
              <a:t>arr</a:t>
            </a:r>
            <a:r>
              <a:rPr lang="en-US" sz="2400" b="1" dirty="0">
                <a:solidFill>
                  <a:srgbClr val="C00000"/>
                </a:solidFill>
              </a:rPr>
              <a:t>[0]) </a:t>
            </a:r>
            <a:r>
              <a:rPr lang="en-US" sz="2400" b="1" dirty="0"/>
              <a:t>Works?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1" dirty="0" err="1">
                <a:solidFill>
                  <a:srgbClr val="002060"/>
                </a:solidFill>
              </a:rPr>
              <a:t>sizeof</a:t>
            </a:r>
            <a:r>
              <a:rPr lang="en-US" sz="2400" b="1" dirty="0">
                <a:solidFill>
                  <a:srgbClr val="002060"/>
                </a:solidFill>
              </a:rPr>
              <a:t>(</a:t>
            </a:r>
            <a:r>
              <a:rPr lang="en-US" sz="2400" b="1" dirty="0" err="1">
                <a:solidFill>
                  <a:srgbClr val="002060"/>
                </a:solidFill>
              </a:rPr>
              <a:t>arr</a:t>
            </a:r>
            <a:r>
              <a:rPr lang="en-US" sz="2400" b="1" dirty="0">
                <a:solidFill>
                  <a:srgbClr val="002060"/>
                </a:solidFill>
              </a:rPr>
              <a:t>): </a:t>
            </a:r>
            <a:r>
              <a:rPr lang="en-US" sz="2400" dirty="0"/>
              <a:t>The </a:t>
            </a:r>
            <a:r>
              <a:rPr lang="en-US" sz="2400" dirty="0" err="1"/>
              <a:t>sizeof</a:t>
            </a:r>
            <a:r>
              <a:rPr lang="en-US" sz="2400" dirty="0"/>
              <a:t> operator returns the total memory size (in bytes) occupied by the entire array arr.</a:t>
            </a:r>
          </a:p>
          <a:p>
            <a:pPr lvl="1"/>
            <a:r>
              <a:rPr lang="en-IN" sz="2400" b="1" dirty="0"/>
              <a:t>For example: </a:t>
            </a:r>
          </a:p>
          <a:p>
            <a:pPr lvl="1"/>
            <a:endParaRPr lang="en-IN" sz="2400" b="1" dirty="0"/>
          </a:p>
          <a:p>
            <a:pPr lvl="1"/>
            <a:endParaRPr lang="en-IN" sz="2400" b="1" dirty="0"/>
          </a:p>
          <a:p>
            <a:pPr lvl="1"/>
            <a:endParaRPr lang="en-IN" sz="2400" b="1" dirty="0"/>
          </a:p>
          <a:p>
            <a:pPr lvl="1"/>
            <a:endParaRPr lang="en-IN" sz="2400" b="1" dirty="0"/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If </a:t>
            </a:r>
            <a:r>
              <a:rPr lang="en-US" sz="2400" b="1" dirty="0" err="1"/>
              <a:t>sizeof</a:t>
            </a:r>
            <a:r>
              <a:rPr lang="en-US" sz="2400" b="1" dirty="0"/>
              <a:t>(int) </a:t>
            </a:r>
            <a:r>
              <a:rPr lang="en-US" sz="2400" dirty="0"/>
              <a:t>is </a:t>
            </a:r>
            <a:r>
              <a:rPr lang="en-US" sz="2400" b="1" dirty="0">
                <a:solidFill>
                  <a:srgbClr val="C00000"/>
                </a:solidFill>
              </a:rPr>
              <a:t>4 bytes</a:t>
            </a:r>
            <a:r>
              <a:rPr lang="en-US" sz="2400" dirty="0"/>
              <a:t>, then </a:t>
            </a:r>
            <a:r>
              <a:rPr lang="en-US" sz="2400" dirty="0" err="1"/>
              <a:t>sizeof</a:t>
            </a:r>
            <a:r>
              <a:rPr lang="en-US" sz="2400" dirty="0"/>
              <a:t>(</a:t>
            </a:r>
            <a:r>
              <a:rPr lang="en-US" sz="2400" dirty="0" err="1"/>
              <a:t>arr</a:t>
            </a:r>
            <a:r>
              <a:rPr lang="en-US" sz="2400" dirty="0"/>
              <a:t>) will be </a:t>
            </a:r>
            <a:r>
              <a:rPr lang="en-US" sz="2400" b="1" dirty="0"/>
              <a:t>5×4 = </a:t>
            </a:r>
            <a:r>
              <a:rPr lang="en-US" sz="2400" b="1" dirty="0">
                <a:solidFill>
                  <a:srgbClr val="C00000"/>
                </a:solidFill>
              </a:rPr>
              <a:t>20 bytes</a:t>
            </a:r>
            <a:r>
              <a:rPr lang="en-US" sz="2400" dirty="0"/>
              <a:t>. </a:t>
            </a:r>
          </a:p>
          <a:p>
            <a:pPr marL="457200" lvl="1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559E38-1013-DE66-753B-BBE0E55E44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286" y="2843707"/>
            <a:ext cx="9311773" cy="1170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90049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D3CD5-9BA7-AA2E-997C-C3CA90BA0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FE5269-841B-C1DF-6D61-2F6436B47C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/>
          <a:lstStyle/>
          <a:p>
            <a:pPr marL="0" indent="0">
              <a:buNone/>
            </a:pPr>
            <a:r>
              <a:rPr lang="en-US" sz="2400" b="1" dirty="0"/>
              <a:t>2. </a:t>
            </a:r>
            <a:r>
              <a:rPr lang="en-US" sz="2400" b="1" dirty="0" err="1"/>
              <a:t>sizeof</a:t>
            </a:r>
            <a:r>
              <a:rPr lang="en-US" sz="2400" b="1" dirty="0"/>
              <a:t>(</a:t>
            </a:r>
            <a:r>
              <a:rPr lang="en-US" sz="2400" b="1" dirty="0" err="1"/>
              <a:t>arr</a:t>
            </a:r>
            <a:r>
              <a:rPr lang="en-US" sz="2400" b="1" dirty="0"/>
              <a:t>[0]):</a:t>
            </a:r>
          </a:p>
          <a:p>
            <a:r>
              <a:rPr lang="en-US" sz="2400" b="1" dirty="0" err="1"/>
              <a:t>arr</a:t>
            </a:r>
            <a:r>
              <a:rPr lang="en-US" sz="2400" b="1" dirty="0"/>
              <a:t>[0] </a:t>
            </a:r>
            <a:r>
              <a:rPr lang="en-US" sz="2400" dirty="0"/>
              <a:t>refers to the </a:t>
            </a:r>
            <a:r>
              <a:rPr lang="en-US" sz="2400" b="1" dirty="0">
                <a:solidFill>
                  <a:srgbClr val="C00000"/>
                </a:solidFill>
              </a:rPr>
              <a:t>first element </a:t>
            </a:r>
            <a:r>
              <a:rPr lang="en-US" sz="2400" dirty="0"/>
              <a:t>of the array.</a:t>
            </a:r>
          </a:p>
          <a:p>
            <a:r>
              <a:rPr lang="en-US" sz="2400" dirty="0"/>
              <a:t>The </a:t>
            </a:r>
            <a:r>
              <a:rPr lang="en-US" sz="2400" dirty="0" err="1"/>
              <a:t>sizeof</a:t>
            </a:r>
            <a:r>
              <a:rPr lang="en-US" sz="2400" dirty="0"/>
              <a:t> operator returns the </a:t>
            </a:r>
            <a:r>
              <a:rPr lang="en-US" sz="2400" b="1" dirty="0">
                <a:solidFill>
                  <a:srgbClr val="C00000"/>
                </a:solidFill>
              </a:rPr>
              <a:t>memory size </a:t>
            </a:r>
            <a:r>
              <a:rPr lang="en-US" sz="2400" dirty="0"/>
              <a:t>(in bytes) of this single element.</a:t>
            </a:r>
          </a:p>
          <a:p>
            <a:r>
              <a:rPr lang="en-US" sz="2400" b="1" dirty="0"/>
              <a:t>For example:</a:t>
            </a:r>
          </a:p>
          <a:p>
            <a:endParaRPr lang="en-US" sz="2400" b="1" dirty="0"/>
          </a:p>
          <a:p>
            <a:endParaRPr lang="en-US" sz="2400" b="1" dirty="0"/>
          </a:p>
          <a:p>
            <a:endParaRPr lang="en-US" sz="2400" b="1" dirty="0"/>
          </a:p>
          <a:p>
            <a:pPr marL="0" indent="0">
              <a:buNone/>
            </a:pPr>
            <a:r>
              <a:rPr lang="en-US" sz="2400" b="1" dirty="0"/>
              <a:t>3. Division:</a:t>
            </a:r>
          </a:p>
          <a:p>
            <a:pPr marL="0" indent="0">
              <a:buNone/>
            </a:pPr>
            <a:r>
              <a:rPr lang="en-US" sz="2400" dirty="0"/>
              <a:t>To calculate the </a:t>
            </a:r>
            <a:r>
              <a:rPr lang="en-US" sz="2400" b="1" dirty="0">
                <a:solidFill>
                  <a:srgbClr val="C00000"/>
                </a:solidFill>
              </a:rPr>
              <a:t>number of elements </a:t>
            </a:r>
            <a:r>
              <a:rPr lang="en-US" sz="2400" dirty="0"/>
              <a:t>in the array, divide the total </a:t>
            </a:r>
            <a:r>
              <a:rPr lang="en-US" sz="2400" b="1" dirty="0"/>
              <a:t>size of the array </a:t>
            </a:r>
            <a:r>
              <a:rPr lang="en-US" sz="2400" dirty="0"/>
              <a:t>(</a:t>
            </a:r>
            <a:r>
              <a:rPr lang="en-US" sz="2400" dirty="0" err="1"/>
              <a:t>sizeof</a:t>
            </a:r>
            <a:r>
              <a:rPr lang="en-US" sz="2400" dirty="0"/>
              <a:t>(</a:t>
            </a:r>
            <a:r>
              <a:rPr lang="en-US" sz="2400" dirty="0" err="1"/>
              <a:t>arr</a:t>
            </a:r>
            <a:r>
              <a:rPr lang="en-US" sz="2400" dirty="0"/>
              <a:t>)) </a:t>
            </a:r>
            <a:r>
              <a:rPr lang="en-US" sz="2400" b="1" dirty="0">
                <a:solidFill>
                  <a:srgbClr val="C00000"/>
                </a:solidFill>
              </a:rPr>
              <a:t>by</a:t>
            </a:r>
            <a:r>
              <a:rPr lang="en-US" sz="2400" dirty="0"/>
              <a:t> the </a:t>
            </a:r>
            <a:r>
              <a:rPr lang="en-US" sz="2400" b="1" dirty="0"/>
              <a:t>size of a single element </a:t>
            </a:r>
            <a:r>
              <a:rPr lang="en-US" sz="2400" dirty="0"/>
              <a:t>(</a:t>
            </a:r>
            <a:r>
              <a:rPr lang="en-US" sz="2400" dirty="0" err="1"/>
              <a:t>sizeof</a:t>
            </a:r>
            <a:r>
              <a:rPr lang="en-US" sz="2400" dirty="0"/>
              <a:t>(</a:t>
            </a:r>
            <a:r>
              <a:rPr lang="en-US" sz="2400" dirty="0" err="1"/>
              <a:t>arr</a:t>
            </a:r>
            <a:r>
              <a:rPr lang="en-US" sz="2400" dirty="0"/>
              <a:t>[0])):</a:t>
            </a:r>
            <a:endParaRPr lang="en-IN" sz="2400" dirty="0"/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5411907-1C07-31A3-F304-243FB6E402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8109" y="2608258"/>
            <a:ext cx="9685714" cy="68571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86A9DF8-75A2-D6B5-9C20-0A3009579F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8857" y="5238201"/>
            <a:ext cx="8914286" cy="723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44615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CDB35-AD24-1E3C-B341-13E621F5E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093F6B-E142-B802-D5A1-9E54FC7EFB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Binary Search:</a:t>
            </a:r>
          </a:p>
          <a:p>
            <a:pPr marL="0" indent="0">
              <a:buNone/>
            </a:pPr>
            <a:r>
              <a:rPr lang="en-US" sz="2400" dirty="0"/>
              <a:t>Binary Search is an </a:t>
            </a:r>
            <a:r>
              <a:rPr lang="en-US" sz="2400" b="1" dirty="0">
                <a:solidFill>
                  <a:srgbClr val="C00000"/>
                </a:solidFill>
              </a:rPr>
              <a:t>efficient algorithm </a:t>
            </a:r>
            <a:r>
              <a:rPr lang="en-US" sz="2400" dirty="0"/>
              <a:t>for finding the position of a target element (key) in a </a:t>
            </a:r>
            <a:r>
              <a:rPr lang="en-US" sz="2400" b="1" dirty="0">
                <a:solidFill>
                  <a:srgbClr val="C00000"/>
                </a:solidFill>
              </a:rPr>
              <a:t>sorted array</a:t>
            </a:r>
            <a:r>
              <a:rPr lang="en-US" sz="2400" dirty="0"/>
              <a:t>. It works by </a:t>
            </a:r>
            <a:r>
              <a:rPr lang="en-US" sz="2400" b="1" dirty="0"/>
              <a:t>repeatedly dividing </a:t>
            </a:r>
            <a:r>
              <a:rPr lang="en-US" sz="2400" dirty="0"/>
              <a:t>the search interval in half until the target is found or the interval becomes empty.</a:t>
            </a:r>
          </a:p>
          <a:p>
            <a:pPr marL="0" indent="0">
              <a:buNone/>
            </a:pPr>
            <a:r>
              <a:rPr lang="en-IN" sz="2400" b="1" dirty="0"/>
              <a:t>Characteristics of Binary Search: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400" b="1" dirty="0"/>
              <a:t>Works only on sorted data</a:t>
            </a:r>
            <a:r>
              <a:rPr lang="en-IN" sz="24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400" b="1" dirty="0"/>
              <a:t>Time Complexity</a:t>
            </a:r>
            <a:r>
              <a:rPr lang="en-IN" sz="24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b="1" dirty="0"/>
              <a:t>Best Case</a:t>
            </a:r>
            <a:r>
              <a:rPr lang="en-IN" sz="2400" dirty="0"/>
              <a:t>: O(1) (if the middle element is the target).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b="1" dirty="0"/>
              <a:t>Worst Case</a:t>
            </a:r>
            <a:r>
              <a:rPr lang="en-IN" sz="2400" dirty="0"/>
              <a:t>: O(</a:t>
            </a:r>
            <a:r>
              <a:rPr lang="en-IN" sz="2400" dirty="0" err="1"/>
              <a:t>log⁡n</a:t>
            </a:r>
            <a:r>
              <a:rPr lang="en-IN" sz="2400" dirty="0"/>
              <a:t>) (halving the search interval each step).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b="1" dirty="0"/>
              <a:t>Average Case</a:t>
            </a:r>
            <a:r>
              <a:rPr lang="en-IN" sz="2400" dirty="0"/>
              <a:t>: O(</a:t>
            </a:r>
            <a:r>
              <a:rPr lang="en-IN" sz="2400" dirty="0" err="1"/>
              <a:t>log⁡n</a:t>
            </a:r>
            <a:r>
              <a:rPr lang="en-IN" sz="2400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400" b="1" dirty="0"/>
              <a:t>Space Complexity</a:t>
            </a:r>
            <a:r>
              <a:rPr lang="en-IN" sz="24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b="1" dirty="0"/>
              <a:t>Iterative version: </a:t>
            </a:r>
            <a:r>
              <a:rPr lang="en-IN" sz="2400" dirty="0"/>
              <a:t>O(1)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b="1" dirty="0"/>
              <a:t>Recursive version: </a:t>
            </a:r>
            <a:r>
              <a:rPr lang="en-IN" sz="2400" dirty="0"/>
              <a:t>O(</a:t>
            </a:r>
            <a:r>
              <a:rPr lang="en-IN" sz="2400" dirty="0" err="1"/>
              <a:t>log⁡n</a:t>
            </a:r>
            <a:r>
              <a:rPr lang="en-IN" sz="2400" dirty="0"/>
              <a:t>) (due to recursion stack).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83530133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DCA41D-29CA-2A11-75B7-EBC4E11F2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E94569-229E-A31E-1437-4DB2DE1D08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1012372"/>
            <a:ext cx="10659110" cy="46155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How Binary Search Works: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Start with the </a:t>
            </a:r>
            <a:r>
              <a:rPr lang="en-US" sz="2400" b="1" dirty="0">
                <a:solidFill>
                  <a:srgbClr val="C00000"/>
                </a:solidFill>
              </a:rPr>
              <a:t>entire array </a:t>
            </a:r>
            <a:r>
              <a:rPr lang="en-US" sz="2400" dirty="0"/>
              <a:t>as the search interval.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1" dirty="0"/>
              <a:t>Find the </a:t>
            </a:r>
            <a:r>
              <a:rPr lang="en-US" sz="2400" b="1" dirty="0">
                <a:solidFill>
                  <a:srgbClr val="C00000"/>
                </a:solidFill>
              </a:rPr>
              <a:t>middle element </a:t>
            </a:r>
            <a:r>
              <a:rPr lang="en-US" sz="2400" dirty="0"/>
              <a:t>of the current interval.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Compare the middle element with the target: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If the </a:t>
            </a:r>
            <a:r>
              <a:rPr lang="en-US" sz="2400" b="1" dirty="0"/>
              <a:t>middle element is equal to the target</a:t>
            </a:r>
            <a:r>
              <a:rPr lang="en-US" sz="2400" dirty="0"/>
              <a:t>, </a:t>
            </a:r>
            <a:r>
              <a:rPr lang="en-US" sz="2400" b="1" dirty="0">
                <a:solidFill>
                  <a:srgbClr val="C00000"/>
                </a:solidFill>
              </a:rPr>
              <a:t>return its index</a:t>
            </a:r>
            <a:r>
              <a:rPr lang="en-US" sz="2400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If the </a:t>
            </a:r>
            <a:r>
              <a:rPr lang="en-US" sz="2400" b="1" dirty="0">
                <a:solidFill>
                  <a:srgbClr val="C00000"/>
                </a:solidFill>
              </a:rPr>
              <a:t>target is smaller</a:t>
            </a:r>
            <a:r>
              <a:rPr lang="en-US" sz="2400" dirty="0"/>
              <a:t>, search in the left half of the interval.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If the </a:t>
            </a:r>
            <a:r>
              <a:rPr lang="en-US" sz="2400" b="1" dirty="0">
                <a:solidFill>
                  <a:srgbClr val="C00000"/>
                </a:solidFill>
              </a:rPr>
              <a:t>target is larger</a:t>
            </a:r>
            <a:r>
              <a:rPr lang="en-US" sz="2400" dirty="0"/>
              <a:t>, search in the right half of the interval.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1" dirty="0"/>
              <a:t>Repeat steps 2 and 3 </a:t>
            </a:r>
            <a:r>
              <a:rPr lang="en-US" sz="2400" dirty="0"/>
              <a:t>until the target is found or the interval becomes empty (i.e., the low index exceeds the high index).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64996625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3D0F6-81A8-05C8-1BEF-5648DA3BC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4E10A5-315C-E5B8-9F64-AD019EA71F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Autofit/>
          </a:bodyPr>
          <a:lstStyle/>
          <a:p>
            <a:pPr marL="0" indent="0"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Algorithm</a:t>
            </a:r>
            <a:endParaRPr lang="en-IN" sz="2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Iterative Version</a:t>
            </a:r>
            <a:endParaRPr lang="en-IN" sz="2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Initialize </a:t>
            </a:r>
            <a:r>
              <a:rPr lang="en-IN" sz="24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low to 0 </a:t>
            </a: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and </a:t>
            </a:r>
            <a:r>
              <a:rPr lang="en-IN" sz="24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high to n−1 </a:t>
            </a: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(array bounds).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While </a:t>
            </a:r>
            <a:r>
              <a:rPr lang="en-IN" sz="24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low is less than or equal to high</a:t>
            </a: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:</a:t>
            </a:r>
          </a:p>
          <a:p>
            <a:pPr marL="742950" lvl="1" indent="-285750">
              <a:lnSpc>
                <a:spcPct val="107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IN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Compute the middle index: </a:t>
            </a:r>
            <a:r>
              <a:rPr lang="en-IN" sz="2400" b="1" kern="100" dirty="0">
                <a:solidFill>
                  <a:srgbClr val="FF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mid=low+(high−low)/2</a:t>
            </a:r>
          </a:p>
          <a:p>
            <a:pPr marL="742950" lvl="1" indent="-285750">
              <a:lnSpc>
                <a:spcPct val="107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If </a:t>
            </a:r>
            <a:r>
              <a:rPr lang="en-IN" sz="2400" b="1" kern="100" dirty="0" err="1">
                <a:solidFill>
                  <a:srgbClr val="00206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arr</a:t>
            </a:r>
            <a:r>
              <a:rPr lang="en-IN" sz="2400" b="1" kern="100" dirty="0">
                <a:solidFill>
                  <a:srgbClr val="00206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[mid] == key</a:t>
            </a: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IN" sz="24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return mid</a:t>
            </a: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</a:p>
          <a:p>
            <a:pPr marL="742950" lvl="1" indent="-285750">
              <a:lnSpc>
                <a:spcPct val="107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If </a:t>
            </a:r>
            <a:r>
              <a:rPr lang="en-IN" sz="2400" b="1" kern="100" dirty="0" err="1">
                <a:solidFill>
                  <a:srgbClr val="00206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arr</a:t>
            </a:r>
            <a:r>
              <a:rPr lang="en-IN" sz="2400" b="1" kern="100" dirty="0">
                <a:solidFill>
                  <a:srgbClr val="00206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[mid] &gt; key</a:t>
            </a: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search in the </a:t>
            </a:r>
            <a:r>
              <a:rPr lang="en-IN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left half </a:t>
            </a: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(high=mid−1).</a:t>
            </a:r>
          </a:p>
          <a:p>
            <a:pPr marL="742950" lvl="1" indent="-285750">
              <a:lnSpc>
                <a:spcPct val="107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If </a:t>
            </a:r>
            <a:r>
              <a:rPr lang="en-IN" sz="2400" b="1" kern="100" dirty="0" err="1">
                <a:solidFill>
                  <a:srgbClr val="00206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arr</a:t>
            </a:r>
            <a:r>
              <a:rPr lang="en-IN" sz="2400" b="1" kern="100" dirty="0">
                <a:solidFill>
                  <a:srgbClr val="00206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[mid] &lt; key</a:t>
            </a: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search in the </a:t>
            </a:r>
            <a:r>
              <a:rPr lang="en-IN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right half </a:t>
            </a: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(low=mid+1).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If the interval becomes </a:t>
            </a:r>
            <a:r>
              <a:rPr lang="en-IN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empty</a:t>
            </a: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IN" sz="24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return -1</a:t>
            </a: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(target not found).</a:t>
            </a:r>
          </a:p>
        </p:txBody>
      </p:sp>
    </p:spTree>
    <p:extLst>
      <p:ext uri="{BB962C8B-B14F-4D97-AF65-F5344CB8AC3E}">
        <p14:creationId xmlns:p14="http://schemas.microsoft.com/office/powerpoint/2010/main" val="9144061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C8659-5179-5459-711A-5FBFFFD6EE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DB010B-6788-B030-2FD2-9FEE9E5EDE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968829"/>
            <a:ext cx="10659110" cy="5512934"/>
          </a:xfrm>
        </p:spPr>
        <p:txBody>
          <a:bodyPr>
            <a:noAutofit/>
          </a:bodyPr>
          <a:lstStyle/>
          <a:p>
            <a:pPr marL="0" indent="0"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Recursive Version</a:t>
            </a:r>
            <a:endParaRPr lang="en-IN" sz="2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N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Base Case:</a:t>
            </a:r>
          </a:p>
          <a:p>
            <a:pPr marL="742950" lvl="1" indent="-285750">
              <a:lnSpc>
                <a:spcPct val="107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If </a:t>
            </a:r>
            <a:r>
              <a:rPr lang="en-IN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low&gt;high</a:t>
            </a: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IN" sz="24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return -1</a:t>
            </a: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</a:p>
          <a:p>
            <a:pPr marL="742950" lvl="1" indent="-285750">
              <a:lnSpc>
                <a:spcPct val="107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IN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Compute the middle index: </a:t>
            </a: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mid=low+(high−low)/2.</a:t>
            </a:r>
          </a:p>
          <a:p>
            <a:pPr marL="742950" lvl="1" indent="-285750">
              <a:lnSpc>
                <a:spcPct val="107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If </a:t>
            </a:r>
            <a:r>
              <a:rPr lang="en-IN" sz="2400" b="1" kern="100" dirty="0" err="1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arr</a:t>
            </a:r>
            <a:r>
              <a:rPr lang="en-IN" sz="24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[mid]==key</a:t>
            </a: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return </a:t>
            </a:r>
            <a:r>
              <a:rPr lang="en-IN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mid</a:t>
            </a: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N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Recursive Steps:</a:t>
            </a:r>
          </a:p>
          <a:p>
            <a:pPr marL="742950" lvl="1" indent="-285750">
              <a:lnSpc>
                <a:spcPct val="107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If </a:t>
            </a:r>
            <a:r>
              <a:rPr lang="en-IN" sz="24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arr</a:t>
            </a:r>
            <a:r>
              <a:rPr lang="en-IN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[mid]&gt;key</a:t>
            </a: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search in the </a:t>
            </a:r>
            <a:r>
              <a:rPr lang="en-IN" sz="24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left half</a:t>
            </a: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</a:p>
          <a:p>
            <a:pPr marL="742950" lvl="1" indent="-285750">
              <a:lnSpc>
                <a:spcPct val="107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If </a:t>
            </a:r>
            <a:r>
              <a:rPr lang="en-IN" sz="24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arr</a:t>
            </a:r>
            <a:r>
              <a:rPr lang="en-IN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[mid]&lt;key</a:t>
            </a: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search in the </a:t>
            </a:r>
            <a:r>
              <a:rPr lang="en-IN" sz="24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right half</a:t>
            </a: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8495595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BA6B0-AB72-F509-8E5E-D63747B3F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DF5D75-7ABC-A18A-57CA-B58826475E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247970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Implementation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400" b="1" dirty="0">
                <a:solidFill>
                  <a:srgbClr val="002060"/>
                </a:solidFill>
              </a:rPr>
              <a:t>Iterative Implementation:</a:t>
            </a:r>
          </a:p>
          <a:p>
            <a:pPr marL="0" indent="0">
              <a:buNone/>
            </a:pPr>
            <a:endParaRPr lang="en-IN" sz="2400" b="1" dirty="0">
              <a:solidFill>
                <a:srgbClr val="002060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AE1639-AAF5-A993-F42D-8824DD2E45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0373" y="1334477"/>
            <a:ext cx="8018142" cy="5275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072174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2C27D-448C-CECF-347B-7FF5E45EE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573EDE-D5D5-F821-570C-4F68DE7B3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02060"/>
                </a:solidFill>
              </a:rPr>
              <a:t>Main Method:</a:t>
            </a:r>
            <a:endParaRPr lang="en-IN" sz="2400" b="1" dirty="0">
              <a:solidFill>
                <a:srgbClr val="00206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C26F29-4A8B-97A3-AA86-DD4300A5FF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792" y="664029"/>
            <a:ext cx="8519968" cy="5529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89578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977C8-7D39-74E7-D9B3-1D2339EFF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02AE28-118E-C2DF-E174-DC32A18ED9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1" y="413657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>
                <a:solidFill>
                  <a:srgbClr val="002060"/>
                </a:solidFill>
              </a:rPr>
              <a:t>Recursive Implementation: </a:t>
            </a:r>
          </a:p>
          <a:p>
            <a:pPr marL="0" indent="0">
              <a:buNone/>
            </a:pPr>
            <a:endParaRPr lang="en-IN" sz="2400" b="1" dirty="0">
              <a:solidFill>
                <a:srgbClr val="00206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D636D01-11A4-3C30-4458-EA79A944F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651" y="931408"/>
            <a:ext cx="10326006" cy="5766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62667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D21B4-52BE-949D-89BC-0B36699D3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3C1908-BC7C-1F12-0EF7-85D1700D9B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Main Method:</a:t>
            </a: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1BD54F-39EC-BE70-E830-6144E860C0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8294" y="1062037"/>
            <a:ext cx="8932225" cy="5329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533520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A4B271-9E0A-243A-163C-5E7ACF79A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EB867B-1010-6A3E-4EC1-B1F53492B9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3440" y="1012372"/>
            <a:ext cx="10659110" cy="3276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What is Sorting?</a:t>
            </a:r>
          </a:p>
          <a:p>
            <a:pPr marL="0" indent="0">
              <a:buNone/>
            </a:pPr>
            <a:r>
              <a:rPr lang="en-US" sz="2400" dirty="0"/>
              <a:t>Sorting is the process of </a:t>
            </a:r>
            <a:r>
              <a:rPr lang="en-US" sz="2400" b="1" dirty="0"/>
              <a:t>arranging data in a </a:t>
            </a:r>
            <a:r>
              <a:rPr lang="en-US" sz="2400" b="1" dirty="0">
                <a:solidFill>
                  <a:srgbClr val="FF0000"/>
                </a:solidFill>
              </a:rPr>
              <a:t>specific</a:t>
            </a:r>
            <a:r>
              <a:rPr lang="en-US" sz="2400" b="1" dirty="0"/>
              <a:t> </a:t>
            </a:r>
            <a:r>
              <a:rPr lang="en-US" sz="2400" b="1" dirty="0">
                <a:solidFill>
                  <a:srgbClr val="FF0000"/>
                </a:solidFill>
              </a:rPr>
              <a:t>order</a:t>
            </a:r>
            <a:r>
              <a:rPr lang="en-US" sz="2400" dirty="0"/>
              <a:t>, typically in </a:t>
            </a:r>
            <a:r>
              <a:rPr lang="en-US" sz="2400" b="1" dirty="0">
                <a:solidFill>
                  <a:srgbClr val="C00000"/>
                </a:solidFill>
              </a:rPr>
              <a:t>ascending</a:t>
            </a:r>
            <a:r>
              <a:rPr lang="en-US" sz="2400" dirty="0"/>
              <a:t> or </a:t>
            </a:r>
            <a:r>
              <a:rPr lang="en-US" sz="2400" b="1" dirty="0">
                <a:solidFill>
                  <a:srgbClr val="C00000"/>
                </a:solidFill>
              </a:rPr>
              <a:t>descending</a:t>
            </a:r>
            <a:r>
              <a:rPr lang="en-US" sz="2400" dirty="0"/>
              <a:t> order. </a:t>
            </a:r>
          </a:p>
          <a:p>
            <a:r>
              <a:rPr lang="en-US" sz="2400" dirty="0"/>
              <a:t>It is used to organize data to make it easier to </a:t>
            </a:r>
            <a:r>
              <a:rPr lang="en-US" sz="2400" b="1" dirty="0"/>
              <a:t>search</a:t>
            </a:r>
            <a:r>
              <a:rPr lang="en-US" sz="2400" dirty="0"/>
              <a:t>, </a:t>
            </a:r>
            <a:r>
              <a:rPr lang="en-US" sz="2400" b="1" dirty="0"/>
              <a:t>analyze</a:t>
            </a:r>
            <a:r>
              <a:rPr lang="en-US" sz="2400" dirty="0"/>
              <a:t>, and </a:t>
            </a:r>
            <a:r>
              <a:rPr lang="en-US" sz="2400" b="1" dirty="0"/>
              <a:t>use</a:t>
            </a:r>
            <a:r>
              <a:rPr lang="en-US" sz="2400" dirty="0"/>
              <a:t>. </a:t>
            </a:r>
          </a:p>
          <a:p>
            <a:r>
              <a:rPr lang="en-US" sz="2400" dirty="0"/>
              <a:t>Sorting is a fundamental operation in computer science and is widely used in algorithms and data structures.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65826535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CDAEB-4085-1B93-F550-9BFDB6E97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5E6A55-90D9-3F33-2494-8810FE5FE8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02060"/>
                </a:solidFill>
              </a:rPr>
              <a:t>Selection sort:</a:t>
            </a:r>
          </a:p>
          <a:p>
            <a:pPr marL="0" indent="0">
              <a:buNone/>
            </a:pPr>
            <a:r>
              <a:rPr lang="en-US" sz="2400" b="1" dirty="0"/>
              <a:t>Selection Sort</a:t>
            </a:r>
            <a:r>
              <a:rPr lang="en-US" sz="2400" dirty="0"/>
              <a:t> is a simple </a:t>
            </a:r>
            <a:r>
              <a:rPr lang="en-US" sz="2400" b="1" dirty="0">
                <a:solidFill>
                  <a:srgbClr val="C00000"/>
                </a:solidFill>
              </a:rPr>
              <a:t>comparison-based</a:t>
            </a:r>
            <a:r>
              <a:rPr lang="en-US" sz="2400" dirty="0"/>
              <a:t> </a:t>
            </a:r>
            <a:r>
              <a:rPr lang="en-US" sz="2400" b="1" dirty="0"/>
              <a:t>sorting algorithm</a:t>
            </a:r>
            <a:r>
              <a:rPr lang="en-US" sz="2400" dirty="0"/>
              <a:t>. It works by </a:t>
            </a:r>
            <a:r>
              <a:rPr lang="en-US" sz="2400" b="1" dirty="0"/>
              <a:t>repeatedly selecting </a:t>
            </a:r>
            <a:r>
              <a:rPr lang="en-US" sz="2400" dirty="0"/>
              <a:t>the </a:t>
            </a:r>
            <a:r>
              <a:rPr lang="en-US" sz="2400" b="1" dirty="0"/>
              <a:t>smallest</a:t>
            </a:r>
            <a:r>
              <a:rPr lang="en-US" sz="2400" dirty="0"/>
              <a:t> (or </a:t>
            </a:r>
            <a:r>
              <a:rPr lang="en-US" sz="2400" b="1" dirty="0"/>
              <a:t>largest</a:t>
            </a:r>
            <a:r>
              <a:rPr lang="en-US" sz="2400" dirty="0"/>
              <a:t>) element from the unsorted part of the array and swapping it with the first element of the unsorted part.</a:t>
            </a:r>
          </a:p>
          <a:p>
            <a:pPr marL="0" indent="0">
              <a:buNone/>
            </a:pPr>
            <a:r>
              <a:rPr lang="en-US" sz="2400" b="1" dirty="0"/>
              <a:t>Algorithm Steps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 Start from the </a:t>
            </a:r>
            <a:r>
              <a:rPr lang="en-US" sz="2400" b="1" dirty="0">
                <a:solidFill>
                  <a:srgbClr val="C00000"/>
                </a:solidFill>
              </a:rPr>
              <a:t>first element </a:t>
            </a:r>
            <a:r>
              <a:rPr lang="en-US" sz="2400" dirty="0"/>
              <a:t>of the array.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 Find the </a:t>
            </a:r>
            <a:r>
              <a:rPr lang="en-US" sz="2400" b="1" dirty="0">
                <a:solidFill>
                  <a:srgbClr val="C00000"/>
                </a:solidFill>
              </a:rPr>
              <a:t>smallest element </a:t>
            </a:r>
            <a:r>
              <a:rPr lang="en-US" sz="2400" dirty="0"/>
              <a:t>in the </a:t>
            </a:r>
            <a:r>
              <a:rPr lang="en-US" sz="2400" b="1" dirty="0">
                <a:solidFill>
                  <a:srgbClr val="C00000"/>
                </a:solidFill>
              </a:rPr>
              <a:t>unsorted part </a:t>
            </a:r>
            <a:r>
              <a:rPr lang="en-US" sz="2400" dirty="0"/>
              <a:t>of the array.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Swap the smallest element with the first element of the unsorted part.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Move the boundary of the sorted part one step to the right.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Repeat the process for the remaining unsorted part of the array.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2285949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98474-ED18-851D-2F01-3D7C0B608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F13214-41A0-5F11-3D1F-96DE7A6DDC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Example:</a:t>
            </a: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7F2D30-680D-621C-585A-AD0AFA7007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7146" y="566057"/>
            <a:ext cx="8108825" cy="6068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78177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406E9-479D-3662-0658-728ECB1D0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E1D929-643F-3BFD-B057-506457545F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Main Method:</a:t>
            </a: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6C288F-0CE5-82FA-CDDF-5C6BB0C620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9146" y="283028"/>
            <a:ext cx="5543083" cy="6344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700460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D0F8E-6931-0D0B-2F98-94F390D4E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4A3BF3-B842-2596-C40A-D9D4719C1D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3345180"/>
      </p:ext>
    </p:extLst>
  </p:cSld>
  <p:clrMapOvr>
    <a:masterClrMapping/>
  </p:clrMapOvr>
</p:sld>
</file>

<file path=ppt/theme/theme1.xml><?xml version="1.0" encoding="utf-8"?>
<a:theme xmlns:a="http://schemas.openxmlformats.org/drawingml/2006/main" name="ConfettiVTI">
  <a:themeElements>
    <a:clrScheme name="Custom 30">
      <a:dk1>
        <a:sysClr val="windowText" lastClr="000000"/>
      </a:dk1>
      <a:lt1>
        <a:sysClr val="window" lastClr="FFFFFF"/>
      </a:lt1>
      <a:dk2>
        <a:srgbClr val="420023"/>
      </a:dk2>
      <a:lt2>
        <a:srgbClr val="FDFBF9"/>
      </a:lt2>
      <a:accent1>
        <a:srgbClr val="97446E"/>
      </a:accent1>
      <a:accent2>
        <a:srgbClr val="A40056"/>
      </a:accent2>
      <a:accent3>
        <a:srgbClr val="24BEEE"/>
      </a:accent3>
      <a:accent4>
        <a:srgbClr val="91274F"/>
      </a:accent4>
      <a:accent5>
        <a:srgbClr val="F39E29"/>
      </a:accent5>
      <a:accent6>
        <a:srgbClr val="E87450"/>
      </a:accent6>
      <a:hlink>
        <a:srgbClr val="F55D5D"/>
      </a:hlink>
      <a:folHlink>
        <a:srgbClr val="EA3A60"/>
      </a:folHlink>
    </a:clrScheme>
    <a:fontScheme name="Custom 10">
      <a:majorFont>
        <a:latin typeface="Gill Sans Nova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nfettiVTI" id="{B5618F7C-B4F0-4D28-83B4-440D0519681F}" vid="{5F84EFDF-E14E-48C6-955C-990A32085A7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460</TotalTime>
  <Words>2710</Words>
  <Application>Microsoft Office PowerPoint</Application>
  <PresentationFormat>Widescreen</PresentationFormat>
  <Paragraphs>303</Paragraphs>
  <Slides>59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5" baseType="lpstr">
      <vt:lpstr>Aptos</vt:lpstr>
      <vt:lpstr>Arial</vt:lpstr>
      <vt:lpstr>Calibri</vt:lpstr>
      <vt:lpstr>Courier New</vt:lpstr>
      <vt:lpstr>Gill Sans Nova</vt:lpstr>
      <vt:lpstr>ConfettiVTI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PRAMOD NAIK</dc:creator>
  <cp:lastModifiedBy>PRAMOD NAIK</cp:lastModifiedBy>
  <cp:revision>296</cp:revision>
  <dcterms:created xsi:type="dcterms:W3CDTF">2024-11-25T17:19:06Z</dcterms:created>
  <dcterms:modified xsi:type="dcterms:W3CDTF">2025-02-15T13:02:57Z</dcterms:modified>
</cp:coreProperties>
</file>