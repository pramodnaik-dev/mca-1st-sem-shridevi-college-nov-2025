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6"/>
  </p:notesMasterIdLst>
  <p:sldIdLst>
    <p:sldId id="257" r:id="rId2"/>
    <p:sldId id="260" r:id="rId3"/>
    <p:sldId id="262" r:id="rId4"/>
    <p:sldId id="263" r:id="rId5"/>
    <p:sldId id="264" r:id="rId6"/>
    <p:sldId id="265" r:id="rId7"/>
    <p:sldId id="277" r:id="rId8"/>
    <p:sldId id="278" r:id="rId9"/>
    <p:sldId id="279" r:id="rId10"/>
    <p:sldId id="266" r:id="rId11"/>
    <p:sldId id="267" r:id="rId12"/>
    <p:sldId id="268" r:id="rId13"/>
    <p:sldId id="283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9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1/21/2025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er.zety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canva.com/" TargetMode="External"/><Relationship Id="rId4" Type="http://schemas.openxmlformats.org/officeDocument/2006/relationships/hyperlink" Target="https://resumake.io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dardresume.co/" TargetMode="External"/><Relationship Id="rId2" Type="http://schemas.openxmlformats.org/officeDocument/2006/relationships/hyperlink" Target="https://novoresum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ume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27" name="Rectangle 3226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29" name="Rectangle 3228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231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3232" name="Oval 3231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3" name="Oval 3232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4" name="Oval 3233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5" name="Oval 3234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6" name="Oval 3235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37" name="Oval 3236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8" name="Oval 3237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9" name="Oval 3238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0" name="Oval 3239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41" name="Oval 3240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2" name="Freeform: Shape 3241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43" name="Freeform: Shape 3242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44" name="Freeform: Shape 3243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45" name="Oval 3244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6" name="Freeform: Shape 3245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3248" name="Rectangle 3247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8" name="Picture 4" descr="7+ Best AI-Powered Resume Builders For 2025">
            <a:extLst>
              <a:ext uri="{FF2B5EF4-FFF2-40B4-BE49-F238E27FC236}">
                <a16:creationId xmlns:a16="http://schemas.microsoft.com/office/drawing/2014/main" id="{C2B8F409-74B0-CBE7-E3FB-2EF444CAC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3" r="4960"/>
          <a:stretch/>
        </p:blipFill>
        <p:spPr bwMode="auto">
          <a:xfrm>
            <a:off x="1524" y="10"/>
            <a:ext cx="121889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50" name="Rectangle 3249">
            <a:extLst>
              <a:ext uri="{FF2B5EF4-FFF2-40B4-BE49-F238E27FC236}">
                <a16:creationId xmlns:a16="http://schemas.microsoft.com/office/drawing/2014/main" id="{34FBEBF3-C941-4CB0-8AC2-3B50E1371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6" name="Title 1">
            <a:extLst>
              <a:ext uri="{FF2B5EF4-FFF2-40B4-BE49-F238E27FC236}">
                <a16:creationId xmlns:a16="http://schemas.microsoft.com/office/drawing/2014/main" id="{B37B7D3C-E578-6073-826E-7DB6C6D5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01" y="413175"/>
            <a:ext cx="5024846" cy="361062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AI Workshop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Building Resumes Using AI</a:t>
            </a:r>
            <a:endParaRPr lang="en-US" sz="6000" b="1" dirty="0">
              <a:solidFill>
                <a:srgbClr val="FFFFFF"/>
              </a:solidFill>
            </a:endParaRPr>
          </a:p>
        </p:txBody>
      </p:sp>
      <p:grpSp>
        <p:nvGrpSpPr>
          <p:cNvPr id="3252" name="Group 3251">
            <a:extLst>
              <a:ext uri="{FF2B5EF4-FFF2-40B4-BE49-F238E27FC236}">
                <a16:creationId xmlns:a16="http://schemas.microsoft.com/office/drawing/2014/main" id="{AFCA5498-D019-48A6-B194-72CE1ABB0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64840" y="236341"/>
            <a:ext cx="2727160" cy="6621659"/>
            <a:chOff x="9464840" y="236341"/>
            <a:chExt cx="2727160" cy="6621659"/>
          </a:xfrm>
        </p:grpSpPr>
        <p:sp>
          <p:nvSpPr>
            <p:cNvPr id="3253" name="Oval 3252">
              <a:extLst>
                <a:ext uri="{FF2B5EF4-FFF2-40B4-BE49-F238E27FC236}">
                  <a16:creationId xmlns:a16="http://schemas.microsoft.com/office/drawing/2014/main" id="{880BC69F-2340-4181-ADB9-8B7434E96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64840" y="538627"/>
              <a:ext cx="94160" cy="94160"/>
            </a:xfrm>
            <a:prstGeom prst="ellipse">
              <a:avLst/>
            </a:prstGeom>
            <a:solidFill>
              <a:schemeClr val="tx2">
                <a:lumMod val="50000"/>
                <a:lumOff val="50000"/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4" name="Oval 3253">
              <a:extLst>
                <a:ext uri="{FF2B5EF4-FFF2-40B4-BE49-F238E27FC236}">
                  <a16:creationId xmlns:a16="http://schemas.microsoft.com/office/drawing/2014/main" id="{B68D1539-E8D8-4BDB-9061-190D14341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8803" y="1206077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5" name="Oval 3254">
              <a:extLst>
                <a:ext uri="{FF2B5EF4-FFF2-40B4-BE49-F238E27FC236}">
                  <a16:creationId xmlns:a16="http://schemas.microsoft.com/office/drawing/2014/main" id="{D90FDF91-C6ED-4CDD-9F62-ABFA2C8E8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6" name="Oval 3255">
              <a:extLst>
                <a:ext uri="{FF2B5EF4-FFF2-40B4-BE49-F238E27FC236}">
                  <a16:creationId xmlns:a16="http://schemas.microsoft.com/office/drawing/2014/main" id="{638B5A1D-024A-4BFB-A608-C68DA71B1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509" y="516637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7" name="Oval 3256">
              <a:extLst>
                <a:ext uri="{FF2B5EF4-FFF2-40B4-BE49-F238E27FC236}">
                  <a16:creationId xmlns:a16="http://schemas.microsoft.com/office/drawing/2014/main" id="{B38C5DD2-94C4-4737-B4BC-7A35DAB85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8" name="Oval 3257">
              <a:extLst>
                <a:ext uri="{FF2B5EF4-FFF2-40B4-BE49-F238E27FC236}">
                  <a16:creationId xmlns:a16="http://schemas.microsoft.com/office/drawing/2014/main" id="{8804505C-24F5-486F-8661-8249FBD4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2793" y="5536248"/>
              <a:ext cx="800716" cy="80071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9" name="Oval 3258">
              <a:extLst>
                <a:ext uri="{FF2B5EF4-FFF2-40B4-BE49-F238E27FC236}">
                  <a16:creationId xmlns:a16="http://schemas.microsoft.com/office/drawing/2014/main" id="{777CC497-AB04-4BBC-A3CB-6EFF95AF0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3540" y="6169156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0" name="Freeform: Shape 3259">
              <a:extLst>
                <a:ext uri="{FF2B5EF4-FFF2-40B4-BE49-F238E27FC236}">
                  <a16:creationId xmlns:a16="http://schemas.microsoft.com/office/drawing/2014/main" id="{BD149070-8E66-48F1-948D-17A50C52D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702762" y="6299355"/>
              <a:ext cx="489238" cy="558645"/>
            </a:xfrm>
            <a:custGeom>
              <a:avLst/>
              <a:gdLst>
                <a:gd name="connsiteX0" fmla="*/ 1156116 w 3186814"/>
                <a:gd name="connsiteY0" fmla="*/ 0 h 3638922"/>
                <a:gd name="connsiteX1" fmla="*/ 3186814 w 3186814"/>
                <a:gd name="connsiteY1" fmla="*/ 2030698 h 3638922"/>
                <a:gd name="connsiteX2" fmla="*/ 2447829 w 3186814"/>
                <a:gd name="connsiteY2" fmla="*/ 3597684 h 3638922"/>
                <a:gd name="connsiteX3" fmla="*/ 2392682 w 3186814"/>
                <a:gd name="connsiteY3" fmla="*/ 3638922 h 3638922"/>
                <a:gd name="connsiteX4" fmla="*/ 0 w 3186814"/>
                <a:gd name="connsiteY4" fmla="*/ 3638922 h 3638922"/>
                <a:gd name="connsiteX5" fmla="*/ 0 w 3186814"/>
                <a:gd name="connsiteY5" fmla="*/ 362315 h 3638922"/>
                <a:gd name="connsiteX6" fmla="*/ 20733 w 3186814"/>
                <a:gd name="connsiteY6" fmla="*/ 346811 h 3638922"/>
                <a:gd name="connsiteX7" fmla="*/ 1156116 w 3186814"/>
                <a:gd name="connsiteY7" fmla="*/ 0 h 363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86814" h="3638922">
                  <a:moveTo>
                    <a:pt x="1156116" y="0"/>
                  </a:moveTo>
                  <a:cubicBezTo>
                    <a:pt x="2277640" y="0"/>
                    <a:pt x="3186814" y="909174"/>
                    <a:pt x="3186814" y="2030698"/>
                  </a:cubicBezTo>
                  <a:cubicBezTo>
                    <a:pt x="3186814" y="2661556"/>
                    <a:pt x="2899146" y="3225224"/>
                    <a:pt x="2447829" y="3597684"/>
                  </a:cubicBezTo>
                  <a:lnTo>
                    <a:pt x="2392682" y="3638922"/>
                  </a:lnTo>
                  <a:lnTo>
                    <a:pt x="0" y="3638922"/>
                  </a:lnTo>
                  <a:lnTo>
                    <a:pt x="0" y="362315"/>
                  </a:lnTo>
                  <a:lnTo>
                    <a:pt x="20733" y="346811"/>
                  </a:lnTo>
                  <a:cubicBezTo>
                    <a:pt x="344835" y="127853"/>
                    <a:pt x="735545" y="0"/>
                    <a:pt x="115611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BB6F4A-2D87-983D-FDA3-4A1231BBF5E6}"/>
              </a:ext>
            </a:extLst>
          </p:cNvPr>
          <p:cNvSpPr txBox="1"/>
          <p:nvPr/>
        </p:nvSpPr>
        <p:spPr>
          <a:xfrm>
            <a:off x="2564834" y="6068522"/>
            <a:ext cx="7060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From Good to Great </a:t>
            </a:r>
            <a:r>
              <a:rPr lang="en-IN" sz="2400" b="1" dirty="0">
                <a:solidFill>
                  <a:srgbClr val="002060"/>
                </a:solidFill>
              </a:rPr>
              <a:t>Enhancing your CV with </a:t>
            </a:r>
            <a:r>
              <a:rPr lang="en-IN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Tools</a:t>
            </a:r>
          </a:p>
        </p:txBody>
      </p:sp>
    </p:spTree>
    <p:extLst>
      <p:ext uri="{BB962C8B-B14F-4D97-AF65-F5344CB8AC3E}">
        <p14:creationId xmlns:p14="http://schemas.microsoft.com/office/powerpoint/2010/main" val="4251617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C7D5D-85A8-D8D2-3BE7-BBF602CD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4F8E18AC-903E-4B46-8CC0-FE20E612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DEE38FB-0763-470C-8A5E-44456B513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A18A2-F328-3EAA-F932-33B21DE7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87281"/>
            <a:ext cx="4606280" cy="920931"/>
          </a:xfrm>
        </p:spPr>
        <p:txBody>
          <a:bodyPr anchor="b">
            <a:normAutofit/>
          </a:bodyPr>
          <a:lstStyle/>
          <a:p>
            <a:r>
              <a:rPr lang="en-US" sz="4400" b="1" dirty="0"/>
              <a:t>Agenda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412D-6B5F-B955-C59D-FEAA9EA34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63" y="1338191"/>
            <a:ext cx="5743336" cy="4602498"/>
          </a:xfrm>
        </p:spPr>
        <p:txBody>
          <a:bodyPr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Introduction to </a:t>
            </a:r>
            <a:r>
              <a:rPr lang="en-US" sz="2400" b="1" dirty="0"/>
              <a:t>AI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Importance of a </a:t>
            </a:r>
            <a:r>
              <a:rPr lang="en-US" sz="2400" b="1" dirty="0"/>
              <a:t>well-crafted resume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AI in </a:t>
            </a:r>
            <a:r>
              <a:rPr lang="en-US" sz="2400" b="1" dirty="0"/>
              <a:t>modern resume building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Why Use AI </a:t>
            </a:r>
            <a:r>
              <a:rPr lang="en-US" sz="2400" dirty="0"/>
              <a:t>for Resume Building?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Understanding </a:t>
            </a:r>
            <a:r>
              <a:rPr lang="en-US" sz="2400" b="1" dirty="0"/>
              <a:t>AI Tools for Resume Building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Live Demo: </a:t>
            </a:r>
            <a:r>
              <a:rPr lang="en-US" sz="2400" dirty="0"/>
              <a:t>Creating a Resume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Common Mistakes </a:t>
            </a:r>
            <a:r>
              <a:rPr lang="en-US" sz="2400" dirty="0"/>
              <a:t>and How AI Helps Avoid Them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Q&amp;A </a:t>
            </a:r>
            <a:r>
              <a:rPr lang="en-US" sz="2400" dirty="0"/>
              <a:t>Session</a:t>
            </a:r>
            <a:endParaRPr lang="en-IN" sz="2400" dirty="0"/>
          </a:p>
        </p:txBody>
      </p:sp>
      <p:sp>
        <p:nvSpPr>
          <p:cNvPr id="1039" name="Oval 1">
            <a:extLst>
              <a:ext uri="{FF2B5EF4-FFF2-40B4-BE49-F238E27FC236}">
                <a16:creationId xmlns:a16="http://schemas.microsoft.com/office/drawing/2014/main" id="{F1D6E6C0-11C7-4A38-BD12-80741960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1" name="decorative circles">
            <a:extLst>
              <a:ext uri="{FF2B5EF4-FFF2-40B4-BE49-F238E27FC236}">
                <a16:creationId xmlns:a16="http://schemas.microsoft.com/office/drawing/2014/main" id="{2B16E781-E64A-4007-B0F1-5A50135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6F5849D6-7C1F-435A-8BEB-2A37173B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9C6C5D90-0568-4F1C-9392-536D4E32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E069E425-421F-469A-9C32-9FB5C16E5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4C31A526-345A-4A63-BA59-FF91204E9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F27432B5-3C17-4415-B09A-67FCBD63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90E4DDCC-A5A9-4365-876A-7992F2CF4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BA5DB42D-36BB-41F6-A512-3AFDD33A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E03F45BD-67A0-4732-B626-9ECB4B18E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0" name="Picture 6" descr="AI Resume Builder | Create Your Job Resume Effortlessly">
            <a:extLst>
              <a:ext uri="{FF2B5EF4-FFF2-40B4-BE49-F238E27FC236}">
                <a16:creationId xmlns:a16="http://schemas.microsoft.com/office/drawing/2014/main" id="{14B614D5-8215-4150-13CA-F27E2DBC3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2661" y="1526435"/>
            <a:ext cx="4044265" cy="404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50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AD9C-03E7-C492-647C-6086DF71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artificial intelligence (AI)? - Queensland Brain Institute -  University of Queensland">
            <a:extLst>
              <a:ext uri="{FF2B5EF4-FFF2-40B4-BE49-F238E27FC236}">
                <a16:creationId xmlns:a16="http://schemas.microsoft.com/office/drawing/2014/main" id="{EF52F5D6-7EE6-8B37-83FB-FBB308FC8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" t="-3206" r="13406" b="3206"/>
          <a:stretch/>
        </p:blipFill>
        <p:spPr bwMode="auto">
          <a:xfrm>
            <a:off x="0" y="579864"/>
            <a:ext cx="12192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5B153-D6C2-5685-77C0-40E1BBF2D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325" y="1951464"/>
            <a:ext cx="5154855" cy="2579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What is AI?</a:t>
            </a:r>
          </a:p>
          <a:p>
            <a:pPr marL="0" indent="0">
              <a:buNone/>
            </a:pPr>
            <a:r>
              <a:rPr lang="en-US" sz="3200" dirty="0"/>
              <a:t>Artificial Intelligence (AI) refers to </a:t>
            </a:r>
            <a:r>
              <a:rPr lang="en-US" sz="3200" b="1" dirty="0"/>
              <a:t>systems</a:t>
            </a:r>
            <a:r>
              <a:rPr lang="en-US" sz="3200" dirty="0"/>
              <a:t> or </a:t>
            </a:r>
            <a:r>
              <a:rPr lang="en-US" sz="3200" b="1" dirty="0"/>
              <a:t>machines</a:t>
            </a:r>
            <a:r>
              <a:rPr lang="en-US" sz="3200" dirty="0"/>
              <a:t> that </a:t>
            </a:r>
            <a:r>
              <a:rPr lang="en-US" sz="3200" b="1" dirty="0"/>
              <a:t>simulate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human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intelligence</a:t>
            </a:r>
            <a:r>
              <a:rPr lang="en-US" sz="3200" dirty="0"/>
              <a:t> to perform tasks.</a:t>
            </a:r>
          </a:p>
          <a:p>
            <a:pPr marL="0" indent="0">
              <a:buNone/>
            </a:pP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92EB9-683E-D8B5-9AF3-1011B1FFB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769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FC4061-5D46-7B58-292F-2608D3769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902712"/>
            <a:ext cx="12191999" cy="95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1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063F7-BCAE-FC72-0B90-A5E21A16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rtificial intelligence Animated Icon | Free technology Animated Icon">
            <a:extLst>
              <a:ext uri="{FF2B5EF4-FFF2-40B4-BE49-F238E27FC236}">
                <a16:creationId xmlns:a16="http://schemas.microsoft.com/office/drawing/2014/main" id="{AE332F36-2A62-C87A-28DF-7589AA5DE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102" y="0"/>
            <a:ext cx="2420898" cy="242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C4719-FA7C-3078-6E7D-CDD90031A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03610"/>
            <a:ext cx="10659110" cy="5396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Example for What is AI?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Scenario: </a:t>
            </a:r>
            <a:r>
              <a:rPr lang="en-US" sz="2800" dirty="0"/>
              <a:t>You are applying for a Data Analyst role.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How AI Helps: 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analyzes </a:t>
            </a:r>
            <a:r>
              <a:rPr lang="en-US" sz="2800" dirty="0"/>
              <a:t>the </a:t>
            </a:r>
            <a:r>
              <a:rPr lang="en-US" sz="2800" b="1" dirty="0"/>
              <a:t>job description</a:t>
            </a:r>
            <a:r>
              <a:rPr lang="en-US" sz="2800" dirty="0"/>
              <a:t>, </a:t>
            </a:r>
            <a:r>
              <a:rPr lang="en-US" sz="2800" b="1" dirty="0"/>
              <a:t>identifies</a:t>
            </a:r>
            <a:r>
              <a:rPr lang="en-US" sz="2800" dirty="0"/>
              <a:t> </a:t>
            </a:r>
            <a:r>
              <a:rPr lang="en-US" sz="2800" b="1" dirty="0"/>
              <a:t>key</a:t>
            </a:r>
            <a:r>
              <a:rPr lang="en-US" sz="2800" dirty="0"/>
              <a:t> </a:t>
            </a:r>
            <a:r>
              <a:rPr lang="en-US" sz="2800" b="1" dirty="0"/>
              <a:t>skills</a:t>
            </a:r>
            <a:r>
              <a:rPr lang="en-US" sz="2800" dirty="0"/>
              <a:t> such as "SQL," "</a:t>
            </a:r>
            <a:r>
              <a:rPr lang="en-US" sz="2800" b="1" dirty="0"/>
              <a:t>data</a:t>
            </a:r>
            <a:r>
              <a:rPr lang="en-US" sz="2800" dirty="0"/>
              <a:t> </a:t>
            </a:r>
            <a:r>
              <a:rPr lang="en-US" sz="2800" b="1" dirty="0"/>
              <a:t>visualization</a:t>
            </a:r>
            <a:r>
              <a:rPr lang="en-US" sz="2800" dirty="0"/>
              <a:t>," and "Python," and </a:t>
            </a:r>
            <a:r>
              <a:rPr lang="en-US" sz="2800" b="1" dirty="0"/>
              <a:t>ensures your resume highlights </a:t>
            </a:r>
            <a:r>
              <a:rPr lang="en-US" sz="2800" dirty="0"/>
              <a:t>these skills by suggesting tailored bullet points and phrasing.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698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8ACA1-CD63-2544-5A55-876D911B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I Resume Builder: Craft Your Dream Resume in Minutes (2025) - ResumeKraft">
            <a:extLst>
              <a:ext uri="{FF2B5EF4-FFF2-40B4-BE49-F238E27FC236}">
                <a16:creationId xmlns:a16="http://schemas.microsoft.com/office/drawing/2014/main" id="{145B7901-B38A-2283-D6CF-97A5E9E8E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9010" y="0"/>
            <a:ext cx="2272990" cy="227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EBF00-68F5-FA9E-0C09-CC883723D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76" y="423746"/>
            <a:ext cx="10659110" cy="6010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Importance of a </a:t>
            </a:r>
            <a:r>
              <a:rPr lang="en-US" sz="2800" b="1" dirty="0">
                <a:solidFill>
                  <a:srgbClr val="002060"/>
                </a:solidFill>
              </a:rPr>
              <a:t>Well-Crafted</a:t>
            </a:r>
            <a:r>
              <a:rPr lang="en-US" sz="2800" b="1" dirty="0"/>
              <a:t> resume:</a:t>
            </a:r>
          </a:p>
          <a:p>
            <a:pPr marL="0" indent="0">
              <a:buNone/>
            </a:pPr>
            <a:r>
              <a:rPr lang="en-US" sz="2800" dirty="0"/>
              <a:t>A well-crafted resume is essential for </a:t>
            </a:r>
            <a:r>
              <a:rPr lang="en-US" sz="2800" b="1" dirty="0"/>
              <a:t>showcasing</a:t>
            </a:r>
            <a:r>
              <a:rPr lang="en-US" sz="2800" dirty="0"/>
              <a:t> </a:t>
            </a:r>
            <a:r>
              <a:rPr lang="en-US" sz="2800" b="1" dirty="0"/>
              <a:t>your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skills</a:t>
            </a:r>
            <a:r>
              <a:rPr lang="en-US" sz="2800" dirty="0"/>
              <a:t>, 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experience,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qualifications</a:t>
            </a:r>
            <a:r>
              <a:rPr lang="en-US" sz="2800" dirty="0"/>
              <a:t> effectively to potential </a:t>
            </a:r>
            <a:r>
              <a:rPr lang="en-US" sz="2800" b="1" dirty="0"/>
              <a:t>employers</a:t>
            </a:r>
            <a:r>
              <a:rPr lang="en-US" sz="2800" dirty="0"/>
              <a:t>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First Impression:  </a:t>
            </a:r>
            <a:r>
              <a:rPr lang="en-US" sz="2800" dirty="0"/>
              <a:t>Your resume is often the </a:t>
            </a:r>
            <a:r>
              <a:rPr lang="en-US" sz="2800" b="1" dirty="0">
                <a:solidFill>
                  <a:srgbClr val="C00000"/>
                </a:solidFill>
              </a:rPr>
              <a:t>first point of contact </a:t>
            </a:r>
            <a:r>
              <a:rPr lang="en-US" sz="2800" dirty="0"/>
              <a:t>with a potential employer. A well-organized and professional resume creates a positive impression.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Showcases Relevant Skills: </a:t>
            </a:r>
            <a:r>
              <a:rPr lang="en-US" sz="2800" dirty="0"/>
              <a:t>A tailored resume </a:t>
            </a:r>
            <a:r>
              <a:rPr lang="en-US" sz="2800" b="1" dirty="0"/>
              <a:t>highlights the skills and experiences </a:t>
            </a:r>
            <a:r>
              <a:rPr lang="en-US" sz="2800" b="1" dirty="0">
                <a:solidFill>
                  <a:srgbClr val="C00000"/>
                </a:solidFill>
              </a:rPr>
              <a:t>relevant to the job</a:t>
            </a:r>
            <a:r>
              <a:rPr lang="en-US" sz="2800" dirty="0"/>
              <a:t>, making it easier for employers to see why you're a good fit.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Professional Branding: </a:t>
            </a:r>
            <a:r>
              <a:rPr lang="en-US" sz="2800" dirty="0"/>
              <a:t>A resume reflects your </a:t>
            </a:r>
            <a:r>
              <a:rPr lang="en-US" sz="2800" b="1" dirty="0">
                <a:solidFill>
                  <a:srgbClr val="C00000"/>
                </a:solidFill>
              </a:rPr>
              <a:t>professionalism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attention to detail</a:t>
            </a:r>
            <a:r>
              <a:rPr lang="en-US" sz="2800" dirty="0"/>
              <a:t>, and ability to communicate effectively.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Highlights Achievements: </a:t>
            </a:r>
            <a:r>
              <a:rPr lang="en-US" sz="2800" dirty="0"/>
              <a:t>Employers </a:t>
            </a:r>
            <a:r>
              <a:rPr lang="en-US" sz="2800" b="1" dirty="0"/>
              <a:t>value results</a:t>
            </a:r>
            <a:r>
              <a:rPr lang="en-US" sz="2800" dirty="0"/>
              <a:t>. Including quantifiable achievements makes your </a:t>
            </a:r>
            <a:r>
              <a:rPr lang="en-US" sz="2800" b="1" dirty="0">
                <a:solidFill>
                  <a:srgbClr val="C00000"/>
                </a:solidFill>
              </a:rPr>
              <a:t>resume stand out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9122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2A7D8-AB81-0FDD-6B16-79E1D8A4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BB4ECDFC-8958-4B83-B01F-58AEFB867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C1D68778-F94A-4C5B-9118-3B992BB97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8BAC5-C6E4-0E83-AB46-082B4E37C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214" y="557914"/>
            <a:ext cx="6939275" cy="56087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b="1" dirty="0"/>
              <a:t>AI in Modern Resume Building: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Personalization: </a:t>
            </a:r>
          </a:p>
          <a:p>
            <a:pPr lvl="1"/>
            <a:r>
              <a:rPr lang="en-US" sz="2400" dirty="0"/>
              <a:t>AI tailors resumes to job descriptions by analyzing keywords.</a:t>
            </a:r>
          </a:p>
          <a:p>
            <a:pPr lvl="1"/>
            <a:r>
              <a:rPr lang="en-US" sz="2400" dirty="0"/>
              <a:t>Example: Suggests adding "Project Management" for a PM role.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ATS (</a:t>
            </a:r>
            <a:r>
              <a:rPr lang="en-US" sz="2400" b="1" dirty="0">
                <a:solidFill>
                  <a:srgbClr val="C00000"/>
                </a:solidFill>
              </a:rPr>
              <a:t>Application Tracking Systems</a:t>
            </a:r>
            <a:r>
              <a:rPr lang="en-US" sz="2400" b="1" dirty="0"/>
              <a:t>) Optimization: </a:t>
            </a:r>
            <a:r>
              <a:rPr lang="en-US" sz="2400" dirty="0"/>
              <a:t>Formats resumes to </a:t>
            </a:r>
            <a:r>
              <a:rPr lang="en-US" sz="2400" b="1" dirty="0"/>
              <a:t>pass</a:t>
            </a:r>
            <a:r>
              <a:rPr lang="en-US" sz="2400" dirty="0"/>
              <a:t> Applicant Tracking Systems (ATS).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Time-Saving: </a:t>
            </a:r>
            <a:r>
              <a:rPr lang="en-US" sz="2400" dirty="0"/>
              <a:t>Automates grammar, formatting, and structure.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Error-Free Documents: </a:t>
            </a:r>
            <a:r>
              <a:rPr lang="en-US" sz="2400" dirty="0"/>
              <a:t>Highlights grammar and consistency issues.</a:t>
            </a:r>
            <a:endParaRPr lang="en-IN" sz="2400" dirty="0"/>
          </a:p>
        </p:txBody>
      </p:sp>
      <p:grpSp>
        <p:nvGrpSpPr>
          <p:cNvPr id="7179" name="decorative circles">
            <a:extLst>
              <a:ext uri="{FF2B5EF4-FFF2-40B4-BE49-F238E27FC236}">
                <a16:creationId xmlns:a16="http://schemas.microsoft.com/office/drawing/2014/main" id="{B29252B9-8F48-4CC0-A640-09C8A8C24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8627" y="289695"/>
            <a:ext cx="5461374" cy="5966848"/>
            <a:chOff x="6008627" y="289695"/>
            <a:chExt cx="5461374" cy="5966848"/>
          </a:xfrm>
        </p:grpSpPr>
        <p:sp>
          <p:nvSpPr>
            <p:cNvPr id="7180" name="Oval 7179">
              <a:extLst>
                <a:ext uri="{FF2B5EF4-FFF2-40B4-BE49-F238E27FC236}">
                  <a16:creationId xmlns:a16="http://schemas.microsoft.com/office/drawing/2014/main" id="{28548D73-0AE2-434D-B75C-77D24F5ED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1" name="Oval 7180">
              <a:extLst>
                <a:ext uri="{FF2B5EF4-FFF2-40B4-BE49-F238E27FC236}">
                  <a16:creationId xmlns:a16="http://schemas.microsoft.com/office/drawing/2014/main" id="{9BC26AF4-B368-411A-BF70-74F07FA77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2" name="Oval 7181">
              <a:extLst>
                <a:ext uri="{FF2B5EF4-FFF2-40B4-BE49-F238E27FC236}">
                  <a16:creationId xmlns:a16="http://schemas.microsoft.com/office/drawing/2014/main" id="{6BE4EEE7-FD25-4B68-819D-487E4D78F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08627" y="5790102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3" name="Oval 7182">
              <a:extLst>
                <a:ext uri="{FF2B5EF4-FFF2-40B4-BE49-F238E27FC236}">
                  <a16:creationId xmlns:a16="http://schemas.microsoft.com/office/drawing/2014/main" id="{6E52A4F8-9F27-4959-B733-FDA9FCA2E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654708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4" name="Oval 7183">
              <a:extLst>
                <a:ext uri="{FF2B5EF4-FFF2-40B4-BE49-F238E27FC236}">
                  <a16:creationId xmlns:a16="http://schemas.microsoft.com/office/drawing/2014/main" id="{F13DA742-C9EF-49AA-ADEB-553344930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08627" y="5407667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170" name="Picture 2" descr="Mastering the Applicant Tracking System: A Definitive Guide to ATS">
            <a:extLst>
              <a:ext uri="{FF2B5EF4-FFF2-40B4-BE49-F238E27FC236}">
                <a16:creationId xmlns:a16="http://schemas.microsoft.com/office/drawing/2014/main" id="{F8314DCF-47EF-3F81-99C1-7EF26A75F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3070" b="-5"/>
          <a:stretch/>
        </p:blipFill>
        <p:spPr bwMode="auto">
          <a:xfrm>
            <a:off x="7493490" y="1374012"/>
            <a:ext cx="4144295" cy="3976511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64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FE778-A1E3-A890-D281-972EAF85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4F8E18AC-903E-4B46-8CC0-FE20E612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3DEE38FB-0763-470C-8A5E-44456B513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7D200-F834-3056-C6AC-C05CAC949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47" y="317573"/>
            <a:ext cx="6092558" cy="6205890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b="1" dirty="0"/>
              <a:t>Why Use AI for Resume Building? </a:t>
            </a:r>
            <a:r>
              <a:rPr lang="en-US" b="1" i="1" dirty="0">
                <a:solidFill>
                  <a:srgbClr val="002060"/>
                </a:solidFill>
              </a:rPr>
              <a:t>Harnessing Technology for Career Success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Customization for Job Fit: </a:t>
            </a:r>
            <a:r>
              <a:rPr lang="en-US" sz="2400" dirty="0"/>
              <a:t>AI tailors resumes to job descriptions using keyword analysis.</a:t>
            </a:r>
          </a:p>
          <a:p>
            <a:pPr marL="457200" lvl="1" indent="0">
              <a:buNone/>
            </a:pPr>
            <a:r>
              <a:rPr lang="en-US" sz="2400" b="1" dirty="0"/>
              <a:t>Example</a:t>
            </a:r>
            <a:r>
              <a:rPr lang="en-US" sz="2400" dirty="0"/>
              <a:t>: Highlights matching skills like "Data Analysis" for a Data Scientist role.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Time Efficiency: </a:t>
            </a:r>
            <a:r>
              <a:rPr lang="en-US" sz="2400" dirty="0"/>
              <a:t>Automates formatting, grammar corrections, and layout design.</a:t>
            </a:r>
          </a:p>
          <a:p>
            <a:pPr marL="457200" lvl="1" indent="0">
              <a:buNone/>
            </a:pPr>
            <a:r>
              <a:rPr lang="en-US" sz="2400" b="1" dirty="0"/>
              <a:t>Example: </a:t>
            </a:r>
            <a:r>
              <a:rPr lang="en-US" sz="2400" dirty="0"/>
              <a:t>Creates polished resumes in minutes instead of hours.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ATS Optimization: </a:t>
            </a:r>
            <a:r>
              <a:rPr lang="en-US" sz="2400" dirty="0"/>
              <a:t>Ensures resumes pass Applicant Tracking Systems by structuring content properly.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Improves Quality and Accuracy: </a:t>
            </a:r>
            <a:r>
              <a:rPr lang="en-US" sz="2400" dirty="0"/>
              <a:t>Detects grammar errors, redundancies, and inconsistent formatting.</a:t>
            </a:r>
            <a:endParaRPr lang="en-IN" sz="2400" dirty="0"/>
          </a:p>
        </p:txBody>
      </p:sp>
      <p:sp>
        <p:nvSpPr>
          <p:cNvPr id="8203" name="Oval 1">
            <a:extLst>
              <a:ext uri="{FF2B5EF4-FFF2-40B4-BE49-F238E27FC236}">
                <a16:creationId xmlns:a16="http://schemas.microsoft.com/office/drawing/2014/main" id="{F1D6E6C0-11C7-4A38-BD12-80741960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05" name="decorative circles">
            <a:extLst>
              <a:ext uri="{FF2B5EF4-FFF2-40B4-BE49-F238E27FC236}">
                <a16:creationId xmlns:a16="http://schemas.microsoft.com/office/drawing/2014/main" id="{2B16E781-E64A-4007-B0F1-5A50135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8206" name="Oval 8205">
              <a:extLst>
                <a:ext uri="{FF2B5EF4-FFF2-40B4-BE49-F238E27FC236}">
                  <a16:creationId xmlns:a16="http://schemas.microsoft.com/office/drawing/2014/main" id="{6F5849D6-7C1F-435A-8BEB-2A37173B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7" name="Oval 8206">
              <a:extLst>
                <a:ext uri="{FF2B5EF4-FFF2-40B4-BE49-F238E27FC236}">
                  <a16:creationId xmlns:a16="http://schemas.microsoft.com/office/drawing/2014/main" id="{9C6C5D90-0568-4F1C-9392-536D4E32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8" name="Oval 8207">
              <a:extLst>
                <a:ext uri="{FF2B5EF4-FFF2-40B4-BE49-F238E27FC236}">
                  <a16:creationId xmlns:a16="http://schemas.microsoft.com/office/drawing/2014/main" id="{E069E425-421F-469A-9C32-9FB5C16E5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9" name="Oval 8208">
              <a:extLst>
                <a:ext uri="{FF2B5EF4-FFF2-40B4-BE49-F238E27FC236}">
                  <a16:creationId xmlns:a16="http://schemas.microsoft.com/office/drawing/2014/main" id="{4C31A526-345A-4A63-BA59-FF91204E9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0" name="Oval 8209">
              <a:extLst>
                <a:ext uri="{FF2B5EF4-FFF2-40B4-BE49-F238E27FC236}">
                  <a16:creationId xmlns:a16="http://schemas.microsoft.com/office/drawing/2014/main" id="{F27432B5-3C17-4415-B09A-67FCBD63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1" name="Oval 8210">
              <a:extLst>
                <a:ext uri="{FF2B5EF4-FFF2-40B4-BE49-F238E27FC236}">
                  <a16:creationId xmlns:a16="http://schemas.microsoft.com/office/drawing/2014/main" id="{90E4DDCC-A5A9-4365-876A-7992F2CF4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2" name="Oval 8211">
              <a:extLst>
                <a:ext uri="{FF2B5EF4-FFF2-40B4-BE49-F238E27FC236}">
                  <a16:creationId xmlns:a16="http://schemas.microsoft.com/office/drawing/2014/main" id="{BA5DB42D-36BB-41F6-A512-3AFDD33A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3" name="Oval 8212">
              <a:extLst>
                <a:ext uri="{FF2B5EF4-FFF2-40B4-BE49-F238E27FC236}">
                  <a16:creationId xmlns:a16="http://schemas.microsoft.com/office/drawing/2014/main" id="{E03F45BD-67A0-4732-B626-9ECB4B18E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194" name="Picture 2" descr="Cv resume Cut Out Stock Images &amp; Pictures - Alamy">
            <a:extLst>
              <a:ext uri="{FF2B5EF4-FFF2-40B4-BE49-F238E27FC236}">
                <a16:creationId xmlns:a16="http://schemas.microsoft.com/office/drawing/2014/main" id="{5A0B4EA6-4773-E2EE-85D4-7296A138FC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6" t="10374" r="7530" b="18393"/>
          <a:stretch/>
        </p:blipFill>
        <p:spPr bwMode="auto">
          <a:xfrm>
            <a:off x="7292898" y="1514358"/>
            <a:ext cx="4057987" cy="376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67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C859-82A4-3ED2-CC09-B790FBA1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AB3AE-9991-8AC9-7B97-3A81EF837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37064"/>
            <a:ext cx="10659110" cy="5385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Understanding AI Tools for Resume Building :</a:t>
            </a:r>
          </a:p>
          <a:p>
            <a:r>
              <a:rPr lang="en-US" sz="2800" dirty="0"/>
              <a:t>AI Resume-Building Tools are </a:t>
            </a:r>
            <a:r>
              <a:rPr lang="en-US" sz="2800" b="1" dirty="0">
                <a:solidFill>
                  <a:srgbClr val="002060"/>
                </a:solidFill>
              </a:rPr>
              <a:t>advanced applications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powered by Artificial Intelligence </a:t>
            </a:r>
            <a:r>
              <a:rPr lang="en-US" sz="2800" dirty="0"/>
              <a:t>that assist individuals in </a:t>
            </a:r>
            <a:r>
              <a:rPr lang="en-US" sz="2800" b="1" dirty="0"/>
              <a:t>creating</a:t>
            </a:r>
            <a:r>
              <a:rPr lang="en-US" sz="2800" dirty="0"/>
              <a:t>, </a:t>
            </a:r>
            <a:r>
              <a:rPr lang="en-US" sz="2800" b="1" dirty="0"/>
              <a:t>optimizing</a:t>
            </a:r>
            <a:r>
              <a:rPr lang="en-US" sz="2800" dirty="0"/>
              <a:t>, and </a:t>
            </a:r>
            <a:r>
              <a:rPr lang="en-US" sz="2800" b="1" dirty="0"/>
              <a:t>formatting</a:t>
            </a:r>
            <a:r>
              <a:rPr lang="en-US" sz="2800" dirty="0"/>
              <a:t> </a:t>
            </a:r>
            <a:r>
              <a:rPr lang="en-US" sz="2800" b="1" dirty="0"/>
              <a:t>professional</a:t>
            </a:r>
            <a:r>
              <a:rPr lang="en-US" sz="2800" dirty="0"/>
              <a:t> </a:t>
            </a:r>
            <a:r>
              <a:rPr lang="en-US" sz="2800" b="1" dirty="0"/>
              <a:t>resumes</a:t>
            </a:r>
            <a:r>
              <a:rPr lang="en-US" sz="2800" dirty="0"/>
              <a:t>. </a:t>
            </a:r>
          </a:p>
          <a:p>
            <a:r>
              <a:rPr lang="en-US" sz="2800" dirty="0"/>
              <a:t>These tools leverage </a:t>
            </a:r>
            <a:r>
              <a:rPr lang="en-US" sz="2800" b="1" dirty="0">
                <a:solidFill>
                  <a:srgbClr val="002060"/>
                </a:solidFill>
              </a:rPr>
              <a:t>machine learning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002060"/>
                </a:solidFill>
              </a:rPr>
              <a:t>natural language processing </a:t>
            </a:r>
            <a:r>
              <a:rPr lang="en-US" sz="2800" dirty="0"/>
              <a:t>(</a:t>
            </a:r>
            <a:r>
              <a:rPr lang="en-US" sz="2800" b="1" dirty="0">
                <a:solidFill>
                  <a:srgbClr val="002060"/>
                </a:solidFill>
              </a:rPr>
              <a:t>NLP</a:t>
            </a:r>
            <a:r>
              <a:rPr lang="en-US" sz="2800" dirty="0"/>
              <a:t>), and </a:t>
            </a:r>
            <a:r>
              <a:rPr lang="en-US" sz="2800" b="1" dirty="0">
                <a:solidFill>
                  <a:srgbClr val="002060"/>
                </a:solidFill>
              </a:rPr>
              <a:t>data-driven insights </a:t>
            </a:r>
            <a:r>
              <a:rPr lang="en-US" sz="2800" dirty="0"/>
              <a:t>to make the resume-building process efficient and tailored to specific job requirements.</a:t>
            </a:r>
          </a:p>
          <a:p>
            <a:r>
              <a:rPr lang="en-US" sz="2800" dirty="0"/>
              <a:t>These tools </a:t>
            </a:r>
            <a:r>
              <a:rPr lang="en-US" sz="2800" b="1" dirty="0">
                <a:solidFill>
                  <a:srgbClr val="002060"/>
                </a:solidFill>
              </a:rPr>
              <a:t>Automates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resume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writing</a:t>
            </a:r>
            <a:r>
              <a:rPr lang="en-US" sz="2800" dirty="0"/>
              <a:t> to save time, ensure quality, and improve relevance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33366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0875-8A24-F4DA-BDCD-74BBE699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Novoresume - Kodora AI">
            <a:extLst>
              <a:ext uri="{FF2B5EF4-FFF2-40B4-BE49-F238E27FC236}">
                <a16:creationId xmlns:a16="http://schemas.microsoft.com/office/drawing/2014/main" id="{26B21530-5C0A-7EF2-869B-E6C3E1DB9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655" y="5513234"/>
            <a:ext cx="1199799" cy="119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CE9AB-EDC1-F7FD-F268-240D04A1D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574288"/>
            <a:ext cx="10659110" cy="5709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b="1" dirty="0"/>
              <a:t>Popular </a:t>
            </a:r>
            <a:r>
              <a:rPr lang="en-IN" sz="3200" b="1" dirty="0">
                <a:solidFill>
                  <a:srgbClr val="C00000"/>
                </a:solidFill>
              </a:rPr>
              <a:t>Free</a:t>
            </a:r>
            <a:r>
              <a:rPr lang="en-IN" sz="2600" b="1" dirty="0"/>
              <a:t> AI Resume Tools: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600" b="1" dirty="0" err="1"/>
              <a:t>Zety</a:t>
            </a:r>
            <a:r>
              <a:rPr lang="en-IN" sz="2600" b="1" dirty="0"/>
              <a:t>: </a:t>
            </a:r>
          </a:p>
          <a:p>
            <a:pPr lvl="1"/>
            <a:r>
              <a:rPr lang="en-US" sz="2400" b="1" dirty="0"/>
              <a:t>Features: </a:t>
            </a:r>
            <a:r>
              <a:rPr lang="en-US" sz="2400" dirty="0"/>
              <a:t>Offers customizable templates, real-time content suggestions, and tips for crafting a professional resume.</a:t>
            </a:r>
          </a:p>
          <a:p>
            <a:pPr lvl="1"/>
            <a:r>
              <a:rPr lang="en-US" sz="2400" b="1" dirty="0"/>
              <a:t>Website: </a:t>
            </a:r>
            <a:r>
              <a:rPr lang="en-US" sz="2400" b="1" dirty="0">
                <a:hlinkClick r:id="rId3"/>
              </a:rPr>
              <a:t>https://builder.zety.com/</a:t>
            </a:r>
            <a:r>
              <a:rPr lang="en-US" sz="2400" dirty="0"/>
              <a:t> </a:t>
            </a:r>
            <a:endParaRPr lang="en-IN" sz="2400" b="1" dirty="0"/>
          </a:p>
          <a:p>
            <a:pPr marL="457200" indent="-457200">
              <a:buFont typeface="+mj-lt"/>
              <a:buAutoNum type="arabicPeriod"/>
            </a:pPr>
            <a:r>
              <a:rPr lang="en-IN" sz="2600" b="1" dirty="0" err="1"/>
              <a:t>Resumake</a:t>
            </a:r>
            <a:r>
              <a:rPr lang="en-IN" sz="2600" b="1" dirty="0"/>
              <a:t>: </a:t>
            </a:r>
          </a:p>
          <a:p>
            <a:pPr lvl="1"/>
            <a:r>
              <a:rPr lang="en-US" sz="2400" b="1" dirty="0"/>
              <a:t>Features: </a:t>
            </a:r>
            <a:r>
              <a:rPr lang="en-US" sz="2400" dirty="0"/>
              <a:t>A simple, free online resume builder with customizable templates and no signup required. </a:t>
            </a:r>
            <a:r>
              <a:rPr lang="en-IN" sz="2400" dirty="0"/>
              <a:t>Canva: Offers visually appealing, AI-enhanced templates.</a:t>
            </a:r>
          </a:p>
          <a:p>
            <a:pPr lvl="1"/>
            <a:r>
              <a:rPr lang="en-US" sz="2400" b="1" dirty="0"/>
              <a:t>Website</a:t>
            </a:r>
            <a:r>
              <a:rPr lang="en-IN" sz="2400" b="1" dirty="0"/>
              <a:t>: </a:t>
            </a:r>
            <a:r>
              <a:rPr lang="en-IN" sz="2400" b="1" dirty="0">
                <a:hlinkClick r:id="rId4"/>
              </a:rPr>
              <a:t>https://resumake.io/</a:t>
            </a:r>
            <a:r>
              <a:rPr lang="en-IN" sz="2400" b="1" dirty="0"/>
              <a:t> 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600" b="1" dirty="0"/>
              <a:t>Canva: </a:t>
            </a:r>
          </a:p>
          <a:p>
            <a:pPr lvl="1"/>
            <a:r>
              <a:rPr lang="en-US" sz="2400" b="1" dirty="0"/>
              <a:t>Features: </a:t>
            </a:r>
            <a:r>
              <a:rPr lang="en-US" sz="2400" dirty="0"/>
              <a:t>Offers AI-enhanced design templates that are modern and visually appealing. Provides layout suggestions and easy drag-and-drop functionality.</a:t>
            </a:r>
          </a:p>
          <a:p>
            <a:pPr lvl="1"/>
            <a:r>
              <a:rPr lang="en-US" sz="2400" b="1" dirty="0"/>
              <a:t>Website: </a:t>
            </a:r>
            <a:r>
              <a:rPr lang="en-US" sz="2400" b="1" dirty="0">
                <a:hlinkClick r:id="rId5"/>
              </a:rPr>
              <a:t>https://www.canva.com/</a:t>
            </a:r>
            <a:r>
              <a:rPr lang="en-US" sz="2400" b="1" dirty="0"/>
              <a:t> </a:t>
            </a:r>
            <a:endParaRPr lang="en-IN" sz="2400" dirty="0"/>
          </a:p>
        </p:txBody>
      </p:sp>
      <p:pic>
        <p:nvPicPr>
          <p:cNvPr id="10244" name="Picture 4" descr="Resume Builder: PDF Resume App on the App Store">
            <a:extLst>
              <a:ext uri="{FF2B5EF4-FFF2-40B4-BE49-F238E27FC236}">
                <a16:creationId xmlns:a16="http://schemas.microsoft.com/office/drawing/2014/main" id="{178731C8-FA87-191E-907B-6F1707D832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9" t="13659" r="31528" b="13756"/>
          <a:stretch/>
        </p:blipFill>
        <p:spPr bwMode="auto">
          <a:xfrm>
            <a:off x="10582509" y="144967"/>
            <a:ext cx="1093299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26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4A6D-3C0D-913F-68BD-131921D5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A35D-D323-5BDB-DA2B-A31ED82A4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46771"/>
            <a:ext cx="10659110" cy="5530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4.  </a:t>
            </a:r>
            <a:r>
              <a:rPr lang="en-IN" sz="2800" b="1" dirty="0" err="1"/>
              <a:t>Novoresume</a:t>
            </a:r>
            <a:r>
              <a:rPr lang="en-IN" sz="2800" b="1" dirty="0"/>
              <a:t>: </a:t>
            </a:r>
          </a:p>
          <a:p>
            <a:pPr lvl="1"/>
            <a:r>
              <a:rPr lang="en-US" sz="2400" b="1" dirty="0"/>
              <a:t>Features: </a:t>
            </a:r>
            <a:r>
              <a:rPr lang="en-US" sz="2400" dirty="0"/>
              <a:t>Offers AI-driven content optimization and ATS-friendly templates. The free plan includes a one-page resume.</a:t>
            </a:r>
          </a:p>
          <a:p>
            <a:pPr lvl="1"/>
            <a:r>
              <a:rPr lang="en-US" sz="2400" b="1" dirty="0"/>
              <a:t>Website: </a:t>
            </a:r>
            <a:r>
              <a:rPr lang="en-US" sz="2400" b="1" dirty="0">
                <a:hlinkClick r:id="rId2"/>
              </a:rPr>
              <a:t>https://novoresume.com/</a:t>
            </a:r>
            <a:r>
              <a:rPr lang="en-US" sz="2400" b="1" dirty="0"/>
              <a:t> </a:t>
            </a:r>
            <a:endParaRPr lang="en-IN" sz="2400" b="1" dirty="0"/>
          </a:p>
          <a:p>
            <a:pPr marL="0" indent="0">
              <a:buNone/>
            </a:pPr>
            <a:r>
              <a:rPr lang="en-US" sz="2800" b="1" dirty="0"/>
              <a:t>5.  Standard Resume:</a:t>
            </a:r>
          </a:p>
          <a:p>
            <a:pPr lvl="1"/>
            <a:r>
              <a:rPr lang="en-US" sz="2400" b="1" dirty="0"/>
              <a:t>Features: </a:t>
            </a:r>
            <a:r>
              <a:rPr lang="en-US" sz="2400" dirty="0"/>
              <a:t>A free resume builder that focuses on simplicity and ATS compatibility. Allows you to quickly create a resume from your LinkedIn profile or by manually entering data.</a:t>
            </a:r>
          </a:p>
          <a:p>
            <a:pPr lvl="1"/>
            <a:r>
              <a:rPr lang="en-US" sz="2400" b="1" dirty="0"/>
              <a:t>Website: </a:t>
            </a:r>
            <a:r>
              <a:rPr lang="en-US" sz="2400" b="1" dirty="0">
                <a:hlinkClick r:id="rId3"/>
              </a:rPr>
              <a:t>https://standardresume.co/</a:t>
            </a:r>
            <a:r>
              <a:rPr lang="en-US" sz="2400" b="1" dirty="0"/>
              <a:t> </a:t>
            </a:r>
            <a:endParaRPr lang="en-IN" sz="2400" dirty="0"/>
          </a:p>
          <a:p>
            <a:pPr marL="0" indent="0">
              <a:buNone/>
            </a:pPr>
            <a:r>
              <a:rPr lang="en-IN" sz="2800" b="1" dirty="0"/>
              <a:t>6.  Resume.com: </a:t>
            </a:r>
            <a:endParaRPr lang="en-IN" sz="2800" dirty="0"/>
          </a:p>
          <a:p>
            <a:pPr lvl="1"/>
            <a:r>
              <a:rPr lang="en-US" sz="2400" b="1" dirty="0"/>
              <a:t>Features: </a:t>
            </a:r>
            <a:r>
              <a:rPr lang="en-US" sz="2400" dirty="0"/>
              <a:t>Provides step-by-step guidance to build resumes with predefined sections. Includes several pre-made templates.</a:t>
            </a:r>
          </a:p>
          <a:p>
            <a:pPr lvl="1"/>
            <a:r>
              <a:rPr lang="en-US" sz="2400" b="1" dirty="0"/>
              <a:t>Website: </a:t>
            </a:r>
            <a:r>
              <a:rPr lang="en-US" sz="2400" b="1" dirty="0">
                <a:hlinkClick r:id="rId4"/>
              </a:rPr>
              <a:t>https://www.resume.com/</a:t>
            </a:r>
            <a:r>
              <a:rPr lang="en-US" sz="2400" b="1" dirty="0"/>
              <a:t> </a:t>
            </a:r>
            <a:endParaRPr lang="en-IN" sz="24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1587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09846-0509-223A-E243-1ADB1EBD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41ECC456-8D05-4418-8374-34EE15C57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BCBA53BE-813B-487A-9E9C-A75F5CD48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277" name="Oval 11276">
            <a:extLst>
              <a:ext uri="{FF2B5EF4-FFF2-40B4-BE49-F238E27FC236}">
                <a16:creationId xmlns:a16="http://schemas.microsoft.com/office/drawing/2014/main" id="{D84D8844-B6CA-42E2-9D09-280B8D2C3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91" y="536505"/>
            <a:ext cx="4746298" cy="47462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9" name="Oval 3">
            <a:extLst>
              <a:ext uri="{FF2B5EF4-FFF2-40B4-BE49-F238E27FC236}">
                <a16:creationId xmlns:a16="http://schemas.microsoft.com/office/drawing/2014/main" id="{9ED44E6B-54B5-4305-8D51-ED14DB5A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1122" y="262303"/>
            <a:ext cx="1571298" cy="15712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81" name="Graphic 11280">
            <a:extLst>
              <a:ext uri="{FF2B5EF4-FFF2-40B4-BE49-F238E27FC236}">
                <a16:creationId xmlns:a16="http://schemas.microsoft.com/office/drawing/2014/main" id="{33B836EB-A5EB-420E-BA1D-F14C2469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121" y="262302"/>
            <a:ext cx="1571299" cy="1571299"/>
          </a:xfrm>
          <a:prstGeom prst="rect">
            <a:avLst/>
          </a:prstGeom>
        </p:spPr>
      </p:pic>
      <p:sp>
        <p:nvSpPr>
          <p:cNvPr id="11270" name="Content Placeholder 11269">
            <a:extLst>
              <a:ext uri="{FF2B5EF4-FFF2-40B4-BE49-F238E27FC236}">
                <a16:creationId xmlns:a16="http://schemas.microsoft.com/office/drawing/2014/main" id="{E4896B90-BACC-A84C-6F19-E929CB5F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507" y="2276438"/>
            <a:ext cx="4607803" cy="157129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C00000"/>
                </a:solidFill>
              </a:rPr>
              <a:t>Live Demo </a:t>
            </a:r>
            <a:r>
              <a:rPr lang="en-US" sz="4400" b="1" dirty="0">
                <a:solidFill>
                  <a:srgbClr val="002060"/>
                </a:solidFill>
              </a:rPr>
              <a:t>Creating a Resume </a:t>
            </a:r>
          </a:p>
          <a:p>
            <a:pPr marL="0" indent="0">
              <a:buNone/>
            </a:pPr>
            <a:endParaRPr lang="en-US" sz="4400" dirty="0"/>
          </a:p>
        </p:txBody>
      </p:sp>
      <p:grpSp>
        <p:nvGrpSpPr>
          <p:cNvPr id="11283" name="decorative circles">
            <a:extLst>
              <a:ext uri="{FF2B5EF4-FFF2-40B4-BE49-F238E27FC236}">
                <a16:creationId xmlns:a16="http://schemas.microsoft.com/office/drawing/2014/main" id="{3385484B-742B-4787-9431-A2DDB1C13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8662" y="298832"/>
            <a:ext cx="4437307" cy="6027828"/>
            <a:chOff x="7098662" y="298832"/>
            <a:chExt cx="4437307" cy="6027828"/>
          </a:xfrm>
        </p:grpSpPr>
        <p:sp>
          <p:nvSpPr>
            <p:cNvPr id="11284" name="Oval 11283">
              <a:extLst>
                <a:ext uri="{FF2B5EF4-FFF2-40B4-BE49-F238E27FC236}">
                  <a16:creationId xmlns:a16="http://schemas.microsoft.com/office/drawing/2014/main" id="{D20D76C3-0F87-4653-93BB-AC31C980E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08370" y="6020880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85" name="Oval 11284">
              <a:extLst>
                <a:ext uri="{FF2B5EF4-FFF2-40B4-BE49-F238E27FC236}">
                  <a16:creationId xmlns:a16="http://schemas.microsoft.com/office/drawing/2014/main" id="{385850A0-C27C-4606-8770-21E80FECD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98662" y="578700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86" name="Oval 11285">
              <a:extLst>
                <a:ext uri="{FF2B5EF4-FFF2-40B4-BE49-F238E27FC236}">
                  <a16:creationId xmlns:a16="http://schemas.microsoft.com/office/drawing/2014/main" id="{4086132B-38B3-42DC-9C0B-2018C7B56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23851" y="298832"/>
              <a:ext cx="226735" cy="226735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87" name="Oval 11286">
              <a:extLst>
                <a:ext uri="{FF2B5EF4-FFF2-40B4-BE49-F238E27FC236}">
                  <a16:creationId xmlns:a16="http://schemas.microsoft.com/office/drawing/2014/main" id="{EF6803EC-E9E6-45E5-96B3-5817EB440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528" y="594685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289" name="Oval 1">
            <a:extLst>
              <a:ext uri="{FF2B5EF4-FFF2-40B4-BE49-F238E27FC236}">
                <a16:creationId xmlns:a16="http://schemas.microsoft.com/office/drawing/2014/main" id="{F7D23E4C-BB5C-4A97-B5BE-18C6B6A55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2422" y="4357470"/>
            <a:ext cx="1996328" cy="19963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Demo GIFs - Find &amp; Share on GIPHY">
            <a:extLst>
              <a:ext uri="{FF2B5EF4-FFF2-40B4-BE49-F238E27FC236}">
                <a16:creationId xmlns:a16="http://schemas.microsoft.com/office/drawing/2014/main" id="{43814B1A-E1F6-1062-9D6A-1F23F16B3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9334" y="1407321"/>
            <a:ext cx="2682737" cy="300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1" name="Graphic 11290">
            <a:extLst>
              <a:ext uri="{FF2B5EF4-FFF2-40B4-BE49-F238E27FC236}">
                <a16:creationId xmlns:a16="http://schemas.microsoft.com/office/drawing/2014/main" id="{E5DCD441-4343-4494-AEB1-1420FC18E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7104" y="4355258"/>
            <a:ext cx="2000751" cy="200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7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969D1-5AD9-4D86-18AA-0072163E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0306-DC6C-8EA5-011C-04F8308A0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01082"/>
            <a:ext cx="10659110" cy="61331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Common Mistakes: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Spelling and Grammar Errors: </a:t>
            </a:r>
          </a:p>
          <a:p>
            <a:pPr lvl="1"/>
            <a:r>
              <a:rPr lang="en-US" sz="2200" b="1" dirty="0"/>
              <a:t>Mistake: </a:t>
            </a:r>
            <a:r>
              <a:rPr lang="en-US" sz="2200" b="1" dirty="0">
                <a:solidFill>
                  <a:srgbClr val="C00000"/>
                </a:solidFill>
              </a:rPr>
              <a:t>Typos</a:t>
            </a:r>
            <a:r>
              <a:rPr lang="en-US" sz="2200" dirty="0"/>
              <a:t> and </a:t>
            </a:r>
            <a:r>
              <a:rPr lang="en-US" sz="2200" b="1" dirty="0">
                <a:solidFill>
                  <a:srgbClr val="C00000"/>
                </a:solidFill>
              </a:rPr>
              <a:t>poor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grammar</a:t>
            </a:r>
            <a:r>
              <a:rPr lang="en-US" sz="2200" dirty="0"/>
              <a:t> </a:t>
            </a:r>
            <a:r>
              <a:rPr lang="en-US" sz="2200" b="1" dirty="0"/>
              <a:t>reduce professionalism.</a:t>
            </a:r>
          </a:p>
          <a:p>
            <a:pPr lvl="1"/>
            <a:r>
              <a:rPr lang="en-US" sz="2200" b="1" dirty="0"/>
              <a:t>AI Solution: </a:t>
            </a:r>
            <a:r>
              <a:rPr lang="en-US" sz="2200" dirty="0"/>
              <a:t>AI-powered tools </a:t>
            </a:r>
            <a:r>
              <a:rPr lang="en-US" sz="2200" b="1" dirty="0">
                <a:solidFill>
                  <a:srgbClr val="C00000"/>
                </a:solidFill>
              </a:rPr>
              <a:t>automatically detect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rgbClr val="C00000"/>
                </a:solidFill>
              </a:rPr>
              <a:t>correct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errors</a:t>
            </a:r>
            <a:r>
              <a:rPr lang="en-US" sz="2200" dirty="0"/>
              <a:t> in spelling, grammar, and punctuation.</a:t>
            </a:r>
          </a:p>
          <a:p>
            <a:pPr lvl="1"/>
            <a:r>
              <a:rPr lang="en-US" sz="2200" b="1" dirty="0"/>
              <a:t>Example: Grammarly</a:t>
            </a:r>
            <a:r>
              <a:rPr lang="en-US" sz="2200" dirty="0"/>
              <a:t> integration for real-time corrections.</a:t>
            </a:r>
          </a:p>
          <a:p>
            <a:pPr marL="0" indent="0">
              <a:buNone/>
            </a:pPr>
            <a:r>
              <a:rPr lang="en-US" sz="2200" b="1" dirty="0"/>
              <a:t>2.   Lack of ATS Optimization:</a:t>
            </a:r>
          </a:p>
          <a:p>
            <a:pPr lvl="1"/>
            <a:r>
              <a:rPr lang="en-US" sz="2200" b="1" dirty="0"/>
              <a:t>Mistake: </a:t>
            </a:r>
            <a:r>
              <a:rPr lang="en-US" sz="2200" dirty="0"/>
              <a:t>Resumes </a:t>
            </a:r>
            <a:r>
              <a:rPr lang="en-US" sz="2200" b="1" dirty="0">
                <a:solidFill>
                  <a:srgbClr val="C00000"/>
                </a:solidFill>
              </a:rPr>
              <a:t>not formatted to pass</a:t>
            </a:r>
            <a:r>
              <a:rPr lang="en-US" sz="2200" dirty="0"/>
              <a:t> </a:t>
            </a:r>
            <a:r>
              <a:rPr lang="en-US" sz="2200" b="1" dirty="0"/>
              <a:t>Applicant Tracking Systems </a:t>
            </a:r>
            <a:r>
              <a:rPr lang="en-US" sz="2200" dirty="0"/>
              <a:t>(ATS).</a:t>
            </a:r>
          </a:p>
          <a:p>
            <a:pPr lvl="1"/>
            <a:r>
              <a:rPr lang="en-US" sz="2200" b="1" dirty="0"/>
              <a:t>AI Solution: </a:t>
            </a:r>
            <a:r>
              <a:rPr lang="en-US" sz="2200" dirty="0"/>
              <a:t>AI tools analyze job descriptions and ensure that resumes are optimized with relevant keywords and proper formatting.</a:t>
            </a:r>
          </a:p>
          <a:p>
            <a:pPr lvl="1"/>
            <a:r>
              <a:rPr lang="en-US" sz="2200" b="1" dirty="0"/>
              <a:t>Example: </a:t>
            </a:r>
            <a:r>
              <a:rPr lang="en-US" sz="2200" dirty="0" err="1"/>
              <a:t>Rezi</a:t>
            </a:r>
            <a:r>
              <a:rPr lang="en-US" sz="2200" dirty="0"/>
              <a:t> optimizes resumes for ATS compatibility.</a:t>
            </a:r>
          </a:p>
          <a:p>
            <a:pPr marL="0" indent="0">
              <a:buNone/>
            </a:pPr>
            <a:r>
              <a:rPr lang="en-US" sz="2200" b="1" dirty="0"/>
              <a:t>3.   Overuse of Generic Content:</a:t>
            </a:r>
          </a:p>
          <a:p>
            <a:pPr lvl="1"/>
            <a:r>
              <a:rPr lang="en-US" sz="2200" b="1" dirty="0"/>
              <a:t>Mistake: </a:t>
            </a:r>
            <a:r>
              <a:rPr lang="en-US" sz="2200" dirty="0"/>
              <a:t>Using generic skills and experiences that don't stand out.</a:t>
            </a:r>
          </a:p>
          <a:p>
            <a:pPr lvl="1"/>
            <a:r>
              <a:rPr lang="en-US" sz="2200" b="1" dirty="0"/>
              <a:t>AI Solution: </a:t>
            </a:r>
            <a:r>
              <a:rPr lang="en-US" sz="2200" dirty="0"/>
              <a:t>AI suggests personalized skills and achievements tailored to the specific job.</a:t>
            </a:r>
          </a:p>
          <a:p>
            <a:pPr lvl="1"/>
            <a:r>
              <a:rPr lang="en-US" sz="2200" b="1" dirty="0"/>
              <a:t>Example</a:t>
            </a:r>
            <a:r>
              <a:rPr lang="en-US" sz="2200" dirty="0"/>
              <a:t>: AI analyzes job listings and matches your resume with industry-specific skills.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7568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FE51A-EB1C-9C72-5D74-B5EBCFAD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7419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7420" name="Oval 17419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1" name="Oval 17420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2" name="Oval 17421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3" name="Oval 17422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4" name="Oval 17423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25" name="Oval 17424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6" name="Oval 17425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7" name="Oval 17426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28" name="Oval 17427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29" name="Oval 17428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30" name="Freeform: Shape 17429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431" name="Freeform: Shape 17430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432" name="Freeform: Shape 17431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433" name="Oval 17432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34" name="Freeform: Shape 17433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17436" name="Rectangle 17435">
            <a:extLst>
              <a:ext uri="{FF2B5EF4-FFF2-40B4-BE49-F238E27FC236}">
                <a16:creationId xmlns:a16="http://schemas.microsoft.com/office/drawing/2014/main" id="{B7818AA9-82F7-46F6-8A83-1A6258163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410" name="Picture 2" descr="150+ Q And A Session Stock Photos, Pictures &amp; Royalty-Free Images - iStock">
            <a:extLst>
              <a:ext uri="{FF2B5EF4-FFF2-40B4-BE49-F238E27FC236}">
                <a16:creationId xmlns:a16="http://schemas.microsoft.com/office/drawing/2014/main" id="{D74797D9-9170-F634-AE24-EE4D6BFA12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7" b="12833"/>
          <a:stretch/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438" name="Group 17437">
            <a:extLst>
              <a:ext uri="{FF2B5EF4-FFF2-40B4-BE49-F238E27FC236}">
                <a16:creationId xmlns:a16="http://schemas.microsoft.com/office/drawing/2014/main" id="{FCEBDFAC-E3E5-4883-8BE7-B43474AE3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0450" y="236341"/>
            <a:ext cx="11410891" cy="5901949"/>
            <a:chOff x="310450" y="236341"/>
            <a:chExt cx="11410891" cy="5901949"/>
          </a:xfrm>
        </p:grpSpPr>
        <p:sp>
          <p:nvSpPr>
            <p:cNvPr id="17439" name="Oval 17438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5328" y="1050301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0" name="Oval 17439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0450" y="114446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1" name="Oval 17440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2" name="Oval 17441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3" name="Oval 17442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7185" y="538093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4" name="Oval 17443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98320" y="5269378"/>
              <a:ext cx="223021" cy="2230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5" name="Oval 17444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9878" y="583251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46" name="Oval 17445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86119" y="5492399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4197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7AB00-00C6-4199-DF75-9E6F961A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371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5372" name="Oval 15371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73" name="Oval 15372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74" name="Oval 15373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75" name="Oval 15374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76" name="Oval 15375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77" name="Oval 15376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78" name="Oval 15377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79" name="Oval 15378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80" name="Oval 15379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81" name="Oval 15380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82" name="Freeform: Shape 15381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383" name="Freeform: Shape 15382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384" name="Freeform: Shape 15383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385" name="Oval 15384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86" name="Freeform: Shape 15385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15388" name="Rectangle 15387">
            <a:extLst>
              <a:ext uri="{FF2B5EF4-FFF2-40B4-BE49-F238E27FC236}">
                <a16:creationId xmlns:a16="http://schemas.microsoft.com/office/drawing/2014/main" id="{776A889F-0F1E-4EC0-989C-71D43A66B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117" y="0"/>
            <a:ext cx="122182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90" name="Rectangle 15389">
            <a:extLst>
              <a:ext uri="{FF2B5EF4-FFF2-40B4-BE49-F238E27FC236}">
                <a16:creationId xmlns:a16="http://schemas.microsoft.com/office/drawing/2014/main" id="{5C1E9B40-3653-4365-9709-CC7634395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9283" y="0"/>
            <a:ext cx="12218234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5362" name="Picture 2" descr="Thank You - Thank You">
            <a:extLst>
              <a:ext uri="{FF2B5EF4-FFF2-40B4-BE49-F238E27FC236}">
                <a16:creationId xmlns:a16="http://schemas.microsoft.com/office/drawing/2014/main" id="{83B8D901-B21D-F8A3-756E-E0FECB20B7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 bwMode="auto">
          <a:xfrm>
            <a:off x="2964696" y="155304"/>
            <a:ext cx="6262608" cy="6262608"/>
          </a:xfrm>
          <a:custGeom>
            <a:avLst/>
            <a:gdLst/>
            <a:ahLst/>
            <a:cxnLst/>
            <a:rect l="l" t="t" r="r" b="b"/>
            <a:pathLst>
              <a:path w="6547392" h="6547392">
                <a:moveTo>
                  <a:pt x="3273696" y="0"/>
                </a:moveTo>
                <a:cubicBezTo>
                  <a:pt x="5081708" y="0"/>
                  <a:pt x="6547392" y="1465684"/>
                  <a:pt x="6547392" y="3273696"/>
                </a:cubicBezTo>
                <a:cubicBezTo>
                  <a:pt x="6547392" y="5081708"/>
                  <a:pt x="5081708" y="6547392"/>
                  <a:pt x="3273696" y="6547392"/>
                </a:cubicBezTo>
                <a:cubicBezTo>
                  <a:pt x="1465684" y="6547392"/>
                  <a:pt x="0" y="5081708"/>
                  <a:pt x="0" y="3273696"/>
                </a:cubicBezTo>
                <a:cubicBezTo>
                  <a:pt x="0" y="1465684"/>
                  <a:pt x="1465684" y="0"/>
                  <a:pt x="327369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392" name="Group 15391">
            <a:extLst>
              <a:ext uri="{FF2B5EF4-FFF2-40B4-BE49-F238E27FC236}">
                <a16:creationId xmlns:a16="http://schemas.microsoft.com/office/drawing/2014/main" id="{2714B81D-9688-4C51-8B27-49355167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21358"/>
            <a:ext cx="12009532" cy="6734506"/>
            <a:chOff x="-1" y="121358"/>
            <a:chExt cx="12009532" cy="6734506"/>
          </a:xfrm>
        </p:grpSpPr>
        <p:sp>
          <p:nvSpPr>
            <p:cNvPr id="15393" name="Oval 15392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32999" y="538627"/>
              <a:ext cx="94160" cy="94160"/>
            </a:xfrm>
            <a:prstGeom prst="ellipse">
              <a:avLst/>
            </a:prstGeom>
            <a:solidFill>
              <a:schemeClr val="tx2">
                <a:lumMod val="50000"/>
                <a:lumOff val="50000"/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94" name="Oval 15393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378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95" name="Oval 15394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65668" y="121358"/>
              <a:ext cx="703889" cy="70388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96" name="Oval 15395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920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97" name="Oval 15396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5418" y="892079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98" name="Oval 15397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849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99" name="Oval 15398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26534" y="4313347"/>
              <a:ext cx="687349" cy="68734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0" name="Oval 15399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13883" y="539459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1" name="Freeform: Shape 15400">
              <a:extLst>
                <a:ext uri="{FF2B5EF4-FFF2-40B4-BE49-F238E27FC236}">
                  <a16:creationId xmlns:a16="http://schemas.microsoft.com/office/drawing/2014/main" id="{9F28276C-079E-47FC-B63F-D8F2611EC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49656" y="6106165"/>
              <a:ext cx="700042" cy="799355"/>
            </a:xfrm>
            <a:custGeom>
              <a:avLst/>
              <a:gdLst>
                <a:gd name="connsiteX0" fmla="*/ 1156116 w 3186814"/>
                <a:gd name="connsiteY0" fmla="*/ 0 h 3638922"/>
                <a:gd name="connsiteX1" fmla="*/ 3186814 w 3186814"/>
                <a:gd name="connsiteY1" fmla="*/ 2030698 h 3638922"/>
                <a:gd name="connsiteX2" fmla="*/ 2447829 w 3186814"/>
                <a:gd name="connsiteY2" fmla="*/ 3597684 h 3638922"/>
                <a:gd name="connsiteX3" fmla="*/ 2392682 w 3186814"/>
                <a:gd name="connsiteY3" fmla="*/ 3638922 h 3638922"/>
                <a:gd name="connsiteX4" fmla="*/ 0 w 3186814"/>
                <a:gd name="connsiteY4" fmla="*/ 3638922 h 3638922"/>
                <a:gd name="connsiteX5" fmla="*/ 0 w 3186814"/>
                <a:gd name="connsiteY5" fmla="*/ 362315 h 3638922"/>
                <a:gd name="connsiteX6" fmla="*/ 20733 w 3186814"/>
                <a:gd name="connsiteY6" fmla="*/ 346811 h 3638922"/>
                <a:gd name="connsiteX7" fmla="*/ 1156116 w 3186814"/>
                <a:gd name="connsiteY7" fmla="*/ 0 h 363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86814" h="3638922">
                  <a:moveTo>
                    <a:pt x="1156116" y="0"/>
                  </a:moveTo>
                  <a:cubicBezTo>
                    <a:pt x="2277640" y="0"/>
                    <a:pt x="3186814" y="909174"/>
                    <a:pt x="3186814" y="2030698"/>
                  </a:cubicBezTo>
                  <a:cubicBezTo>
                    <a:pt x="3186814" y="2661556"/>
                    <a:pt x="2899146" y="3225224"/>
                    <a:pt x="2447829" y="3597684"/>
                  </a:cubicBezTo>
                  <a:lnTo>
                    <a:pt x="2392682" y="3638922"/>
                  </a:lnTo>
                  <a:lnTo>
                    <a:pt x="0" y="3638922"/>
                  </a:lnTo>
                  <a:lnTo>
                    <a:pt x="0" y="362315"/>
                  </a:lnTo>
                  <a:lnTo>
                    <a:pt x="20733" y="346811"/>
                  </a:lnTo>
                  <a:cubicBezTo>
                    <a:pt x="344835" y="127853"/>
                    <a:pt x="735545" y="0"/>
                    <a:pt x="1156116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02" name="Oval 15401">
              <a:extLst>
                <a:ext uri="{FF2B5EF4-FFF2-40B4-BE49-F238E27FC236}">
                  <a16:creationId xmlns:a16="http://schemas.microsoft.com/office/drawing/2014/main" id="{FD7F6CD7-4C28-4ADD-802B-C77ACB4EC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48384" y="6026640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3" name="Oval 15402">
              <a:extLst>
                <a:ext uri="{FF2B5EF4-FFF2-40B4-BE49-F238E27FC236}">
                  <a16:creationId xmlns:a16="http://schemas.microsoft.com/office/drawing/2014/main" id="{5B463F8C-44E8-4DF5-870F-837B74BBA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29485" y="1871256"/>
              <a:ext cx="1288244" cy="13038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04" name="Oval 15403">
              <a:extLst>
                <a:ext uri="{FF2B5EF4-FFF2-40B4-BE49-F238E27FC236}">
                  <a16:creationId xmlns:a16="http://schemas.microsoft.com/office/drawing/2014/main" id="{225BDF88-BBB8-4198-B052-5D4512C80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43090" y="5337200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5" name="Oval 15404">
              <a:extLst>
                <a:ext uri="{FF2B5EF4-FFF2-40B4-BE49-F238E27FC236}">
                  <a16:creationId xmlns:a16="http://schemas.microsoft.com/office/drawing/2014/main" id="{7B97B946-2216-400E-AC50-36A093D8C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43090" y="1051490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6" name="Oval 15405">
              <a:extLst>
                <a:ext uri="{FF2B5EF4-FFF2-40B4-BE49-F238E27FC236}">
                  <a16:creationId xmlns:a16="http://schemas.microsoft.com/office/drawing/2014/main" id="{703A4D73-3F61-453C-9E15-DCC1FEF6B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10723" y="3717436"/>
              <a:ext cx="800716" cy="80071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7" name="Oval 15406">
              <a:extLst>
                <a:ext uri="{FF2B5EF4-FFF2-40B4-BE49-F238E27FC236}">
                  <a16:creationId xmlns:a16="http://schemas.microsoft.com/office/drawing/2014/main" id="{3AEC8270-F5BA-45DE-92A3-0EC7F28D1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14475" y="1342669"/>
              <a:ext cx="948040" cy="94804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8" name="Oval 15407">
              <a:extLst>
                <a:ext uri="{FF2B5EF4-FFF2-40B4-BE49-F238E27FC236}">
                  <a16:creationId xmlns:a16="http://schemas.microsoft.com/office/drawing/2014/main" id="{AFCE83F3-F1BD-4B99-BDBE-C15DFA23C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2319" y="974098"/>
              <a:ext cx="230878" cy="23087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09" name="Oval 15408">
              <a:extLst>
                <a:ext uri="{FF2B5EF4-FFF2-40B4-BE49-F238E27FC236}">
                  <a16:creationId xmlns:a16="http://schemas.microsoft.com/office/drawing/2014/main" id="{C2DFFD4E-4FA4-4BB4-BA7F-68D921E98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51462" y="299809"/>
              <a:ext cx="56114" cy="56114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10" name="Freeform: Shape 15409">
              <a:extLst>
                <a:ext uri="{FF2B5EF4-FFF2-40B4-BE49-F238E27FC236}">
                  <a16:creationId xmlns:a16="http://schemas.microsoft.com/office/drawing/2014/main" id="{DC8B520E-5D62-471C-B876-19BB18400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383232" y="5989387"/>
              <a:ext cx="987211" cy="866476"/>
            </a:xfrm>
            <a:custGeom>
              <a:avLst/>
              <a:gdLst>
                <a:gd name="connsiteX0" fmla="*/ 374769 w 2166102"/>
                <a:gd name="connsiteY0" fmla="*/ 0 h 1901189"/>
                <a:gd name="connsiteX1" fmla="*/ 1791334 w 2166102"/>
                <a:gd name="connsiteY1" fmla="*/ 0 h 1901189"/>
                <a:gd name="connsiteX2" fmla="*/ 1848884 w 2166102"/>
                <a:gd name="connsiteY2" fmla="*/ 52305 h 1901189"/>
                <a:gd name="connsiteX3" fmla="*/ 2166102 w 2166102"/>
                <a:gd name="connsiteY3" fmla="*/ 818138 h 1901189"/>
                <a:gd name="connsiteX4" fmla="*/ 1083051 w 2166102"/>
                <a:gd name="connsiteY4" fmla="*/ 1901189 h 1901189"/>
                <a:gd name="connsiteX5" fmla="*/ 0 w 2166102"/>
                <a:gd name="connsiteY5" fmla="*/ 818138 h 1901189"/>
                <a:gd name="connsiteX6" fmla="*/ 317218 w 2166102"/>
                <a:gd name="connsiteY6" fmla="*/ 52305 h 190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6102" h="1901189">
                  <a:moveTo>
                    <a:pt x="374769" y="0"/>
                  </a:moveTo>
                  <a:lnTo>
                    <a:pt x="1791334" y="0"/>
                  </a:lnTo>
                  <a:lnTo>
                    <a:pt x="1848884" y="52305"/>
                  </a:lnTo>
                  <a:cubicBezTo>
                    <a:pt x="2044877" y="248299"/>
                    <a:pt x="2166102" y="519062"/>
                    <a:pt x="2166102" y="818138"/>
                  </a:cubicBezTo>
                  <a:cubicBezTo>
                    <a:pt x="2166102" y="1416291"/>
                    <a:pt x="1681204" y="1901189"/>
                    <a:pt x="1083051" y="1901189"/>
                  </a:cubicBezTo>
                  <a:cubicBezTo>
                    <a:pt x="484898" y="1901189"/>
                    <a:pt x="0" y="1416291"/>
                    <a:pt x="0" y="818138"/>
                  </a:cubicBezTo>
                  <a:cubicBezTo>
                    <a:pt x="0" y="519062"/>
                    <a:pt x="121225" y="248299"/>
                    <a:pt x="317218" y="52305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3050435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856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AvenirNext LT Pro Medium</vt:lpstr>
      <vt:lpstr>Calibri</vt:lpstr>
      <vt:lpstr>Gill Sans Nova</vt:lpstr>
      <vt:lpstr>ConfettiVTI</vt:lpstr>
      <vt:lpstr>AI Workshop Building Resumes Using AI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93</cp:revision>
  <dcterms:created xsi:type="dcterms:W3CDTF">2024-11-25T17:19:06Z</dcterms:created>
  <dcterms:modified xsi:type="dcterms:W3CDTF">2025-01-21T07:29:08Z</dcterms:modified>
</cp:coreProperties>
</file>